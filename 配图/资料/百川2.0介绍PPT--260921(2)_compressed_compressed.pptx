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3"/>
  </p:sldMasterIdLst>
  <p:notesMasterIdLst>
    <p:notesMasterId r:id="rId6"/>
  </p:notesMasterIdLst>
  <p:handoutMasterIdLst>
    <p:handoutMasterId r:id="rId39"/>
  </p:handoutMasterIdLst>
  <p:sldIdLst>
    <p:sldId id="292" r:id="rId4"/>
    <p:sldId id="294" r:id="rId5"/>
    <p:sldId id="360" r:id="rId7"/>
    <p:sldId id="325" r:id="rId8"/>
    <p:sldId id="333" r:id="rId9"/>
    <p:sldId id="262" r:id="rId10"/>
    <p:sldId id="337" r:id="rId11"/>
    <p:sldId id="302" r:id="rId12"/>
    <p:sldId id="335" r:id="rId13"/>
    <p:sldId id="336" r:id="rId14"/>
    <p:sldId id="342" r:id="rId15"/>
    <p:sldId id="338" r:id="rId16"/>
    <p:sldId id="328" r:id="rId17"/>
    <p:sldId id="341" r:id="rId18"/>
    <p:sldId id="340" r:id="rId19"/>
    <p:sldId id="343" r:id="rId20"/>
    <p:sldId id="331" r:id="rId21"/>
    <p:sldId id="332" r:id="rId22"/>
    <p:sldId id="330" r:id="rId23"/>
    <p:sldId id="329" r:id="rId24"/>
    <p:sldId id="344"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291" r:id="rId38"/>
  </p:sldIdLst>
  <p:sldSz cx="12192000" cy="6858000"/>
  <p:notesSz cx="6858000" cy="9144000"/>
  <p:embeddedFontLst>
    <p:embeddedFont>
      <p:font typeface="Noto Sans SC" panose="020B0200000000000000" charset="-122"/>
      <p:regular r:id="rId43"/>
      <p:bold r:id="rId44"/>
    </p:embeddedFont>
    <p:embeddedFont>
      <p:font typeface="OPPOSans B" panose="00020600040101010101" charset="-122"/>
      <p:regular r:id="rId45"/>
    </p:embeddedFont>
    <p:embeddedFont>
      <p:font typeface="OPPOSans M" panose="00020600040101010101" charset="-122"/>
      <p:regular r:id="rId46"/>
    </p:embeddedFont>
    <p:embeddedFont>
      <p:font typeface="OPPOSans R" panose="00020600040101010101" pitchFamily="18" charset="-122"/>
      <p:regular r:id="rId47"/>
    </p:embeddedFont>
    <p:embeddedFont>
      <p:font typeface="OPPOSans H" panose="00020600040101010101" pitchFamily="18" charset="-122"/>
      <p:regular r:id="rId48"/>
    </p:embeddedFont>
    <p:embeddedFont>
      <p:font typeface="Calibri" panose="020F0502020204030204" charset="0"/>
      <p:regular r:id="rId49"/>
      <p:bold r:id="rId50"/>
      <p:italic r:id="rId51"/>
      <p:boldItalic r:id="rId52"/>
    </p:embeddedFont>
    <p:embeddedFont>
      <p:font typeface="思源黑体 CN Medium" panose="020B0600000000000000" charset="-122"/>
      <p:regular r:id="rId53"/>
    </p:embeddedFont>
    <p:embeddedFont>
      <p:font typeface="思源黑体 CN Normal" panose="020B0400000000000000" charset="-122"/>
      <p:regular r:id="rId5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01315"/>
    <a:srgbClr val="C5C5C5"/>
    <a:srgbClr val="969696"/>
    <a:srgbClr val="003AF2"/>
    <a:srgbClr val="5D9CFD"/>
    <a:srgbClr val="E6E6EA"/>
    <a:srgbClr val="F5F5F7"/>
    <a:srgbClr val="F6F8FB"/>
    <a:srgbClr val="E6E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1" autoAdjust="0"/>
    <p:restoredTop sz="94680" autoAdjust="0"/>
  </p:normalViewPr>
  <p:slideViewPr>
    <p:cSldViewPr snapToGrid="0" showGuides="1">
      <p:cViewPr varScale="1">
        <p:scale>
          <a:sx n="120" d="100"/>
          <a:sy n="120" d="100"/>
        </p:scale>
        <p:origin x="830" y="65"/>
      </p:cViewPr>
      <p:guideLst>
        <p:guide orient="horz" pos="527"/>
        <p:guide pos="166"/>
        <p:guide pos="2048"/>
        <p:guide orient="horz" pos="4156"/>
        <p:guide orient="horz" pos="640"/>
        <p:guide pos="7514"/>
        <p:guide orient="horz" pos="379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90001" cy="90001"/>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4" Type="http://schemas.openxmlformats.org/officeDocument/2006/relationships/font" Target="fonts/font12.fntdata"/><Relationship Id="rId53" Type="http://schemas.openxmlformats.org/officeDocument/2006/relationships/font" Target="fonts/font11.fntdata"/><Relationship Id="rId52" Type="http://schemas.openxmlformats.org/officeDocument/2006/relationships/font" Target="fonts/font10.fntdata"/><Relationship Id="rId51" Type="http://schemas.openxmlformats.org/officeDocument/2006/relationships/font" Target="fonts/font9.fntdata"/><Relationship Id="rId50" Type="http://schemas.openxmlformats.org/officeDocument/2006/relationships/font" Target="fonts/font8.fntdata"/><Relationship Id="rId5" Type="http://schemas.openxmlformats.org/officeDocument/2006/relationships/slide" Target="slides/slide2.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handoutMaster" Target="handoutMasters/handoutMaster1.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p:txBody>
      </p:sp>
      <p:sp>
        <p:nvSpPr>
          <p:cNvPr id="71" name="Notes Placeholder 2"/>
          <p:cNvSpPr>
            <a:spLocks noGrp="1"/>
          </p:cNvSpPr>
          <p:nvPr>
            <p:ph type="body" idx="1"/>
          </p:nvPr>
        </p:nvSpPr>
        <p:spPr/>
        <p:txBody>
          <a:bodyPr/>
          <a:lstStyle/>
          <a:p/>
        </p:txBody>
      </p:sp>
      <p:sp>
        <p:nvSpPr>
          <p:cNvPr id="72"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p:txBody>
      </p:sp>
      <p:sp>
        <p:nvSpPr>
          <p:cNvPr id="71" name="Notes Placeholder 2"/>
          <p:cNvSpPr>
            <a:spLocks noGrp="1"/>
          </p:cNvSpPr>
          <p:nvPr>
            <p:ph type="body" idx="1"/>
          </p:nvPr>
        </p:nvSpPr>
        <p:spPr/>
        <p:txBody>
          <a:bodyPr/>
          <a:lstStyle/>
          <a:p/>
        </p:txBody>
      </p:sp>
      <p:sp>
        <p:nvSpPr>
          <p:cNvPr id="72"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p:txBody>
      </p:sp>
      <p:sp>
        <p:nvSpPr>
          <p:cNvPr id="71" name="Notes Placeholder 2"/>
          <p:cNvSpPr>
            <a:spLocks noGrp="1"/>
          </p:cNvSpPr>
          <p:nvPr>
            <p:ph type="body" idx="1"/>
          </p:nvPr>
        </p:nvSpPr>
        <p:spPr/>
        <p:txBody>
          <a:bodyPr/>
          <a:lstStyle/>
          <a:p/>
        </p:txBody>
      </p:sp>
      <p:sp>
        <p:nvSpPr>
          <p:cNvPr id="72"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p:txBody>
      </p:sp>
      <p:sp>
        <p:nvSpPr>
          <p:cNvPr id="71" name="Notes Placeholder 2"/>
          <p:cNvSpPr>
            <a:spLocks noGrp="1"/>
          </p:cNvSpPr>
          <p:nvPr>
            <p:ph type="body" idx="1"/>
          </p:nvPr>
        </p:nvSpPr>
        <p:spPr/>
        <p:txBody>
          <a:bodyPr/>
          <a:lstStyle/>
          <a:p/>
        </p:txBody>
      </p:sp>
      <p:sp>
        <p:nvSpPr>
          <p:cNvPr id="72"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a:endParaRPr dirty="0"/>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p:txBody>
      </p:sp>
      <p:sp>
        <p:nvSpPr>
          <p:cNvPr id="71" name="Notes Placeholder 2"/>
          <p:cNvSpPr>
            <a:spLocks noGrp="1"/>
          </p:cNvSpPr>
          <p:nvPr>
            <p:ph type="body" idx="1"/>
          </p:nvPr>
        </p:nvSpPr>
        <p:spPr/>
        <p:txBody>
          <a:bodyPr/>
          <a:lstStyle/>
          <a:p/>
        </p:txBody>
      </p:sp>
      <p:sp>
        <p:nvSpPr>
          <p:cNvPr id="72"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Image Placeholder 1"/>
          <p:cNvSpPr>
            <a:spLocks noGrp="1" noRot="1" noChangeAspect="1"/>
          </p:cNvSpPr>
          <p:nvPr>
            <p:ph type="sldImg"/>
          </p:nvPr>
        </p:nvSpPr>
        <p:spPr/>
        <p:txBody>
          <a:bodyPr/>
          <a:lstStyle/>
          <a:p/>
        </p:txBody>
      </p:sp>
      <p:sp>
        <p:nvSpPr>
          <p:cNvPr id="31" name="Notes Placeholder 2"/>
          <p:cNvSpPr>
            <a:spLocks noGrp="1"/>
          </p:cNvSpPr>
          <p:nvPr>
            <p:ph type="body" idx="1"/>
          </p:nvPr>
        </p:nvSpPr>
        <p:spPr/>
        <p:txBody>
          <a:bodyPr/>
          <a:lstStyle/>
          <a:p>
            <a:endParaRPr dirty="0"/>
          </a:p>
        </p:txBody>
      </p:sp>
      <p:sp>
        <p:nvSpPr>
          <p:cNvPr id="32"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2" name="picture 1182"/>
          <p:cNvPicPr>
            <a:picLocks noChangeAspect="1"/>
          </p:cNvPicPr>
          <p:nvPr userDrawn="1"/>
        </p:nvPicPr>
        <p:blipFill>
          <a:blip r:embed="rId2"/>
          <a:stretch>
            <a:fillRect/>
          </a:stretch>
        </p:blipFill>
        <p:spPr>
          <a:xfrm rot="21600000">
            <a:off x="0" y="-7394"/>
            <a:ext cx="12192333" cy="68581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tags" Target="../tags/tag1.xml"/><Relationship Id="rId1"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D:\2026年墨影科技工作文件夹\2026年 墨影PPT设计\墨影未来风PPT参考\2026年PPT图片汇总\功能介绍图\PPT模板\新建文件夹\7.png7"/>
          <p:cNvPicPr>
            <a:picLocks noChangeAspect="1"/>
          </p:cNvPicPr>
          <p:nvPr userDrawn="1"/>
        </p:nvPicPr>
        <p:blipFill>
          <a:blip r:embed="rId1"/>
          <a:srcRect/>
          <a:stretch>
            <a:fillRect/>
          </a:stretch>
        </p:blipFill>
        <p:spPr>
          <a:xfrm>
            <a:off x="635" y="-9525"/>
            <a:ext cx="12221845" cy="6866890"/>
          </a:xfrm>
          <a:prstGeom prst="rect">
            <a:avLst/>
          </a:prstGeom>
        </p:spPr>
      </p:pic>
    </p:spTree>
    <p:custDataLst>
      <p:tags r:id="rId2"/>
    </p:custDataLst>
  </p:cSld>
  <p:clrMap bg1="lt1" tx1="dk1" bg2="lt2" tx2="dk2" accent1="accent1" accent2="accent2" accent3="accent3" accent4="accent4" accent5="accent5" accent6="accent6" hlink="hlink" folHlink="folHlink"/>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5" Type="http://schemas.openxmlformats.org/officeDocument/2006/relationships/notesSlide" Target="../notesSlides/notesSlide2.xml"/><Relationship Id="rId24" Type="http://schemas.openxmlformats.org/officeDocument/2006/relationships/slideLayout" Target="../slideLayouts/slideLayout1.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tags" Target="../tags/tag3.xml"/><Relationship Id="rId19" Type="http://schemas.openxmlformats.org/officeDocument/2006/relationships/image" Target="../media/image11.jpeg"/><Relationship Id="rId18" Type="http://schemas.openxmlformats.org/officeDocument/2006/relationships/image" Target="../media/image10.jpeg"/><Relationship Id="rId17" Type="http://schemas.openxmlformats.org/officeDocument/2006/relationships/image" Target="../media/image9.jpeg"/><Relationship Id="rId16" Type="http://schemas.openxmlformats.org/officeDocument/2006/relationships/image" Target="../media/image8.jpeg"/><Relationship Id="rId15" Type="http://schemas.openxmlformats.org/officeDocument/2006/relationships/image" Target="../media/image7.jpeg"/><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7.jpeg"/><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 Id="rId3" Type="http://schemas.openxmlformats.org/officeDocument/2006/relationships/image" Target="../media/image12.jpeg"/><Relationship Id="rId20" Type="http://schemas.openxmlformats.org/officeDocument/2006/relationships/notesSlide" Target="../notesSlides/notesSlide3.xml"/><Relationship Id="rId2" Type="http://schemas.openxmlformats.org/officeDocument/2006/relationships/tags" Target="../tags/tag21.xml"/><Relationship Id="rId19" Type="http://schemas.openxmlformats.org/officeDocument/2006/relationships/slideLayout" Target="../slideLayouts/slideLayout1.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image" Target="../media/image21.jpeg"/><Relationship Id="rId11" Type="http://schemas.openxmlformats.org/officeDocument/2006/relationships/image" Target="../media/image20.jpeg"/><Relationship Id="rId10" Type="http://schemas.openxmlformats.org/officeDocument/2006/relationships/image" Target="../media/image19.jpeg"/><Relationship Id="rId1" Type="http://schemas.openxmlformats.org/officeDocument/2006/relationships/tags" Target="../tags/tag20.xml"/></Relationships>
</file>

<file path=ppt/slides/_rels/slide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tags" Target="../tags/tag30.xml"/><Relationship Id="rId5" Type="http://schemas.openxmlformats.org/officeDocument/2006/relationships/image" Target="../media/image24.png"/><Relationship Id="rId4" Type="http://schemas.openxmlformats.org/officeDocument/2006/relationships/tags" Target="../tags/tag29.xml"/><Relationship Id="rId3" Type="http://schemas.openxmlformats.org/officeDocument/2006/relationships/image" Target="../media/image23.jpeg"/><Relationship Id="rId2" Type="http://schemas.openxmlformats.org/officeDocument/2006/relationships/tags" Target="../tags/tag28.xml"/><Relationship Id="rId16" Type="http://schemas.openxmlformats.org/officeDocument/2006/relationships/notesSlide" Target="../notesSlides/notesSlide4.xml"/><Relationship Id="rId15" Type="http://schemas.openxmlformats.org/officeDocument/2006/relationships/slideLayout" Target="../slideLayouts/slideLayout1.xml"/><Relationship Id="rId14" Type="http://schemas.openxmlformats.org/officeDocument/2006/relationships/tags" Target="../tags/tag32.xml"/><Relationship Id="rId13" Type="http://schemas.openxmlformats.org/officeDocument/2006/relationships/image" Target="../media/image30.jpeg"/><Relationship Id="rId12" Type="http://schemas.openxmlformats.org/officeDocument/2006/relationships/image" Target="../media/image29.jpeg"/><Relationship Id="rId11" Type="http://schemas.openxmlformats.org/officeDocument/2006/relationships/image" Target="../media/image28.png"/><Relationship Id="rId10" Type="http://schemas.openxmlformats.org/officeDocument/2006/relationships/image" Target="../media/image27.jpeg"/><Relationship Id="rId1"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42.GIF"/><Relationship Id="rId3" Type="http://schemas.openxmlformats.org/officeDocument/2006/relationships/image" Target="../media/image41.GIF"/><Relationship Id="rId2" Type="http://schemas.openxmlformats.org/officeDocument/2006/relationships/image" Target="../media/image40.GIF"/><Relationship Id="rId1" Type="http://schemas.openxmlformats.org/officeDocument/2006/relationships/image" Target="../media/image39.GIF"/></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43.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s>
</file>

<file path=ppt/slides/_rels/slide1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image" Target="../media/image46.jpeg"/><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3" Type="http://schemas.openxmlformats.org/officeDocument/2006/relationships/notesSlide" Target="../notesSlides/notesSlide10.xml"/><Relationship Id="rId12" Type="http://schemas.openxmlformats.org/officeDocument/2006/relationships/slideLayout" Target="../slideLayouts/slideLayout1.xml"/><Relationship Id="rId11" Type="http://schemas.openxmlformats.org/officeDocument/2006/relationships/image" Target="../media/image48.jpeg"/><Relationship Id="rId10" Type="http://schemas.openxmlformats.org/officeDocument/2006/relationships/image" Target="../media/image47.jpeg"/><Relationship Id="rId1" Type="http://schemas.openxmlformats.org/officeDocument/2006/relationships/tags" Target="../tags/tag3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50.jpeg"/><Relationship Id="rId1" Type="http://schemas.openxmlformats.org/officeDocument/2006/relationships/image" Target="../media/image49.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image" Target="../media/image51.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58.jpeg"/><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image" Target="../media/image55.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60.jpeg"/><Relationship Id="rId1" Type="http://schemas.openxmlformats.org/officeDocument/2006/relationships/image" Target="../media/image59.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62.jpeg"/><Relationship Id="rId1" Type="http://schemas.openxmlformats.org/officeDocument/2006/relationships/image" Target="../media/image61.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64.jpeg"/><Relationship Id="rId1" Type="http://schemas.openxmlformats.org/officeDocument/2006/relationships/image" Target="../media/image6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66.jpeg"/><Relationship Id="rId1" Type="http://schemas.openxmlformats.org/officeDocument/2006/relationships/image" Target="../media/image65.jpe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jpeg"/><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image" Target="../media/image67.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76.jpeg"/><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image" Target="../media/image73.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7.jpeg"/></Relationships>
</file>

<file path=ppt/slides/_rels/slide24.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8" Type="http://schemas.openxmlformats.org/officeDocument/2006/relationships/notesSlide" Target="../notesSlides/notesSlide19.xml"/><Relationship Id="rId17" Type="http://schemas.openxmlformats.org/officeDocument/2006/relationships/slideLayout" Target="../slideLayouts/slideLayout1.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image" Target="../media/image78.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80.jpeg"/><Relationship Id="rId1" Type="http://schemas.openxmlformats.org/officeDocument/2006/relationships/image" Target="../media/image79.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82.jpeg"/><Relationship Id="rId1" Type="http://schemas.openxmlformats.org/officeDocument/2006/relationships/image" Target="../media/image81.jpeg"/></Relationships>
</file>

<file path=ppt/slides/_rels/slide27.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2" Type="http://schemas.openxmlformats.org/officeDocument/2006/relationships/notesSlide" Target="../notesSlides/notesSlide22.xml"/><Relationship Id="rId21" Type="http://schemas.openxmlformats.org/officeDocument/2006/relationships/slideLayout" Target="../slideLayouts/slideLayout1.xml"/><Relationship Id="rId20" Type="http://schemas.openxmlformats.org/officeDocument/2006/relationships/image" Target="../media/image84.jpeg"/><Relationship Id="rId2" Type="http://schemas.openxmlformats.org/officeDocument/2006/relationships/tags" Target="../tags/tag57.xml"/><Relationship Id="rId19" Type="http://schemas.openxmlformats.org/officeDocument/2006/relationships/tags" Target="../tags/tag73.xml"/><Relationship Id="rId18" Type="http://schemas.openxmlformats.org/officeDocument/2006/relationships/image" Target="../media/image83.jpeg"/><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2" Type="http://schemas.openxmlformats.org/officeDocument/2006/relationships/notesSlide" Target="../notesSlides/notesSlide23.xml"/><Relationship Id="rId21" Type="http://schemas.openxmlformats.org/officeDocument/2006/relationships/slideLayout" Target="../slideLayouts/slideLayout1.xml"/><Relationship Id="rId20" Type="http://schemas.openxmlformats.org/officeDocument/2006/relationships/image" Target="../media/image86.jpeg"/><Relationship Id="rId2" Type="http://schemas.openxmlformats.org/officeDocument/2006/relationships/tags" Target="../tags/tag75.xml"/><Relationship Id="rId19" Type="http://schemas.openxmlformats.org/officeDocument/2006/relationships/tags" Target="../tags/tag91.xml"/><Relationship Id="rId18" Type="http://schemas.openxmlformats.org/officeDocument/2006/relationships/image" Target="../media/image85.jpeg"/><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88.jpeg"/><Relationship Id="rId1" Type="http://schemas.openxmlformats.org/officeDocument/2006/relationships/image" Target="../media/image87.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90.jpeg"/><Relationship Id="rId1" Type="http://schemas.openxmlformats.org/officeDocument/2006/relationships/image" Target="../media/image89.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91.jpe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image" Target="../media/image92.jpeg"/><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96.xml"/><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image" Target="../media/image9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a:stretch>
            <a:fillRect/>
          </a:stretch>
        </p:blipFill>
        <p:spPr>
          <a:xfrm>
            <a:off x="0" y="0"/>
            <a:ext cx="12192635" cy="6858000"/>
          </a:xfrm>
          <a:prstGeom prst="rect">
            <a:avLst/>
          </a:prstGeom>
        </p:spPr>
      </p:pic>
      <p:sp>
        <p:nvSpPr>
          <p:cNvPr id="7" name="文本框 6"/>
          <p:cNvSpPr txBox="1"/>
          <p:nvPr/>
        </p:nvSpPr>
        <p:spPr>
          <a:xfrm>
            <a:off x="4875470" y="6184775"/>
            <a:ext cx="2159566" cy="307777"/>
          </a:xfrm>
          <a:prstGeom prst="rect">
            <a:avLst/>
          </a:prstGeom>
          <a:noFill/>
        </p:spPr>
        <p:txBody>
          <a:bodyPr wrap="none" rtlCol="0">
            <a:spAutoFit/>
          </a:bodyPr>
          <a:lstStyle/>
          <a:p>
            <a:r>
              <a:rPr lang="zh-CN" altLang="en-US" sz="1400" b="0" dirty="0">
                <a:ea typeface="Noto Sans SC" panose="020B0200000000000000" charset="-122"/>
                <a:cs typeface="Noto Sans SC" panose="020B0200000000000000" charset="-122"/>
              </a:rPr>
              <a:t>百川产品体系与</a:t>
            </a:r>
            <a:r>
              <a:rPr lang="zh-CN" altLang="en-US" sz="1400" dirty="0">
                <a:ea typeface="Noto Sans SC" panose="020B0200000000000000" charset="-122"/>
              </a:rPr>
              <a:t>开放平</a:t>
            </a:r>
            <a:r>
              <a:rPr lang="zh-CN" altLang="en-US" sz="1400" b="0" dirty="0">
                <a:ea typeface="Noto Sans SC" panose="020B0200000000000000" charset="-122"/>
                <a:cs typeface="Noto Sans SC" panose="020B0200000000000000" charset="-122"/>
              </a:rPr>
              <a:t>台</a:t>
            </a:r>
            <a:endParaRPr lang="zh-CN" altLang="en-US" sz="1400" b="0" dirty="0">
              <a:ea typeface="Noto Sans SC" panose="020B0200000000000000" charset="-122"/>
              <a:cs typeface="Noto Sans SC" panose="020B0200000000000000" charset="-122"/>
            </a:endParaRPr>
          </a:p>
        </p:txBody>
      </p:sp>
      <p:grpSp>
        <p:nvGrpSpPr>
          <p:cNvPr id="9" name="组合 8"/>
          <p:cNvGrpSpPr/>
          <p:nvPr/>
        </p:nvGrpSpPr>
        <p:grpSpPr>
          <a:xfrm>
            <a:off x="478154" y="2106025"/>
            <a:ext cx="4663612" cy="2185581"/>
            <a:chOff x="478154" y="2198556"/>
            <a:chExt cx="4663612" cy="2185581"/>
          </a:xfrm>
        </p:grpSpPr>
        <p:sp>
          <p:nvSpPr>
            <p:cNvPr id="3" name="文本框 2"/>
            <p:cNvSpPr txBox="1"/>
            <p:nvPr/>
          </p:nvSpPr>
          <p:spPr>
            <a:xfrm>
              <a:off x="478154" y="2198556"/>
              <a:ext cx="4616360" cy="1477328"/>
            </a:xfrm>
            <a:prstGeom prst="rect">
              <a:avLst/>
            </a:prstGeom>
            <a:noFill/>
          </p:spPr>
          <p:txBody>
            <a:bodyPr wrap="square">
              <a:spAutoFit/>
              <a:scene3d>
                <a:camera prst="orthographicFront"/>
                <a:lightRig rig="threePt" dir="t"/>
              </a:scene3d>
            </a:bodyPr>
            <a:lstStyle/>
            <a:p>
              <a:pPr algn="l"/>
              <a:r>
                <a:rPr sz="9000" dirty="0">
                  <a:solidFill>
                    <a:schemeClr val="dk1"/>
                  </a:solidFill>
                  <a:latin typeface="OPPOSans B" panose="00020600040101010101" charset="-122"/>
                  <a:ea typeface="OPPOSans B" panose="00020600040101010101" charset="-122"/>
                  <a:cs typeface="OPPOSans B" panose="00020600040101010101" charset="-122"/>
                  <a:sym typeface="+mn-ea"/>
                </a:rPr>
                <a:t>百川2.0</a:t>
              </a:r>
              <a:endParaRPr lang="zh-CN" altLang="en-US" sz="9000" dirty="0">
                <a:solidFill>
                  <a:schemeClr val="dk1"/>
                </a:solidFill>
                <a:effectLst/>
                <a:latin typeface="OPPOSans B" panose="00020600040101010101" charset="-122"/>
                <a:ea typeface="OPPOSans B" panose="00020600040101010101" charset="-122"/>
                <a:cs typeface="OPPOSans B" panose="00020600040101010101" charset="-122"/>
                <a:sym typeface="+mn-ea"/>
              </a:endParaRPr>
            </a:p>
          </p:txBody>
        </p:sp>
        <p:sp>
          <p:nvSpPr>
            <p:cNvPr id="4" name="文本框 3"/>
            <p:cNvSpPr txBox="1"/>
            <p:nvPr/>
          </p:nvSpPr>
          <p:spPr>
            <a:xfrm>
              <a:off x="525406" y="3567287"/>
              <a:ext cx="4616360" cy="458470"/>
            </a:xfrm>
            <a:prstGeom prst="rect">
              <a:avLst/>
            </a:prstGeom>
            <a:noFill/>
          </p:spPr>
          <p:txBody>
            <a:bodyPr wrap="none" rtlCol="0">
              <a:noAutofit/>
            </a:bodyPr>
            <a:lstStyle/>
            <a:p>
              <a:pPr algn="l"/>
              <a:r>
                <a:rPr lang="zh-CN" altLang="en-US" sz="2500" dirty="0">
                  <a:latin typeface="+mj-lt"/>
                  <a:ea typeface="OPPOSans M" panose="00020600040101010101" charset="-122"/>
                  <a:cs typeface="+mj-ea"/>
                  <a:sym typeface="+mn-ea"/>
                </a:rPr>
                <a:t>让造机无门槛，让交付更简单</a:t>
              </a:r>
              <a:endParaRPr lang="zh-CN" altLang="en-US" sz="2500" i="0" u="none" cap="none" dirty="0">
                <a:latin typeface="+mj-lt"/>
                <a:ea typeface="OPPOSans M" panose="00020600040101010101" charset="-122"/>
                <a:cs typeface="+mj-ea"/>
              </a:endParaRPr>
            </a:p>
            <a:p>
              <a:pPr algn="l"/>
              <a:endParaRPr lang="zh-CN" altLang="en-US" sz="2200" dirty="0">
                <a:solidFill>
                  <a:schemeClr val="tx1"/>
                </a:solidFill>
                <a:latin typeface="+mj-lt"/>
                <a:ea typeface="OPPOSans M" panose="00020600040101010101" charset="-122"/>
                <a:cs typeface="+mj-ea"/>
                <a:sym typeface="+mn-ea"/>
              </a:endParaRPr>
            </a:p>
            <a:p>
              <a:endParaRPr lang="zh-CN" altLang="en-US" sz="2200" dirty="0">
                <a:solidFill>
                  <a:schemeClr val="tx1"/>
                </a:solidFill>
                <a:latin typeface="+mj-lt"/>
                <a:ea typeface="OPPOSans M" panose="00020600040101010101" charset="-122"/>
                <a:cs typeface="+mj-ea"/>
                <a:sym typeface="+mn-ea"/>
              </a:endParaRPr>
            </a:p>
          </p:txBody>
        </p:sp>
        <p:sp>
          <p:nvSpPr>
            <p:cNvPr id="8" name="文本框 7"/>
            <p:cNvSpPr txBox="1"/>
            <p:nvPr/>
          </p:nvSpPr>
          <p:spPr>
            <a:xfrm>
              <a:off x="551956" y="4033272"/>
              <a:ext cx="4328429" cy="350865"/>
            </a:xfrm>
            <a:prstGeom prst="rect">
              <a:avLst/>
            </a:prstGeom>
            <a:noFill/>
          </p:spPr>
          <p:txBody>
            <a:bodyPr wrap="none" rtlCol="0">
              <a:spAutoFit/>
            </a:bodyPr>
            <a:lstStyle/>
            <a:p>
              <a:r>
                <a:rPr lang="zh-CN" altLang="en-US" sz="1680" dirty="0"/>
                <a:t>数字定义 </a:t>
              </a:r>
              <a:r>
                <a:rPr lang="en-US" altLang="zh-CN" sz="1680" dirty="0"/>
                <a:t>· </a:t>
              </a:r>
              <a:r>
                <a:rPr lang="zh-CN" altLang="en-US" sz="1680" dirty="0"/>
                <a:t>标准运行 </a:t>
              </a:r>
              <a:r>
                <a:rPr lang="en-US" altLang="zh-CN" sz="1680" dirty="0"/>
                <a:t>· </a:t>
              </a:r>
              <a:r>
                <a:rPr lang="zh-CN" altLang="en-US" sz="1680" dirty="0"/>
                <a:t>场景交付 </a:t>
              </a:r>
              <a:r>
                <a:rPr lang="en-US" altLang="zh-CN" sz="1680" dirty="0"/>
                <a:t>· </a:t>
              </a:r>
              <a:r>
                <a:rPr lang="zh-CN" altLang="en-US" sz="1680" dirty="0"/>
                <a:t>开放生态</a:t>
              </a:r>
              <a:endParaRPr lang="zh-CN" altLang="en-US" sz="1680" dirty="0"/>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28700"/>
            <a:ext cx="11664950" cy="55586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 name="图片 1" descr="upload_post_object_v2_756489612"/>
          <p:cNvPicPr>
            <a:picLocks noChangeAspect="1"/>
          </p:cNvPicPr>
          <p:nvPr/>
        </p:nvPicPr>
        <p:blipFill>
          <a:blip r:embed="rId1"/>
          <a:stretch>
            <a:fillRect/>
          </a:stretch>
        </p:blipFill>
        <p:spPr>
          <a:xfrm>
            <a:off x="4398517" y="1239772"/>
            <a:ext cx="7717283" cy="5636023"/>
          </a:xfrm>
          <a:prstGeom prst="rect">
            <a:avLst/>
          </a:prstGeom>
        </p:spPr>
      </p:pic>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sz="1400" dirty="0" err="1">
                <a:solidFill>
                  <a:schemeClr val="tx1">
                    <a:lumMod val="95000"/>
                    <a:lumOff val="5000"/>
                  </a:schemeClr>
                </a:solidFill>
                <a:latin typeface="OPPOSans M" panose="00020600040101010101" charset="-122"/>
                <a:ea typeface="OPPOSans M" panose="00020600040101010101" charset="-122"/>
              </a:rPr>
              <a:t>设备厂商专注硬件，软件与场景伙伴复用同一套开发、运行与交付体系</a:t>
            </a:r>
            <a:endParaRPr sz="1400" dirty="0">
              <a:solidFill>
                <a:schemeClr val="tx1">
                  <a:lumMod val="95000"/>
                  <a:lumOff val="5000"/>
                </a:schemeClr>
              </a:solidFill>
              <a:latin typeface="OPPOSans M" panose="00020600040101010101" charset="-122"/>
              <a:ea typeface="OPPOSans M" panose="00020600040101010101" charset="-122"/>
            </a:endParaRPr>
          </a:p>
        </p:txBody>
      </p:sp>
      <p:sp>
        <p:nvSpPr>
          <p:cNvPr id="224" name="callout-text"/>
          <p:cNvSpPr>
            <a:spLocks noGrp="1"/>
          </p:cNvSpPr>
          <p:nvPr/>
        </p:nvSpPr>
        <p:spPr>
          <a:xfrm>
            <a:off x="723900" y="6229350"/>
            <a:ext cx="10744200" cy="342900"/>
          </a:xfrm>
          <a:prstGeom prst="rect">
            <a:avLst/>
          </a:prstGeom>
          <a:noFill/>
          <a:ln w="0">
            <a:noFill/>
            <a:prstDash val="solid"/>
          </a:ln>
        </p:spPr>
        <p:txBody>
          <a:bodyPr anchor="ctr">
            <a:noAutofit/>
          </a:bodyPr>
          <a:lstStyle/>
          <a:p>
            <a:pPr lvl="0" algn="ctr">
              <a:buClrTx/>
              <a:buSzTx/>
              <a:buFontTx/>
              <a:defRPr sz="1125" b="1">
                <a:solidFill>
                  <a:srgbClr val="FFFFFF"/>
                </a:solidFill>
              </a:defRPr>
            </a:pPr>
            <a:r>
              <a:rPr lang="zh-CN" altLang="en-US" sz="900" b="0" dirty="0">
                <a:solidFill>
                  <a:schemeClr val="bg1">
                    <a:lumMod val="65000"/>
                  </a:schemeClr>
                </a:solidFill>
                <a:latin typeface="+mn-ea"/>
                <a:cs typeface="OPPOSans M" panose="00020600040101010101" charset="-122"/>
                <a:sym typeface="+mn-ea"/>
              </a:rPr>
              <a:t>服务多方参与者：设备厂商 · 开发者 · 集成商 · 交付团队</a:t>
            </a:r>
            <a:endParaRPr lang="zh-CN" altLang="en-US" sz="900" b="0" dirty="0">
              <a:solidFill>
                <a:schemeClr val="bg1">
                  <a:lumMod val="65000"/>
                </a:schemeClr>
              </a:solidFill>
              <a:latin typeface="+mn-ea"/>
              <a:cs typeface="OPPOSans M" panose="00020600040101010101" charset="-122"/>
              <a:sym typeface="+mn-ea"/>
            </a:endParaRPr>
          </a:p>
        </p:txBody>
      </p:sp>
      <p:sp>
        <p:nvSpPr>
          <p:cNvPr id="227" name="右箭头 16"/>
          <p:cNvSpPr>
            <a:spLocks noChangeAspect="1"/>
          </p:cNvSpPr>
          <p:nvPr/>
        </p:nvSpPr>
        <p:spPr>
          <a:xfrm>
            <a:off x="4242727" y="3118757"/>
            <a:ext cx="964460" cy="620486"/>
          </a:xfrm>
          <a:prstGeom prst="right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241F7D"/>
              </a:solidFill>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百川</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工业具身智能设备的通用系统基础设施</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文本框 4"/>
          <p:cNvSpPr txBox="1"/>
          <p:nvPr/>
        </p:nvSpPr>
        <p:spPr>
          <a:xfrm>
            <a:off x="1757439" y="4473403"/>
            <a:ext cx="1137313" cy="369332"/>
          </a:xfrm>
          <a:prstGeom prst="rect">
            <a:avLst/>
          </a:prstGeom>
          <a:noFill/>
        </p:spPr>
        <p:txBody>
          <a:bodyPr wrap="square" rtlCol="0">
            <a:spAutoFit/>
          </a:bodyPr>
          <a:lstStyle/>
          <a:p>
            <a:r>
              <a:rPr lang="zh-CN" altLang="en-US" dirty="0">
                <a:solidFill>
                  <a:schemeClr val="bg1">
                    <a:lumMod val="65000"/>
                  </a:schemeClr>
                </a:solidFill>
              </a:rPr>
              <a:t>百川平台</a:t>
            </a:r>
            <a:endParaRPr lang="zh-CN" altLang="en-US" dirty="0">
              <a:solidFill>
                <a:schemeClr val="bg1">
                  <a:lumMod val="65000"/>
                </a:schemeClr>
              </a:solidFill>
            </a:endParaRPr>
          </a:p>
        </p:txBody>
      </p:sp>
      <p:pic>
        <p:nvPicPr>
          <p:cNvPr id="4" name="图片 3"/>
          <p:cNvPicPr>
            <a:picLocks noChangeAspect="1"/>
          </p:cNvPicPr>
          <p:nvPr/>
        </p:nvPicPr>
        <p:blipFill>
          <a:blip r:embed="rId2"/>
          <a:stretch>
            <a:fillRect/>
          </a:stretch>
        </p:blipFill>
        <p:spPr>
          <a:xfrm>
            <a:off x="1395767" y="2490175"/>
            <a:ext cx="1860657" cy="18776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矩形: 圆角 418"/>
          <p:cNvSpPr/>
          <p:nvPr/>
        </p:nvSpPr>
        <p:spPr>
          <a:xfrm>
            <a:off x="263525" y="1039032"/>
            <a:ext cx="11664950" cy="55586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圆角 15"/>
          <p:cNvSpPr/>
          <p:nvPr/>
        </p:nvSpPr>
        <p:spPr>
          <a:xfrm>
            <a:off x="7024067" y="1262937"/>
            <a:ext cx="4663629" cy="2434557"/>
          </a:xfrm>
          <a:prstGeom prst="roundRect">
            <a:avLst>
              <a:gd name="adj" fmla="val 8333"/>
            </a:avLst>
          </a:prstGeom>
          <a:solidFill>
            <a:schemeClr val="bg1"/>
          </a:solidFill>
          <a:ln>
            <a:noFill/>
          </a:ln>
          <a:effectLst>
            <a:outerShdw blurRad="63500" sx="101000" sy="101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体系割裂、标准不一，设备、应用和开发工具难以共享</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5" name="矩形: 圆角 14"/>
          <p:cNvSpPr/>
          <p:nvPr/>
        </p:nvSpPr>
        <p:spPr>
          <a:xfrm>
            <a:off x="504304" y="1262937"/>
            <a:ext cx="5965823" cy="2434557"/>
          </a:xfrm>
          <a:prstGeom prst="roundRect">
            <a:avLst>
              <a:gd name="adj" fmla="val 8333"/>
            </a:avLst>
          </a:prstGeom>
          <a:solidFill>
            <a:schemeClr val="bg1"/>
          </a:solidFill>
          <a:ln>
            <a:noFill/>
          </a:ln>
          <a:effectLst>
            <a:outerShdw blurRad="63500" sx="101000" sy="101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行业问题：设备研发仍普遍从底层重复建设</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366" name="矩形: 圆角 365"/>
          <p:cNvSpPr/>
          <p:nvPr/>
        </p:nvSpPr>
        <p:spPr>
          <a:xfrm>
            <a:off x="500419" y="3922887"/>
            <a:ext cx="11187277" cy="669364"/>
          </a:xfrm>
          <a:prstGeom prst="roundRect">
            <a:avLst>
              <a:gd name="adj" fmla="val 24178"/>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矩形 367"/>
          <p:cNvSpPr/>
          <p:nvPr>
            <p:custDataLst>
              <p:tags r:id="rId1"/>
            </p:custDataLst>
          </p:nvPr>
        </p:nvSpPr>
        <p:spPr>
          <a:xfrm>
            <a:off x="2376248" y="4105487"/>
            <a:ext cx="2595476" cy="304165"/>
          </a:xfrm>
          <a:prstGeom prst="rect">
            <a:avLst/>
          </a:prstGeom>
          <a:noFill/>
          <a:ln>
            <a:noFill/>
          </a:ln>
        </p:spPr>
        <p:txBody>
          <a:bodyPr/>
          <a:lstStyle/>
          <a:p>
            <a:pPr indent="0" fontAlgn="auto">
              <a:lnSpc>
                <a:spcPct val="120000"/>
              </a:lnSpc>
              <a:buNone/>
              <a:defRPr sz="900" b="0">
                <a:solidFill>
                  <a:srgbClr val="5E6978"/>
                </a:solidFill>
              </a:defRPr>
            </a:pPr>
            <a:r>
              <a:rPr lang="zh-CN" altLang="en-US" sz="1200" dirty="0">
                <a:solidFill>
                  <a:srgbClr val="111827"/>
                </a:solidFill>
                <a:latin typeface="OPPOSans B" panose="00020600040101010101" charset="-122"/>
                <a:ea typeface="OPPOSans B" panose="00020600040101010101" charset="-122"/>
                <a:cs typeface="OPPOSans B" panose="00020600040101010101" charset="-122"/>
              </a:rPr>
              <a:t>行业缺少统一的造机基础底座</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371" name="矩形 370"/>
          <p:cNvSpPr/>
          <p:nvPr>
            <p:custDataLst>
              <p:tags r:id="rId2"/>
            </p:custDataLst>
          </p:nvPr>
        </p:nvSpPr>
        <p:spPr>
          <a:xfrm>
            <a:off x="7709367" y="4105487"/>
            <a:ext cx="3137081" cy="304165"/>
          </a:xfrm>
          <a:prstGeom prst="rect">
            <a:avLst/>
          </a:prstGeom>
          <a:noFill/>
          <a:ln>
            <a:noFill/>
          </a:ln>
        </p:spPr>
        <p:txBody>
          <a:bodyPr/>
          <a:lstStyle/>
          <a:p>
            <a:pPr indent="0" fontAlgn="auto">
              <a:lnSpc>
                <a:spcPct val="120000"/>
              </a:lnSpc>
              <a:buNone/>
              <a:defRPr sz="900" b="0">
                <a:solidFill>
                  <a:srgbClr val="5E6978"/>
                </a:solidFill>
              </a:defRPr>
            </a:pPr>
            <a:r>
              <a:rPr lang="zh-CN" altLang="en-US" sz="1100" dirty="0">
                <a:solidFill>
                  <a:srgbClr val="101315"/>
                </a:solidFill>
                <a:latin typeface="+mn-ea"/>
                <a:cs typeface="OPPOSans B" panose="00020600040101010101" charset="-122"/>
              </a:rPr>
              <a:t>标准硬件</a:t>
            </a:r>
            <a:r>
              <a:rPr lang="en-US" altLang="zh-CN" sz="1100" dirty="0">
                <a:solidFill>
                  <a:srgbClr val="101315"/>
                </a:solidFill>
                <a:latin typeface="+mn-ea"/>
                <a:cs typeface="OPPOSans B" panose="00020600040101010101" charset="-122"/>
              </a:rPr>
              <a:t>+</a:t>
            </a:r>
            <a:r>
              <a:rPr lang="zh-CN" altLang="en-US" sz="1100" dirty="0">
                <a:solidFill>
                  <a:srgbClr val="101315"/>
                </a:solidFill>
                <a:latin typeface="+mn-ea"/>
                <a:cs typeface="OPPOSans B" panose="00020600040101010101" charset="-122"/>
              </a:rPr>
              <a:t>基础系统</a:t>
            </a:r>
            <a:r>
              <a:rPr lang="en-US" altLang="zh-CN" sz="1100" dirty="0">
                <a:solidFill>
                  <a:srgbClr val="101315"/>
                </a:solidFill>
                <a:latin typeface="+mn-ea"/>
                <a:cs typeface="OPPOSans B" panose="00020600040101010101" charset="-122"/>
              </a:rPr>
              <a:t>+</a:t>
            </a:r>
            <a:r>
              <a:rPr lang="zh-CN" altLang="en-US" sz="1100" dirty="0">
                <a:solidFill>
                  <a:srgbClr val="101315"/>
                </a:solidFill>
                <a:latin typeface="+mn-ea"/>
                <a:cs typeface="OPPOSans B" panose="00020600040101010101" charset="-122"/>
              </a:rPr>
              <a:t>开发工具</a:t>
            </a:r>
            <a:r>
              <a:rPr lang="en-US" altLang="zh-CN" sz="1100" dirty="0">
                <a:solidFill>
                  <a:srgbClr val="101315"/>
                </a:solidFill>
                <a:latin typeface="+mn-ea"/>
                <a:cs typeface="OPPOSans B" panose="00020600040101010101" charset="-122"/>
              </a:rPr>
              <a:t>+</a:t>
            </a:r>
            <a:r>
              <a:rPr lang="zh-CN" altLang="en-US" sz="1100" dirty="0">
                <a:solidFill>
                  <a:srgbClr val="101315"/>
                </a:solidFill>
                <a:latin typeface="+mn-ea"/>
                <a:cs typeface="OPPOSans B" panose="00020600040101010101" charset="-122"/>
              </a:rPr>
              <a:t>应用生态</a:t>
            </a:r>
            <a:endParaRPr lang="zh-CN" altLang="en-US" sz="1100" dirty="0">
              <a:solidFill>
                <a:srgbClr val="101315"/>
              </a:solidFill>
              <a:latin typeface="+mn-ea"/>
              <a:cs typeface="OPPOSans B" panose="00020600040101010101" charset="-122"/>
            </a:endParaRPr>
          </a:p>
        </p:txBody>
      </p:sp>
      <p:grpSp>
        <p:nvGrpSpPr>
          <p:cNvPr id="418" name="组合 417"/>
          <p:cNvGrpSpPr/>
          <p:nvPr/>
        </p:nvGrpSpPr>
        <p:grpSpPr>
          <a:xfrm>
            <a:off x="263525" y="4712671"/>
            <a:ext cx="11664950" cy="1635769"/>
            <a:chOff x="263525" y="4390890"/>
            <a:chExt cx="11664950" cy="1635769"/>
          </a:xfrm>
        </p:grpSpPr>
        <p:sp>
          <p:nvSpPr>
            <p:cNvPr id="18" name="文本框 17"/>
            <p:cNvSpPr txBox="1"/>
            <p:nvPr/>
          </p:nvSpPr>
          <p:spPr>
            <a:xfrm>
              <a:off x="263525" y="4390890"/>
              <a:ext cx="11664950" cy="307777"/>
            </a:xfrm>
            <a:prstGeom prst="rect">
              <a:avLst/>
            </a:prstGeom>
            <a:noFill/>
          </p:spPr>
          <p:txBody>
            <a:bodyPr wrap="square" rtlCol="0">
              <a:spAutoFit/>
            </a:bodyPr>
            <a:lstStyle/>
            <a:p>
              <a:pPr algn="ctr"/>
              <a:r>
                <a:rPr lang="zh-CN" altLang="en-US" sz="1400" dirty="0">
                  <a:solidFill>
                    <a:srgbClr val="BF1920"/>
                  </a:solidFill>
                  <a:latin typeface="OPPOSans B" panose="00020600040101010101" charset="-122"/>
                  <a:ea typeface="OPPOSans B" panose="00020600040101010101" charset="-122"/>
                  <a:cs typeface="OPPOSans B" panose="00020600040101010101" charset="-122"/>
                </a:rPr>
                <a:t>六个长期问题</a:t>
              </a:r>
              <a:endParaRPr lang="zh-CN" altLang="en-US" sz="1400" dirty="0">
                <a:solidFill>
                  <a:srgbClr val="BF1920"/>
                </a:solidFill>
                <a:latin typeface="OPPOSans B" panose="00020600040101010101" charset="-122"/>
                <a:ea typeface="OPPOSans B" panose="00020600040101010101" charset="-122"/>
                <a:cs typeface="OPPOSans B" panose="00020600040101010101" charset="-122"/>
              </a:endParaRPr>
            </a:p>
          </p:txBody>
        </p:sp>
        <p:grpSp>
          <p:nvGrpSpPr>
            <p:cNvPr id="392" name="组合 391"/>
            <p:cNvGrpSpPr/>
            <p:nvPr/>
          </p:nvGrpSpPr>
          <p:grpSpPr>
            <a:xfrm>
              <a:off x="500419" y="4798010"/>
              <a:ext cx="1714824" cy="1223378"/>
              <a:chOff x="500420" y="4798010"/>
              <a:chExt cx="1714824" cy="1223378"/>
            </a:xfrm>
          </p:grpSpPr>
          <p:sp>
            <p:nvSpPr>
              <p:cNvPr id="59" name="矩形: 圆角 58"/>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custDataLst>
                  <p:tags r:id="rId3"/>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01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重复建设</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61" name="矩形 60"/>
              <p:cNvSpPr/>
              <p:nvPr>
                <p:custDataLst>
                  <p:tags r:id="rId4"/>
                </p:custDataLst>
              </p:nvPr>
            </p:nvSpPr>
            <p:spPr>
              <a:xfrm>
                <a:off x="623888" y="5155674"/>
                <a:ext cx="1455283" cy="816726"/>
              </a:xfrm>
              <a:prstGeom prst="rect">
                <a:avLst/>
              </a:prstGeom>
              <a:noFill/>
              <a:ln>
                <a:noFill/>
              </a:ln>
            </p:spPr>
            <p:txBody>
              <a:bodyPr/>
              <a:lstStyle/>
              <a:p>
                <a:pPr lvl="0">
                  <a:lnSpc>
                    <a:spcPct val="150000"/>
                  </a:lnSpc>
                  <a:buClrTx/>
                  <a:buSz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设备接入、控制、调度、可视化与运维能力在项目中反复开发</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nvGrpSpPr>
            <p:cNvPr id="397" name="组合 396"/>
            <p:cNvGrpSpPr/>
            <p:nvPr/>
          </p:nvGrpSpPr>
          <p:grpSpPr>
            <a:xfrm>
              <a:off x="2394910" y="4803281"/>
              <a:ext cx="1714824" cy="1223378"/>
              <a:chOff x="500420" y="4798010"/>
              <a:chExt cx="1714824" cy="1223378"/>
            </a:xfrm>
          </p:grpSpPr>
          <p:sp>
            <p:nvSpPr>
              <p:cNvPr id="398" name="矩形: 圆角 397"/>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9" name="矩形 398"/>
              <p:cNvSpPr/>
              <p:nvPr>
                <p:custDataLst>
                  <p:tags r:id="rId5"/>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02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软硬耦合</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00" name="矩形 399"/>
              <p:cNvSpPr/>
              <p:nvPr>
                <p:custDataLst>
                  <p:tags r:id="rId6"/>
                </p:custDataLst>
              </p:nvPr>
            </p:nvSpPr>
            <p:spPr>
              <a:xfrm>
                <a:off x="623889" y="5155674"/>
                <a:ext cx="1395036" cy="816726"/>
              </a:xfrm>
              <a:prstGeom prst="rect">
                <a:avLst/>
              </a:prstGeom>
              <a:noFill/>
              <a:ln>
                <a:noFill/>
              </a:ln>
            </p:spPr>
            <p:txBody>
              <a:bodyPr/>
              <a:lstStyle/>
              <a:p>
                <a:pPr lvl="0">
                  <a:lnSpc>
                    <a:spcPct val="150000"/>
                  </a:lnSpc>
                  <a:buClrTx/>
                  <a:buSz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部件、控制器、驱动、算法与应用难以灵活组合和替换</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nvGrpSpPr>
            <p:cNvPr id="401" name="组合 400"/>
            <p:cNvGrpSpPr/>
            <p:nvPr/>
          </p:nvGrpSpPr>
          <p:grpSpPr>
            <a:xfrm>
              <a:off x="4289401" y="4803281"/>
              <a:ext cx="1714824" cy="1223378"/>
              <a:chOff x="500420" y="4798010"/>
              <a:chExt cx="1714824" cy="1223378"/>
            </a:xfrm>
          </p:grpSpPr>
          <p:sp>
            <p:nvSpPr>
              <p:cNvPr id="402" name="矩形: 圆角 401"/>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矩形 402"/>
              <p:cNvSpPr/>
              <p:nvPr>
                <p:custDataLst>
                  <p:tags r:id="rId7"/>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03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交付低效</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04" name="矩形 403"/>
              <p:cNvSpPr/>
              <p:nvPr>
                <p:custDataLst>
                  <p:tags r:id="rId8"/>
                </p:custDataLst>
              </p:nvPr>
            </p:nvSpPr>
            <p:spPr>
              <a:xfrm>
                <a:off x="623889" y="5155674"/>
                <a:ext cx="1394660" cy="816726"/>
              </a:xfrm>
              <a:prstGeom prst="rect">
                <a:avLst/>
              </a:prstGeom>
              <a:noFill/>
              <a:ln>
                <a:noFill/>
              </a:ln>
            </p:spPr>
            <p:txBody>
              <a:bodyPr/>
              <a:lstStyle/>
              <a:p>
                <a:pPr indent="0" fontAlgn="auto">
                  <a:lnSpc>
                    <a:spcPct val="150000"/>
                  </a:lnSpc>
                  <a:buFont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设备设计后仍需重新采购、软件适配与大量现场调试</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nvGrpSpPr>
            <p:cNvPr id="405" name="组合 404"/>
            <p:cNvGrpSpPr/>
            <p:nvPr/>
          </p:nvGrpSpPr>
          <p:grpSpPr>
            <a:xfrm>
              <a:off x="6183892" y="4798010"/>
              <a:ext cx="1714824" cy="1223378"/>
              <a:chOff x="500420" y="4798010"/>
              <a:chExt cx="1714824" cy="1223378"/>
            </a:xfrm>
          </p:grpSpPr>
          <p:sp>
            <p:nvSpPr>
              <p:cNvPr id="406" name="矩形: 圆角 405"/>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矩形 406"/>
              <p:cNvSpPr/>
              <p:nvPr>
                <p:custDataLst>
                  <p:tags r:id="rId9"/>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04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经验难复用</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08" name="矩形 407"/>
              <p:cNvSpPr/>
              <p:nvPr>
                <p:custDataLst>
                  <p:tags r:id="rId10"/>
                </p:custDataLst>
              </p:nvPr>
            </p:nvSpPr>
            <p:spPr>
              <a:xfrm>
                <a:off x="623888" y="5155674"/>
                <a:ext cx="1455283" cy="816726"/>
              </a:xfrm>
              <a:prstGeom prst="rect">
                <a:avLst/>
              </a:prstGeom>
              <a:noFill/>
              <a:ln>
                <a:noFill/>
              </a:ln>
            </p:spPr>
            <p:txBody>
              <a:bodyPr/>
              <a:lstStyle/>
              <a:p>
                <a:pPr lvl="0">
                  <a:lnSpc>
                    <a:spcPct val="150000"/>
                  </a:lnSpc>
                  <a:buClrTx/>
                  <a:buSz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项目成果难以沉淀为模块、插件、模板和工具</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nvGrpSpPr>
            <p:cNvPr id="409" name="组合 408"/>
            <p:cNvGrpSpPr/>
            <p:nvPr/>
          </p:nvGrpSpPr>
          <p:grpSpPr>
            <a:xfrm>
              <a:off x="8078383" y="4803281"/>
              <a:ext cx="1714824" cy="1223378"/>
              <a:chOff x="500420" y="4798010"/>
              <a:chExt cx="1714824" cy="1223378"/>
            </a:xfrm>
          </p:grpSpPr>
          <p:sp>
            <p:nvSpPr>
              <p:cNvPr id="410" name="矩形: 圆角 409"/>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1" name="矩形 410"/>
              <p:cNvSpPr/>
              <p:nvPr>
                <p:custDataLst>
                  <p:tags r:id="rId11"/>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05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生态分散 </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12" name="矩形 411"/>
              <p:cNvSpPr/>
              <p:nvPr>
                <p:custDataLst>
                  <p:tags r:id="rId12"/>
                </p:custDataLst>
              </p:nvPr>
            </p:nvSpPr>
            <p:spPr>
              <a:xfrm>
                <a:off x="623888" y="5155674"/>
                <a:ext cx="1410235" cy="816726"/>
              </a:xfrm>
              <a:prstGeom prst="rect">
                <a:avLst/>
              </a:prstGeom>
              <a:noFill/>
              <a:ln>
                <a:noFill/>
              </a:ln>
            </p:spPr>
            <p:txBody>
              <a:bodyPr/>
              <a:lstStyle/>
              <a:p>
                <a:pPr lvl="0">
                  <a:lnSpc>
                    <a:spcPct val="150000"/>
                  </a:lnSpc>
                  <a:buClrTx/>
                  <a:buSz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供应商、开发者与集成商缺少统一的接入和协作平台</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nvGrpSpPr>
            <p:cNvPr id="413" name="组合 412"/>
            <p:cNvGrpSpPr/>
            <p:nvPr/>
          </p:nvGrpSpPr>
          <p:grpSpPr>
            <a:xfrm>
              <a:off x="9972872" y="4803281"/>
              <a:ext cx="1714824" cy="1223378"/>
              <a:chOff x="500420" y="4798010"/>
              <a:chExt cx="1714824" cy="1223378"/>
            </a:xfrm>
          </p:grpSpPr>
          <p:sp>
            <p:nvSpPr>
              <p:cNvPr id="414" name="矩形: 圆角 413"/>
              <p:cNvSpPr/>
              <p:nvPr/>
            </p:nvSpPr>
            <p:spPr>
              <a:xfrm>
                <a:off x="500420" y="4798010"/>
                <a:ext cx="1714824" cy="1223378"/>
              </a:xfrm>
              <a:prstGeom prst="roundRect">
                <a:avLst>
                  <a:gd name="adj" fmla="val 1567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矩形 414"/>
              <p:cNvSpPr/>
              <p:nvPr>
                <p:custDataLst>
                  <p:tags r:id="rId13"/>
                </p:custDataLst>
              </p:nvPr>
            </p:nvSpPr>
            <p:spPr>
              <a:xfrm>
                <a:off x="500421" y="4875244"/>
                <a:ext cx="1714823" cy="304165"/>
              </a:xfrm>
              <a:prstGeom prst="rect">
                <a:avLst/>
              </a:prstGeom>
              <a:noFill/>
              <a:ln>
                <a:noFill/>
              </a:ln>
            </p:spPr>
            <p:txBody>
              <a:bodyPr/>
              <a:lstStyle/>
              <a:p>
                <a:pPr indent="0" fontAlgn="auto">
                  <a:lnSpc>
                    <a:spcPct val="120000"/>
                  </a:lnSpc>
                  <a:buNone/>
                  <a:defRPr sz="900" b="0">
                    <a:solidFill>
                      <a:srgbClr val="5E6978"/>
                    </a:solidFill>
                  </a:defRPr>
                </a:pPr>
                <a:r>
                  <a:rPr lang="en-US" altLang="zh-CN" sz="1200" dirty="0">
                    <a:solidFill>
                      <a:srgbClr val="111827"/>
                    </a:solidFill>
                    <a:latin typeface="OPPOSans B" panose="00020600040101010101" charset="-122"/>
                    <a:ea typeface="OPPOSans B" panose="00020600040101010101" charset="-122"/>
                    <a:cs typeface="OPPOSans B" panose="00020600040101010101" charset="-122"/>
                    <a:sym typeface="+mn-ea"/>
                  </a:rPr>
                  <a:t>   06 </a:t>
                </a:r>
                <a:r>
                  <a:rPr lang="zh-CN" altLang="en-US" sz="1200" dirty="0">
                    <a:solidFill>
                      <a:srgbClr val="111827"/>
                    </a:solidFill>
                    <a:latin typeface="OPPOSans B" panose="00020600040101010101" charset="-122"/>
                    <a:ea typeface="OPPOSans B" panose="00020600040101010101" charset="-122"/>
                    <a:cs typeface="OPPOSans B" panose="00020600040101010101" charset="-122"/>
                    <a:sym typeface="+mn-ea"/>
                  </a:rPr>
                  <a:t>生命周期割裂</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16" name="矩形 415"/>
              <p:cNvSpPr/>
              <p:nvPr>
                <p:custDataLst>
                  <p:tags r:id="rId14"/>
                </p:custDataLst>
              </p:nvPr>
            </p:nvSpPr>
            <p:spPr>
              <a:xfrm>
                <a:off x="623889" y="5155674"/>
                <a:ext cx="1364524" cy="816726"/>
              </a:xfrm>
              <a:prstGeom prst="rect">
                <a:avLst/>
              </a:prstGeom>
              <a:noFill/>
              <a:ln>
                <a:noFill/>
              </a:ln>
            </p:spPr>
            <p:txBody>
              <a:bodyPr/>
              <a:lstStyle/>
              <a:p>
                <a:pPr lvl="0">
                  <a:lnSpc>
                    <a:spcPct val="150000"/>
                  </a:lnSpc>
                  <a:buClrTx/>
                  <a:buSzTx/>
                  <a:defRPr sz="900" b="0">
                    <a:solidFill>
                      <a:srgbClr val="5E6978"/>
                    </a:solidFill>
                  </a:defRPr>
                </a:pPr>
                <a:r>
                  <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rPr>
                  <a:t>设计、采购、装机、运行与运维之间缺少统一数据链路</a:t>
                </a:r>
                <a:endParaRPr lang="zh-CN" altLang="en-US" sz="900" dirty="0">
                  <a:solidFill>
                    <a:schemeClr val="tx1">
                      <a:lumMod val="75000"/>
                      <a:lumOff val="25000"/>
                    </a:schemeClr>
                  </a:solidFill>
                  <a:latin typeface="+mn-ea"/>
                  <a:ea typeface="Noto Sans SC" panose="020B0200000000000000" charset="-122"/>
                  <a:cs typeface="OPPOSans M" panose="00020600040101010101" charset="-122"/>
                  <a:sym typeface="+mn-ea"/>
                </a:endParaRPr>
              </a:p>
            </p:txBody>
          </p:sp>
        </p:grpSp>
      </p:grpSp>
      <p:pic>
        <p:nvPicPr>
          <p:cNvPr id="3" name="图片 2"/>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a:xfrm>
            <a:off x="9235981" y="1444557"/>
            <a:ext cx="965336" cy="1714844"/>
          </a:xfrm>
          <a:prstGeom prst="rect">
            <a:avLst/>
          </a:prstGeom>
        </p:spPr>
      </p:pic>
      <p:pic>
        <p:nvPicPr>
          <p:cNvPr id="6" name="图片 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72827" y="1482267"/>
            <a:ext cx="1372731" cy="1687578"/>
          </a:xfrm>
          <a:prstGeom prst="rect">
            <a:avLst/>
          </a:prstGeom>
        </p:spPr>
      </p:pic>
      <p:pic>
        <p:nvPicPr>
          <p:cNvPr id="8" name="图片 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99498" y="1358199"/>
            <a:ext cx="1385599" cy="1809189"/>
          </a:xfrm>
          <a:prstGeom prst="rect">
            <a:avLst/>
          </a:prstGeom>
        </p:spPr>
      </p:pic>
      <p:pic>
        <p:nvPicPr>
          <p:cNvPr id="12" name="图片 11"/>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637364" y="1441468"/>
            <a:ext cx="1380496" cy="1747947"/>
          </a:xfrm>
          <a:prstGeom prst="rect">
            <a:avLst/>
          </a:prstGeom>
        </p:spPr>
      </p:pic>
      <p:pic>
        <p:nvPicPr>
          <p:cNvPr id="14" name="图片 1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430844" y="1441468"/>
            <a:ext cx="1398360" cy="1694893"/>
          </a:xfrm>
          <a:prstGeom prst="rect">
            <a:avLst/>
          </a:prstGeom>
        </p:spPr>
      </p:pic>
      <p:sp>
        <p:nvSpPr>
          <p:cNvPr id="17" name="矩形 16"/>
          <p:cNvSpPr/>
          <p:nvPr>
            <p:custDataLst>
              <p:tags r:id="rId20"/>
            </p:custDataLst>
          </p:nvPr>
        </p:nvSpPr>
        <p:spPr>
          <a:xfrm>
            <a:off x="872827" y="3292375"/>
            <a:ext cx="1372731" cy="304165"/>
          </a:xfrm>
          <a:prstGeom prst="rect">
            <a:avLst/>
          </a:prstGeom>
          <a:noFill/>
          <a:ln>
            <a:noFill/>
          </a:ln>
        </p:spPr>
        <p:txBody>
          <a:bodyPr/>
          <a:lstStyle/>
          <a:p>
            <a:pPr indent="0" algn="ctr" fontAlgn="auto">
              <a:lnSpc>
                <a:spcPct val="120000"/>
              </a:lnSpc>
              <a:buNone/>
              <a:defRPr sz="900" b="0">
                <a:solidFill>
                  <a:srgbClr val="5E6978"/>
                </a:solidFill>
              </a:defRPr>
            </a:pPr>
            <a:r>
              <a:rPr lang="en-US" altLang="zh-CN" sz="1000" dirty="0">
                <a:solidFill>
                  <a:srgbClr val="101315"/>
                </a:solidFill>
                <a:latin typeface="+mj-ea"/>
                <a:ea typeface="+mj-ea"/>
                <a:cs typeface="OPPOSans B" panose="00020600040101010101" charset="-122"/>
              </a:rPr>
              <a:t>A</a:t>
            </a:r>
            <a:r>
              <a:rPr lang="zh-CN" altLang="en-US" sz="1000" dirty="0">
                <a:solidFill>
                  <a:srgbClr val="101315"/>
                </a:solidFill>
                <a:latin typeface="+mj-ea"/>
                <a:ea typeface="+mj-ea"/>
                <a:cs typeface="OPPOSans B" panose="00020600040101010101" charset="-122"/>
              </a:rPr>
              <a:t>公司</a:t>
            </a:r>
            <a:endParaRPr lang="zh-CN" altLang="en-US" sz="1000" dirty="0">
              <a:solidFill>
                <a:srgbClr val="101315"/>
              </a:solidFill>
              <a:latin typeface="+mj-ea"/>
              <a:ea typeface="+mj-ea"/>
              <a:cs typeface="OPPOSans B" panose="00020600040101010101" charset="-122"/>
            </a:endParaRPr>
          </a:p>
        </p:txBody>
      </p:sp>
      <p:sp>
        <p:nvSpPr>
          <p:cNvPr id="20" name="矩形 19"/>
          <p:cNvSpPr/>
          <p:nvPr>
            <p:custDataLst>
              <p:tags r:id="rId21"/>
            </p:custDataLst>
          </p:nvPr>
        </p:nvSpPr>
        <p:spPr>
          <a:xfrm>
            <a:off x="2799498" y="3292375"/>
            <a:ext cx="1372731" cy="304165"/>
          </a:xfrm>
          <a:prstGeom prst="rect">
            <a:avLst/>
          </a:prstGeom>
          <a:noFill/>
          <a:ln>
            <a:noFill/>
          </a:ln>
        </p:spPr>
        <p:txBody>
          <a:bodyPr/>
          <a:lstStyle/>
          <a:p>
            <a:pPr indent="0" algn="ctr" fontAlgn="auto">
              <a:lnSpc>
                <a:spcPct val="120000"/>
              </a:lnSpc>
              <a:buNone/>
              <a:defRPr sz="900" b="0">
                <a:solidFill>
                  <a:srgbClr val="5E6978"/>
                </a:solidFill>
              </a:defRPr>
            </a:pPr>
            <a:r>
              <a:rPr lang="en-US" altLang="zh-CN" sz="1000" dirty="0">
                <a:solidFill>
                  <a:srgbClr val="101315"/>
                </a:solidFill>
                <a:latin typeface="+mj-ea"/>
                <a:ea typeface="+mj-ea"/>
                <a:cs typeface="OPPOSans B" panose="00020600040101010101" charset="-122"/>
              </a:rPr>
              <a:t>B</a:t>
            </a:r>
            <a:r>
              <a:rPr lang="zh-CN" altLang="en-US" sz="1000" dirty="0">
                <a:solidFill>
                  <a:srgbClr val="101315"/>
                </a:solidFill>
                <a:latin typeface="+mj-ea"/>
                <a:ea typeface="+mj-ea"/>
                <a:cs typeface="OPPOSans B" panose="00020600040101010101" charset="-122"/>
              </a:rPr>
              <a:t>公司</a:t>
            </a:r>
            <a:endParaRPr lang="zh-CN" altLang="en-US" sz="1000" dirty="0">
              <a:solidFill>
                <a:srgbClr val="101315"/>
              </a:solidFill>
              <a:latin typeface="+mj-ea"/>
              <a:ea typeface="+mj-ea"/>
              <a:cs typeface="OPPOSans B" panose="00020600040101010101" charset="-122"/>
            </a:endParaRPr>
          </a:p>
        </p:txBody>
      </p:sp>
      <p:sp>
        <p:nvSpPr>
          <p:cNvPr id="21" name="矩形 20"/>
          <p:cNvSpPr/>
          <p:nvPr>
            <p:custDataLst>
              <p:tags r:id="rId22"/>
            </p:custDataLst>
          </p:nvPr>
        </p:nvSpPr>
        <p:spPr>
          <a:xfrm>
            <a:off x="4645129" y="3292375"/>
            <a:ext cx="1372731" cy="304165"/>
          </a:xfrm>
          <a:prstGeom prst="rect">
            <a:avLst/>
          </a:prstGeom>
          <a:noFill/>
          <a:ln>
            <a:noFill/>
          </a:ln>
        </p:spPr>
        <p:txBody>
          <a:bodyPr/>
          <a:lstStyle/>
          <a:p>
            <a:pPr indent="0" algn="ctr" fontAlgn="auto">
              <a:lnSpc>
                <a:spcPct val="120000"/>
              </a:lnSpc>
              <a:buNone/>
              <a:defRPr sz="900" b="0">
                <a:solidFill>
                  <a:srgbClr val="5E6978"/>
                </a:solidFill>
              </a:defRPr>
            </a:pPr>
            <a:r>
              <a:rPr lang="en-US" altLang="zh-CN" sz="1000" dirty="0">
                <a:solidFill>
                  <a:srgbClr val="101315"/>
                </a:solidFill>
                <a:latin typeface="+mj-ea"/>
                <a:ea typeface="+mj-ea"/>
                <a:cs typeface="OPPOSans B" panose="00020600040101010101" charset="-122"/>
              </a:rPr>
              <a:t>C</a:t>
            </a:r>
            <a:r>
              <a:rPr lang="zh-CN" altLang="en-US" sz="1000" dirty="0">
                <a:solidFill>
                  <a:srgbClr val="101315"/>
                </a:solidFill>
                <a:latin typeface="+mj-ea"/>
                <a:ea typeface="+mj-ea"/>
                <a:cs typeface="OPPOSans B" panose="00020600040101010101" charset="-122"/>
              </a:rPr>
              <a:t>公司</a:t>
            </a:r>
            <a:endParaRPr lang="zh-CN" altLang="en-US" sz="1000" dirty="0">
              <a:solidFill>
                <a:srgbClr val="101315"/>
              </a:solidFill>
              <a:latin typeface="+mj-ea"/>
              <a:ea typeface="+mj-ea"/>
              <a:cs typeface="OPPOSans B" panose="00020600040101010101" charset="-122"/>
            </a:endParaRPr>
          </a:p>
        </p:txBody>
      </p:sp>
      <p:sp>
        <p:nvSpPr>
          <p:cNvPr id="22" name="右箭头 16"/>
          <p:cNvSpPr>
            <a:spLocks noChangeAspect="1"/>
          </p:cNvSpPr>
          <p:nvPr/>
        </p:nvSpPr>
        <p:spPr>
          <a:xfrm>
            <a:off x="6635271" y="2359376"/>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23" name="矩形 22"/>
          <p:cNvSpPr/>
          <p:nvPr>
            <p:custDataLst>
              <p:tags r:id="rId23"/>
            </p:custDataLst>
          </p:nvPr>
        </p:nvSpPr>
        <p:spPr>
          <a:xfrm>
            <a:off x="7657253" y="3292375"/>
            <a:ext cx="3397257" cy="304165"/>
          </a:xfrm>
          <a:prstGeom prst="rect">
            <a:avLst/>
          </a:prstGeom>
          <a:noFill/>
          <a:ln>
            <a:noFill/>
          </a:ln>
        </p:spPr>
        <p:txBody>
          <a:bodyPr/>
          <a:lstStyle/>
          <a:p>
            <a:pPr algn="ctr">
              <a:lnSpc>
                <a:spcPct val="120000"/>
              </a:lnSpc>
              <a:defRPr sz="900" b="0">
                <a:solidFill>
                  <a:srgbClr val="5E6978"/>
                </a:solidFill>
              </a:defRPr>
            </a:pPr>
            <a:r>
              <a:rPr lang="zh-CN" altLang="en-US" sz="1000" dirty="0">
                <a:solidFill>
                  <a:srgbClr val="C00000"/>
                </a:solidFill>
                <a:latin typeface="+mj-ea"/>
                <a:ea typeface="+mj-ea"/>
                <a:cs typeface="OPPOSans B" panose="00020600040101010101" charset="-122"/>
              </a:rPr>
              <a:t>体系闭源、标准不统一，行业尚未形成可共享的基础底座</a:t>
            </a:r>
            <a:endParaRPr lang="zh-CN" altLang="en-US" sz="1000" dirty="0">
              <a:solidFill>
                <a:srgbClr val="C00000"/>
              </a:solidFill>
              <a:latin typeface="+mj-ea"/>
              <a:ea typeface="+mj-ea"/>
              <a:cs typeface="OPPOSans B" panose="00020600040101010101" charset="-122"/>
            </a:endParaRPr>
          </a:p>
          <a:p>
            <a:pPr indent="0" algn="ctr" fontAlgn="auto">
              <a:lnSpc>
                <a:spcPct val="120000"/>
              </a:lnSpc>
              <a:buNone/>
              <a:defRPr sz="900" b="0">
                <a:solidFill>
                  <a:srgbClr val="5E6978"/>
                </a:solidFill>
              </a:defRPr>
            </a:pPr>
            <a:endParaRPr lang="zh-CN" altLang="en-US" sz="1000" dirty="0">
              <a:solidFill>
                <a:srgbClr val="C00000"/>
              </a:solidFill>
              <a:latin typeface="+mj-ea"/>
              <a:ea typeface="+mj-ea"/>
              <a:cs typeface="OPPOSans B" panose="00020600040101010101" charset="-122"/>
            </a:endParaRPr>
          </a:p>
        </p:txBody>
      </p:sp>
      <p:grpSp>
        <p:nvGrpSpPr>
          <p:cNvPr id="32" name="组合 31"/>
          <p:cNvGrpSpPr/>
          <p:nvPr/>
        </p:nvGrpSpPr>
        <p:grpSpPr>
          <a:xfrm>
            <a:off x="10737077" y="1592639"/>
            <a:ext cx="831036" cy="1555238"/>
            <a:chOff x="10624386" y="1640686"/>
            <a:chExt cx="831036" cy="1555238"/>
          </a:xfrm>
        </p:grpSpPr>
        <p:grpSp>
          <p:nvGrpSpPr>
            <p:cNvPr id="31" name="组合 30"/>
            <p:cNvGrpSpPr/>
            <p:nvPr/>
          </p:nvGrpSpPr>
          <p:grpSpPr>
            <a:xfrm>
              <a:off x="10624386" y="1640686"/>
              <a:ext cx="831036" cy="1320804"/>
              <a:chOff x="10624386" y="1640686"/>
              <a:chExt cx="831036" cy="1320804"/>
            </a:xfrm>
          </p:grpSpPr>
          <p:grpSp>
            <p:nvGrpSpPr>
              <p:cNvPr id="194" name="组合 193"/>
              <p:cNvGrpSpPr/>
              <p:nvPr/>
            </p:nvGrpSpPr>
            <p:grpSpPr>
              <a:xfrm>
                <a:off x="10911657" y="1640686"/>
                <a:ext cx="183968" cy="183968"/>
                <a:chOff x="4835698" y="2828215"/>
                <a:chExt cx="187940" cy="187940"/>
              </a:xfrm>
            </p:grpSpPr>
            <p:sp>
              <p:nvSpPr>
                <p:cNvPr id="192" name="椭圆 191"/>
                <p:cNvSpPr/>
                <p:nvPr/>
              </p:nvSpPr>
              <p:spPr>
                <a:xfrm>
                  <a:off x="4835698" y="2828215"/>
                  <a:ext cx="187940" cy="1879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十字形 192"/>
                <p:cNvSpPr/>
                <p:nvPr/>
              </p:nvSpPr>
              <p:spPr>
                <a:xfrm rot="2700000">
                  <a:off x="4865824" y="2858341"/>
                  <a:ext cx="127689" cy="127689"/>
                </a:xfrm>
                <a:prstGeom prst="plus">
                  <a:avLst>
                    <a:gd name="adj" fmla="val 420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4" name="组合 203"/>
              <p:cNvGrpSpPr/>
              <p:nvPr/>
            </p:nvGrpSpPr>
            <p:grpSpPr>
              <a:xfrm>
                <a:off x="10911657" y="2208770"/>
                <a:ext cx="183968" cy="183968"/>
                <a:chOff x="4835698" y="2828215"/>
                <a:chExt cx="187940" cy="187940"/>
              </a:xfrm>
            </p:grpSpPr>
            <p:sp>
              <p:nvSpPr>
                <p:cNvPr id="205" name="椭圆 204"/>
                <p:cNvSpPr/>
                <p:nvPr/>
              </p:nvSpPr>
              <p:spPr>
                <a:xfrm>
                  <a:off x="4835698" y="2828215"/>
                  <a:ext cx="187940" cy="1879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十字形 205"/>
                <p:cNvSpPr/>
                <p:nvPr/>
              </p:nvSpPr>
              <p:spPr>
                <a:xfrm rot="2700000">
                  <a:off x="4865824" y="2858341"/>
                  <a:ext cx="127689" cy="127689"/>
                </a:xfrm>
                <a:prstGeom prst="plus">
                  <a:avLst>
                    <a:gd name="adj" fmla="val 420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7" name="组合 206"/>
              <p:cNvGrpSpPr/>
              <p:nvPr/>
            </p:nvGrpSpPr>
            <p:grpSpPr>
              <a:xfrm>
                <a:off x="10911657" y="2777522"/>
                <a:ext cx="183968" cy="183968"/>
                <a:chOff x="4835698" y="2828215"/>
                <a:chExt cx="187940" cy="187940"/>
              </a:xfrm>
            </p:grpSpPr>
            <p:sp>
              <p:nvSpPr>
                <p:cNvPr id="208" name="椭圆 207"/>
                <p:cNvSpPr/>
                <p:nvPr/>
              </p:nvSpPr>
              <p:spPr>
                <a:xfrm>
                  <a:off x="4835698" y="2828215"/>
                  <a:ext cx="187940" cy="1879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十字形 208"/>
                <p:cNvSpPr/>
                <p:nvPr/>
              </p:nvSpPr>
              <p:spPr>
                <a:xfrm rot="2700000">
                  <a:off x="4865824" y="2858341"/>
                  <a:ext cx="127689" cy="127689"/>
                </a:xfrm>
                <a:prstGeom prst="plus">
                  <a:avLst>
                    <a:gd name="adj" fmla="val 420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0624386" y="1853091"/>
                <a:ext cx="831036" cy="507831"/>
              </a:xfrm>
              <a:prstGeom prst="rect">
                <a:avLst/>
              </a:prstGeom>
              <a:noFill/>
            </p:spPr>
            <p:txBody>
              <a:bodyPr wrap="square" rtlCol="0">
                <a:spAutoFit/>
              </a:bodyPr>
              <a:lstStyle/>
              <a:p>
                <a:r>
                  <a:rPr lang="zh-CN" altLang="en-US" sz="900" dirty="0">
                    <a:latin typeface="+mj-ea"/>
                    <a:ea typeface="+mj-ea"/>
                  </a:rPr>
                  <a:t>接口不统一 </a:t>
                </a:r>
                <a:endParaRPr lang="en-US" altLang="zh-CN" sz="900" dirty="0">
                  <a:latin typeface="+mj-ea"/>
                  <a:ea typeface="+mj-ea"/>
                </a:endParaRPr>
              </a:p>
              <a:p>
                <a:endParaRPr lang="zh-CN" altLang="en-US" dirty="0"/>
              </a:p>
            </p:txBody>
          </p:sp>
          <p:sp>
            <p:nvSpPr>
              <p:cNvPr id="28" name="文本框 27"/>
              <p:cNvSpPr txBox="1"/>
              <p:nvPr/>
            </p:nvSpPr>
            <p:spPr>
              <a:xfrm>
                <a:off x="10624386" y="2425279"/>
                <a:ext cx="831036" cy="507831"/>
              </a:xfrm>
              <a:prstGeom prst="rect">
                <a:avLst/>
              </a:prstGeom>
              <a:noFill/>
            </p:spPr>
            <p:txBody>
              <a:bodyPr wrap="square" rtlCol="0">
                <a:spAutoFit/>
              </a:bodyPr>
              <a:lstStyle/>
              <a:p>
                <a:r>
                  <a:rPr lang="zh-CN" altLang="en-US" sz="900" dirty="0">
                    <a:latin typeface="+mj-ea"/>
                    <a:ea typeface="+mj-ea"/>
                  </a:rPr>
                  <a:t>能力不复用</a:t>
                </a:r>
                <a:endParaRPr lang="en-US" altLang="zh-CN" sz="900" dirty="0">
                  <a:latin typeface="+mj-ea"/>
                  <a:ea typeface="+mj-ea"/>
                </a:endParaRPr>
              </a:p>
              <a:p>
                <a:endParaRPr lang="zh-CN" altLang="en-US" dirty="0"/>
              </a:p>
            </p:txBody>
          </p:sp>
        </p:grpSp>
        <p:sp>
          <p:nvSpPr>
            <p:cNvPr id="29" name="文本框 28"/>
            <p:cNvSpPr txBox="1"/>
            <p:nvPr/>
          </p:nvSpPr>
          <p:spPr>
            <a:xfrm>
              <a:off x="10624386" y="2965092"/>
              <a:ext cx="831036" cy="230832"/>
            </a:xfrm>
            <a:prstGeom prst="rect">
              <a:avLst/>
            </a:prstGeom>
            <a:noFill/>
          </p:spPr>
          <p:txBody>
            <a:bodyPr wrap="square" rtlCol="0">
              <a:spAutoFit/>
            </a:bodyPr>
            <a:lstStyle/>
            <a:p>
              <a:r>
                <a:rPr lang="zh-CN" altLang="en-US" sz="900" dirty="0">
                  <a:latin typeface="+mj-ea"/>
                  <a:ea typeface="+mj-ea"/>
                </a:rPr>
                <a:t>生态不互通</a:t>
              </a:r>
              <a:endParaRPr lang="zh-CN" altLang="en-US" sz="900" dirty="0">
                <a:latin typeface="+mj-ea"/>
                <a:ea typeface="+mj-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28700"/>
            <a:ext cx="11664950" cy="4175646"/>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顶角 3"/>
          <p:cNvSpPr/>
          <p:nvPr/>
        </p:nvSpPr>
        <p:spPr>
          <a:xfrm>
            <a:off x="520337" y="1383134"/>
            <a:ext cx="484181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通过标准硬件、基础系统、开发工具和开放生态，把整机项目转变为平台化造机</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2" name="矩形: 圆顶角 1"/>
          <p:cNvSpPr/>
          <p:nvPr/>
        </p:nvSpPr>
        <p:spPr>
          <a:xfrm flipV="1">
            <a:off x="520337" y="1735551"/>
            <a:ext cx="4841813" cy="3216509"/>
          </a:xfrm>
          <a:prstGeom prst="round2SameRect">
            <a:avLst>
              <a:gd name="adj1" fmla="val 4308"/>
              <a:gd name="adj2" fmla="val 0"/>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让工业智能设备从“重复开发”变为“标准组装”</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6" name="function-model-title"/>
          <p:cNvSpPr>
            <a:spLocks noGrp="1"/>
          </p:cNvSpPr>
          <p:nvPr/>
        </p:nvSpPr>
        <p:spPr>
          <a:xfrm>
            <a:off x="652940" y="1385402"/>
            <a:ext cx="2245179" cy="352424"/>
          </a:xfrm>
          <a:prstGeom prst="rect">
            <a:avLst/>
          </a:prstGeom>
          <a:noFill/>
          <a:ln w="0">
            <a:noFill/>
            <a:prstDash val="solid"/>
          </a:ln>
        </p:spPr>
        <p:txBody>
          <a:bodyPr anchor="ctr"/>
          <a:lstStyle/>
          <a:p>
            <a:pPr lvl="0" algn="l">
              <a:buClrTx/>
              <a:buSzTx/>
              <a:buFontTx/>
              <a:defRPr sz="1500" b="1">
                <a:solidFill>
                  <a:srgbClr val="111827"/>
                </a:solidFill>
              </a:defRPr>
            </a:pPr>
            <a:r>
              <a:rPr lang="zh-CN" altLang="en-US" sz="1100" b="0" dirty="0">
                <a:latin typeface="OPPOSans M" panose="00020600040101010101" charset="-122"/>
                <a:ea typeface="OPPOSans M" panose="00020600040101010101" charset="-122"/>
                <a:cs typeface="OPPOSans B" panose="00020600040101010101" charset="-122"/>
                <a:sym typeface="+mn-ea"/>
              </a:rPr>
              <a:t>组装电脑</a:t>
            </a:r>
            <a:endParaRPr lang="zh-CN" altLang="en-US" sz="1100" b="0" dirty="0">
              <a:solidFill>
                <a:srgbClr val="111827"/>
              </a:solidFill>
              <a:latin typeface="OPPOSans M" panose="00020600040101010101" charset="-122"/>
              <a:ea typeface="OPPOSans M" panose="00020600040101010101" charset="-122"/>
              <a:cs typeface="OPPOSans B" panose="00020600040101010101" charset="-122"/>
              <a:sym typeface="+mn-ea"/>
            </a:endParaRPr>
          </a:p>
        </p:txBody>
      </p:sp>
      <p:grpSp>
        <p:nvGrpSpPr>
          <p:cNvPr id="8" name="组合 7"/>
          <p:cNvGrpSpPr/>
          <p:nvPr/>
        </p:nvGrpSpPr>
        <p:grpSpPr>
          <a:xfrm>
            <a:off x="4699974" y="1502375"/>
            <a:ext cx="476057" cy="113943"/>
            <a:chOff x="5298623" y="1396154"/>
            <a:chExt cx="507580" cy="121488"/>
          </a:xfrm>
        </p:grpSpPr>
        <p:sp>
          <p:nvSpPr>
            <p:cNvPr id="9" name="椭圆 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圆顶角 25"/>
          <p:cNvSpPr/>
          <p:nvPr/>
        </p:nvSpPr>
        <p:spPr>
          <a:xfrm>
            <a:off x="5926398" y="1383134"/>
            <a:ext cx="5765183" cy="352425"/>
          </a:xfrm>
          <a:prstGeom prst="round2SameRect">
            <a:avLst>
              <a:gd name="adj1" fmla="val 36730"/>
              <a:gd name="adj2" fmla="val 0"/>
            </a:avLst>
          </a:prstGeom>
          <a:solidFill>
            <a:srgbClr val="C00000"/>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3" name="矩形: 圆顶角 2"/>
          <p:cNvSpPr/>
          <p:nvPr/>
        </p:nvSpPr>
        <p:spPr>
          <a:xfrm flipV="1">
            <a:off x="5926398" y="1735549"/>
            <a:ext cx="5765184" cy="3216509"/>
          </a:xfrm>
          <a:prstGeom prst="round2SameRect">
            <a:avLst>
              <a:gd name="adj1" fmla="val 4308"/>
              <a:gd name="adj2" fmla="val 0"/>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grpSp>
        <p:nvGrpSpPr>
          <p:cNvPr id="29" name="组合 28"/>
          <p:cNvGrpSpPr/>
          <p:nvPr/>
        </p:nvGrpSpPr>
        <p:grpSpPr>
          <a:xfrm>
            <a:off x="11078043" y="1502375"/>
            <a:ext cx="476057" cy="113943"/>
            <a:chOff x="5298623" y="1396154"/>
            <a:chExt cx="507580" cy="121488"/>
          </a:xfrm>
        </p:grpSpPr>
        <p:sp>
          <p:nvSpPr>
            <p:cNvPr id="30" name="椭圆 29"/>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2" name="组合 331"/>
          <p:cNvGrpSpPr/>
          <p:nvPr/>
        </p:nvGrpSpPr>
        <p:grpSpPr>
          <a:xfrm>
            <a:off x="263525" y="5404275"/>
            <a:ext cx="2683283" cy="938006"/>
            <a:chOff x="263525" y="5306301"/>
            <a:chExt cx="2683283" cy="938006"/>
          </a:xfrm>
        </p:grpSpPr>
        <p:sp>
          <p:nvSpPr>
            <p:cNvPr id="12" name="矩形: 圆角 11"/>
            <p:cNvSpPr/>
            <p:nvPr/>
          </p:nvSpPr>
          <p:spPr>
            <a:xfrm>
              <a:off x="263525" y="5306301"/>
              <a:ext cx="2683283" cy="938006"/>
            </a:xfrm>
            <a:prstGeom prst="roundRect">
              <a:avLst>
                <a:gd name="adj" fmla="val 1279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1"/>
              </p:custDataLst>
            </p:nvPr>
          </p:nvSpPr>
          <p:spPr>
            <a:xfrm>
              <a:off x="263526" y="5388964"/>
              <a:ext cx="2683282" cy="304165"/>
            </a:xfrm>
            <a:prstGeom prst="rect">
              <a:avLst/>
            </a:prstGeom>
            <a:noFill/>
            <a:ln>
              <a:noFill/>
            </a:ln>
          </p:spPr>
          <p:txBody>
            <a:bodyPr/>
            <a:lstStyle/>
            <a:p>
              <a:pPr indent="0" algn="ctr" fontAlgn="auto">
                <a:lnSpc>
                  <a:spcPct val="120000"/>
                </a:lnSpc>
                <a:buNone/>
                <a:defRPr sz="900" b="0">
                  <a:solidFill>
                    <a:srgbClr val="5E6978"/>
                  </a:solidFill>
                </a:defRPr>
              </a:pPr>
              <a:r>
                <a:rPr lang="zh-CN" altLang="en-US" sz="1200" dirty="0">
                  <a:solidFill>
                    <a:srgbClr val="111827"/>
                  </a:solidFill>
                  <a:latin typeface="+mj-ea"/>
                  <a:ea typeface="+mj-ea"/>
                  <a:cs typeface="OPPOSans B" panose="00020600040101010101" charset="-122"/>
                </a:rPr>
                <a:t>模块化硬件｜标准物理载体</a:t>
              </a:r>
              <a:endParaRPr lang="zh-CN" altLang="en-US" sz="1200" dirty="0">
                <a:solidFill>
                  <a:srgbClr val="111827"/>
                </a:solidFill>
                <a:latin typeface="+mj-ea"/>
                <a:ea typeface="+mj-ea"/>
                <a:cs typeface="OPPOSans B" panose="00020600040101010101" charset="-122"/>
              </a:endParaRPr>
            </a:p>
          </p:txBody>
        </p:sp>
        <p:sp>
          <p:nvSpPr>
            <p:cNvPr id="14" name="矩形 13"/>
            <p:cNvSpPr/>
            <p:nvPr>
              <p:custDataLst>
                <p:tags r:id="rId2"/>
              </p:custDataLst>
            </p:nvPr>
          </p:nvSpPr>
          <p:spPr>
            <a:xfrm>
              <a:off x="348344" y="5693129"/>
              <a:ext cx="2518431" cy="500842"/>
            </a:xfrm>
            <a:prstGeom prst="rect">
              <a:avLst/>
            </a:prstGeom>
            <a:noFill/>
            <a:ln>
              <a:noFill/>
            </a:ln>
          </p:spPr>
          <p:txBody>
            <a:bodyPr/>
            <a:lstStyle/>
            <a:p>
              <a:pPr indent="0" algn="l" fontAlgn="auto">
                <a:lnSpc>
                  <a:spcPct val="150000"/>
                </a:lnSpc>
                <a:buNone/>
                <a:defRPr sz="900" b="0">
                  <a:solidFill>
                    <a:srgbClr val="5E6978"/>
                  </a:solidFill>
                </a:defRPr>
              </a:pPr>
              <a:r>
                <a:rPr lang="zh-CN" altLang="en-US" sz="800" dirty="0">
                  <a:solidFill>
                    <a:schemeClr val="tx1">
                      <a:lumMod val="75000"/>
                      <a:lumOff val="25000"/>
                    </a:schemeClr>
                  </a:solidFill>
                  <a:latin typeface="+mn-ea"/>
                  <a:ea typeface="Noto Sans SC" panose="020B0200000000000000" charset="-122"/>
                  <a:cs typeface="OPPOSans M" panose="00020600040101010101" charset="-122"/>
                </a:rPr>
                <a:t>沉淀机械、电气、通信与数据接口标准，提供可组合、可验证、可采购的设备模块</a:t>
              </a:r>
              <a:endParaRPr lang="zh-CN" altLang="en-US" sz="800" dirty="0">
                <a:solidFill>
                  <a:schemeClr val="tx1">
                    <a:lumMod val="75000"/>
                    <a:lumOff val="25000"/>
                  </a:schemeClr>
                </a:solidFill>
                <a:latin typeface="+mn-ea"/>
                <a:ea typeface="Noto Sans SC" panose="020B0200000000000000" charset="-122"/>
                <a:cs typeface="OPPOSans M" panose="00020600040101010101" charset="-122"/>
              </a:endParaRPr>
            </a:p>
          </p:txBody>
        </p:sp>
      </p:grpSp>
      <p:sp>
        <p:nvSpPr>
          <p:cNvPr id="60" name="右箭头 16"/>
          <p:cNvSpPr>
            <a:spLocks noChangeAspect="1"/>
          </p:cNvSpPr>
          <p:nvPr/>
        </p:nvSpPr>
        <p:spPr>
          <a:xfrm>
            <a:off x="5535270" y="1944580"/>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264" name="矩形: 圆角 263"/>
          <p:cNvSpPr/>
          <p:nvPr/>
        </p:nvSpPr>
        <p:spPr>
          <a:xfrm>
            <a:off x="10856529" y="1965391"/>
            <a:ext cx="694872" cy="200055"/>
          </a:xfrm>
          <a:prstGeom prst="roundRect">
            <a:avLst>
              <a:gd name="adj" fmla="val 50000"/>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圆角 269"/>
          <p:cNvSpPr/>
          <p:nvPr/>
        </p:nvSpPr>
        <p:spPr>
          <a:xfrm>
            <a:off x="10856529" y="3391258"/>
            <a:ext cx="694872" cy="200055"/>
          </a:xfrm>
          <a:prstGeom prst="roundRect">
            <a:avLst>
              <a:gd name="adj" fmla="val 50000"/>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矩形: 圆角 275"/>
          <p:cNvSpPr/>
          <p:nvPr/>
        </p:nvSpPr>
        <p:spPr>
          <a:xfrm>
            <a:off x="10856529" y="3979479"/>
            <a:ext cx="694872" cy="200055"/>
          </a:xfrm>
          <a:prstGeom prst="roundRect">
            <a:avLst>
              <a:gd name="adj" fmla="val 50000"/>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2" name="矩形: 圆角 281"/>
          <p:cNvSpPr/>
          <p:nvPr/>
        </p:nvSpPr>
        <p:spPr>
          <a:xfrm>
            <a:off x="10856529" y="4567700"/>
            <a:ext cx="694872" cy="200055"/>
          </a:xfrm>
          <a:prstGeom prst="roundRect">
            <a:avLst>
              <a:gd name="adj" fmla="val 50000"/>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5" name="组合 194"/>
          <p:cNvGrpSpPr/>
          <p:nvPr/>
        </p:nvGrpSpPr>
        <p:grpSpPr>
          <a:xfrm>
            <a:off x="3469089" y="1917478"/>
            <a:ext cx="1192983" cy="430304"/>
            <a:chOff x="3469089" y="1797734"/>
            <a:chExt cx="1192983" cy="430304"/>
          </a:xfrm>
        </p:grpSpPr>
        <p:sp>
          <p:nvSpPr>
            <p:cNvPr id="193" name="textbox 202"/>
            <p:cNvSpPr/>
            <p:nvPr/>
          </p:nvSpPr>
          <p:spPr>
            <a:xfrm>
              <a:off x="3469089" y="1797734"/>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000000">
                      <a:alpha val="100000"/>
                    </a:srgbClr>
                  </a:solidFill>
                  <a:latin typeface="+mj-lt"/>
                  <a:ea typeface="OPPOSans M" panose="00020600040101010101" charset="-122"/>
                  <a:cs typeface="OPPOSans R" panose="00020600040101010101" pitchFamily="18" charset="-122"/>
                </a:rPr>
                <a:t>标准部件</a:t>
              </a:r>
              <a:endParaRPr lang="zh-CN" altLang="en-US" sz="1000" dirty="0">
                <a:latin typeface="+mj-lt"/>
                <a:ea typeface="Arial" panose="020B0604020202020204"/>
                <a:cs typeface="Arial" panose="020B0604020202020204"/>
              </a:endParaRPr>
            </a:p>
          </p:txBody>
        </p:sp>
        <p:sp>
          <p:nvSpPr>
            <p:cNvPr id="194" name="textbox 202"/>
            <p:cNvSpPr/>
            <p:nvPr/>
          </p:nvSpPr>
          <p:spPr>
            <a:xfrm>
              <a:off x="3469089" y="1980776"/>
              <a:ext cx="1192983" cy="247262"/>
            </a:xfrm>
            <a:prstGeom prst="rect">
              <a:avLst/>
            </a:prstGeom>
            <a:noFill/>
            <a:ln w="0" cap="flat">
              <a:noFill/>
              <a:prstDash val="solid"/>
              <a:miter lim="0"/>
            </a:ln>
          </p:spPr>
          <p:txBody>
            <a:bodyPr vert="horz" wrap="square" lIns="0" tIns="0" rIns="0" bIns="0"/>
            <a:lstStyle/>
            <a:p>
              <a:pPr marL="14605" eaLnBrk="0">
                <a:lnSpc>
                  <a:spcPct val="87000"/>
                </a:lnSpc>
              </a:pPr>
              <a:r>
                <a:rPr lang="en-US" altLang="zh-CN" sz="800" kern="0" spc="-23" dirty="0">
                  <a:solidFill>
                    <a:srgbClr val="3E3A39">
                      <a:alpha val="100000"/>
                    </a:srgbClr>
                  </a:solidFill>
                  <a:cs typeface="OPPOSans R" panose="00020600040101010101" pitchFamily="18" charset="-122"/>
                </a:rPr>
                <a:t>CPU</a:t>
              </a:r>
              <a:r>
                <a:rPr lang="zh-CN" altLang="en-US" sz="800" kern="0" spc="-23" dirty="0">
                  <a:solidFill>
                    <a:srgbClr val="3E3A39">
                      <a:alpha val="100000"/>
                    </a:srgbClr>
                  </a:solidFill>
                  <a:cs typeface="OPPOSans R" panose="00020600040101010101" pitchFamily="18" charset="-122"/>
                </a:rPr>
                <a:t>、内存、硬盘、显卡</a:t>
              </a:r>
              <a:endParaRPr lang="zh-CN" altLang="en-US" sz="800" kern="0" spc="-23" dirty="0">
                <a:solidFill>
                  <a:srgbClr val="3E3A39">
                    <a:alpha val="100000"/>
                  </a:srgbClr>
                </a:solidFill>
                <a:cs typeface="OPPOSans R" panose="00020600040101010101" pitchFamily="18" charset="-122"/>
              </a:endParaRPr>
            </a:p>
          </p:txBody>
        </p:sp>
      </p:grpSp>
      <p:grpSp>
        <p:nvGrpSpPr>
          <p:cNvPr id="215" name="组合 214"/>
          <p:cNvGrpSpPr/>
          <p:nvPr/>
        </p:nvGrpSpPr>
        <p:grpSpPr>
          <a:xfrm>
            <a:off x="3489007" y="3329772"/>
            <a:ext cx="1192983" cy="354331"/>
            <a:chOff x="3469088" y="3199142"/>
            <a:chExt cx="1192983" cy="354331"/>
          </a:xfrm>
        </p:grpSpPr>
        <p:sp>
          <p:nvSpPr>
            <p:cNvPr id="197" name="textbox 202"/>
            <p:cNvSpPr/>
            <p:nvPr/>
          </p:nvSpPr>
          <p:spPr>
            <a:xfrm>
              <a:off x="3469088"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000000">
                      <a:alpha val="100000"/>
                    </a:srgbClr>
                  </a:solidFill>
                  <a:latin typeface="+mj-lt"/>
                  <a:ea typeface="OPPOSans M" panose="00020600040101010101" charset="-122"/>
                  <a:cs typeface="OPPOSans R" panose="00020600040101010101" pitchFamily="18" charset="-122"/>
                </a:rPr>
                <a:t>标准接口</a:t>
              </a:r>
              <a:endParaRPr lang="zh-CN" altLang="en-US" sz="1000" dirty="0">
                <a:latin typeface="+mj-lt"/>
                <a:ea typeface="Arial" panose="020B0604020202020204"/>
                <a:cs typeface="Arial" panose="020B0604020202020204"/>
              </a:endParaRPr>
            </a:p>
          </p:txBody>
        </p:sp>
        <p:sp>
          <p:nvSpPr>
            <p:cNvPr id="198" name="textbox 202"/>
            <p:cNvSpPr/>
            <p:nvPr/>
          </p:nvSpPr>
          <p:spPr>
            <a:xfrm>
              <a:off x="3469088" y="3393070"/>
              <a:ext cx="1192983" cy="160403"/>
            </a:xfrm>
            <a:prstGeom prst="rect">
              <a:avLst/>
            </a:prstGeom>
            <a:noFill/>
            <a:ln w="0" cap="flat">
              <a:noFill/>
              <a:prstDash val="solid"/>
              <a:miter lim="0"/>
            </a:ln>
          </p:spPr>
          <p:txBody>
            <a:bodyPr vert="horz" wrap="square" lIns="0" tIns="0" rIns="0" bIns="0"/>
            <a:lstStyle/>
            <a:p>
              <a:pPr marL="14605" eaLnBrk="0">
                <a:lnSpc>
                  <a:spcPct val="87000"/>
                </a:lnSpc>
              </a:pPr>
              <a:r>
                <a:rPr lang="en-US" altLang="zh-CN" sz="800" kern="0" spc="-23" dirty="0" err="1">
                  <a:solidFill>
                    <a:srgbClr val="3E3A39">
                      <a:alpha val="100000"/>
                    </a:srgbClr>
                  </a:solidFill>
                  <a:cs typeface="OPPOSans R" panose="00020600040101010101" pitchFamily="18" charset="-122"/>
                </a:rPr>
                <a:t>PCle</a:t>
              </a:r>
              <a:r>
                <a:rPr lang="zh-CN" altLang="en-US" sz="800" kern="0" spc="-23" dirty="0">
                  <a:solidFill>
                    <a:srgbClr val="3E3A39">
                      <a:alpha val="100000"/>
                    </a:srgbClr>
                  </a:solidFill>
                  <a:cs typeface="OPPOSans R" panose="00020600040101010101" pitchFamily="18" charset="-122"/>
                </a:rPr>
                <a:t>、 </a:t>
              </a:r>
              <a:r>
                <a:rPr lang="en-US" altLang="zh-CN" sz="800" kern="0" spc="-23" dirty="0">
                  <a:solidFill>
                    <a:srgbClr val="3E3A39">
                      <a:alpha val="100000"/>
                    </a:srgbClr>
                  </a:solidFill>
                  <a:cs typeface="OPPOSans R" panose="00020600040101010101" pitchFamily="18" charset="-122"/>
                </a:rPr>
                <a:t>USB</a:t>
              </a:r>
              <a:r>
                <a:rPr lang="zh-CN" altLang="en-US" sz="800" kern="0" spc="-23" dirty="0">
                  <a:solidFill>
                    <a:srgbClr val="3E3A39">
                      <a:alpha val="100000"/>
                    </a:srgbClr>
                  </a:solidFill>
                  <a:cs typeface="OPPOSans R" panose="00020600040101010101" pitchFamily="18" charset="-122"/>
                </a:rPr>
                <a:t>、 </a:t>
              </a:r>
              <a:r>
                <a:rPr lang="en-US" altLang="zh-CN" sz="800" kern="0" spc="-23" dirty="0">
                  <a:solidFill>
                    <a:srgbClr val="3E3A39">
                      <a:alpha val="100000"/>
                    </a:srgbClr>
                  </a:solidFill>
                  <a:cs typeface="OPPOSans R" panose="00020600040101010101" pitchFamily="18" charset="-122"/>
                </a:rPr>
                <a:t>SATA</a:t>
              </a:r>
              <a:endParaRPr lang="zh-CN" altLang="en-US" sz="800" kern="0" spc="-23" dirty="0">
                <a:solidFill>
                  <a:srgbClr val="3E3A39">
                    <a:alpha val="100000"/>
                  </a:srgbClr>
                </a:solidFill>
                <a:cs typeface="OPPOSans R" panose="00020600040101010101" pitchFamily="18" charset="-122"/>
              </a:endParaRPr>
            </a:p>
          </p:txBody>
        </p:sp>
      </p:grpSp>
      <p:grpSp>
        <p:nvGrpSpPr>
          <p:cNvPr id="219" name="组合 218"/>
          <p:cNvGrpSpPr/>
          <p:nvPr/>
        </p:nvGrpSpPr>
        <p:grpSpPr>
          <a:xfrm>
            <a:off x="3489007" y="3933929"/>
            <a:ext cx="1192983" cy="354331"/>
            <a:chOff x="3469088" y="3199142"/>
            <a:chExt cx="1192983" cy="354331"/>
          </a:xfrm>
        </p:grpSpPr>
        <p:sp>
          <p:nvSpPr>
            <p:cNvPr id="220" name="textbox 202"/>
            <p:cNvSpPr/>
            <p:nvPr/>
          </p:nvSpPr>
          <p:spPr>
            <a:xfrm>
              <a:off x="3469088"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000000">
                      <a:alpha val="100000"/>
                    </a:srgbClr>
                  </a:solidFill>
                  <a:latin typeface="+mj-lt"/>
                  <a:ea typeface="OPPOSans M" panose="00020600040101010101" charset="-122"/>
                  <a:cs typeface="OPPOSans R" panose="00020600040101010101" pitchFamily="18" charset="-122"/>
                </a:rPr>
                <a:t>基础系统</a:t>
              </a:r>
              <a:endParaRPr lang="en-US" altLang="zh-CN" sz="1000" kern="0" spc="-11" dirty="0">
                <a:solidFill>
                  <a:srgbClr val="000000">
                    <a:alpha val="100000"/>
                  </a:srgbClr>
                </a:solidFill>
                <a:latin typeface="+mj-lt"/>
                <a:ea typeface="OPPOSans M" panose="00020600040101010101" charset="-122"/>
                <a:cs typeface="OPPOSans R" panose="00020600040101010101" pitchFamily="18" charset="-122"/>
              </a:endParaRPr>
            </a:p>
          </p:txBody>
        </p:sp>
        <p:sp>
          <p:nvSpPr>
            <p:cNvPr id="222" name="textbox 202"/>
            <p:cNvSpPr/>
            <p:nvPr/>
          </p:nvSpPr>
          <p:spPr>
            <a:xfrm>
              <a:off x="3469088" y="3393070"/>
              <a:ext cx="1192983" cy="160403"/>
            </a:xfrm>
            <a:prstGeom prst="rect">
              <a:avLst/>
            </a:prstGeom>
            <a:noFill/>
            <a:ln w="0" cap="flat">
              <a:noFill/>
              <a:prstDash val="solid"/>
              <a:miter lim="0"/>
            </a:ln>
          </p:spPr>
          <p:txBody>
            <a:bodyPr vert="horz" wrap="square" lIns="0" tIns="0" rIns="0" bIns="0"/>
            <a:lstStyle/>
            <a:p>
              <a:pPr marL="14605" eaLnBrk="0">
                <a:lnSpc>
                  <a:spcPct val="87000"/>
                </a:lnSpc>
              </a:pPr>
              <a:r>
                <a:rPr lang="en-US" altLang="zh-CN" sz="800" kern="0" spc="-23" dirty="0">
                  <a:solidFill>
                    <a:srgbClr val="3E3A39">
                      <a:alpha val="100000"/>
                    </a:srgbClr>
                  </a:solidFill>
                  <a:cs typeface="OPPOSans R" panose="00020600040101010101" pitchFamily="18" charset="-122"/>
                </a:rPr>
                <a:t>Windows</a:t>
              </a:r>
              <a:endParaRPr lang="zh-CN" altLang="en-US" sz="800" kern="0" spc="-23" dirty="0">
                <a:solidFill>
                  <a:srgbClr val="3E3A39">
                    <a:alpha val="100000"/>
                  </a:srgbClr>
                </a:solidFill>
                <a:cs typeface="OPPOSans R" panose="00020600040101010101" pitchFamily="18" charset="-122"/>
              </a:endParaRPr>
            </a:p>
          </p:txBody>
        </p:sp>
      </p:grpSp>
      <p:grpSp>
        <p:nvGrpSpPr>
          <p:cNvPr id="225" name="组合 224"/>
          <p:cNvGrpSpPr/>
          <p:nvPr/>
        </p:nvGrpSpPr>
        <p:grpSpPr>
          <a:xfrm>
            <a:off x="3489007" y="4538086"/>
            <a:ext cx="1192983" cy="354331"/>
            <a:chOff x="3469088" y="3199142"/>
            <a:chExt cx="1192983" cy="354331"/>
          </a:xfrm>
        </p:grpSpPr>
        <p:sp>
          <p:nvSpPr>
            <p:cNvPr id="226" name="textbox 202"/>
            <p:cNvSpPr/>
            <p:nvPr/>
          </p:nvSpPr>
          <p:spPr>
            <a:xfrm>
              <a:off x="3469088"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000000">
                      <a:alpha val="100000"/>
                    </a:srgbClr>
                  </a:solidFill>
                  <a:latin typeface="+mj-lt"/>
                  <a:ea typeface="OPPOSans M" panose="00020600040101010101" charset="-122"/>
                  <a:cs typeface="OPPOSans R" panose="00020600040101010101" pitchFamily="18" charset="-122"/>
                </a:rPr>
                <a:t>应用生态</a:t>
              </a:r>
              <a:endParaRPr lang="zh-CN" altLang="en-US" sz="1000" dirty="0">
                <a:latin typeface="+mj-lt"/>
                <a:ea typeface="Arial" panose="020B0604020202020204"/>
                <a:cs typeface="Arial" panose="020B0604020202020204"/>
              </a:endParaRPr>
            </a:p>
          </p:txBody>
        </p:sp>
        <p:sp>
          <p:nvSpPr>
            <p:cNvPr id="227" name="textbox 202"/>
            <p:cNvSpPr/>
            <p:nvPr/>
          </p:nvSpPr>
          <p:spPr>
            <a:xfrm>
              <a:off x="3469088" y="3393070"/>
              <a:ext cx="1192983" cy="160403"/>
            </a:xfrm>
            <a:prstGeom prst="rect">
              <a:avLst/>
            </a:prstGeom>
            <a:noFill/>
            <a:ln w="0" cap="flat">
              <a:noFill/>
              <a:prstDash val="solid"/>
              <a:miter lim="0"/>
            </a:ln>
          </p:spPr>
          <p:txBody>
            <a:bodyPr vert="horz" wrap="square" lIns="0" tIns="0" rIns="0" bIns="0"/>
            <a:lstStyle/>
            <a:p>
              <a:pPr marL="14605" eaLnBrk="0">
                <a:lnSpc>
                  <a:spcPct val="87000"/>
                </a:lnSpc>
              </a:pPr>
              <a:r>
                <a:rPr lang="zh-CN" altLang="en-US" sz="800" kern="0" spc="-23" dirty="0">
                  <a:solidFill>
                    <a:srgbClr val="3E3A39">
                      <a:alpha val="100000"/>
                    </a:srgbClr>
                  </a:solidFill>
                  <a:cs typeface="OPPOSans R" panose="00020600040101010101" pitchFamily="18" charset="-122"/>
                </a:rPr>
                <a:t>开放软硬件生态</a:t>
              </a:r>
              <a:endParaRPr lang="zh-CN" altLang="en-US" sz="800" kern="0" spc="-23" dirty="0">
                <a:solidFill>
                  <a:srgbClr val="3E3A39">
                    <a:alpha val="100000"/>
                  </a:srgbClr>
                </a:solidFill>
                <a:cs typeface="OPPOSans R" panose="00020600040101010101" pitchFamily="18" charset="-122"/>
              </a:endParaRPr>
            </a:p>
          </p:txBody>
        </p:sp>
      </p:grpSp>
      <p:grpSp>
        <p:nvGrpSpPr>
          <p:cNvPr id="242" name="组合 241"/>
          <p:cNvGrpSpPr/>
          <p:nvPr/>
        </p:nvGrpSpPr>
        <p:grpSpPr>
          <a:xfrm>
            <a:off x="6134668" y="3329772"/>
            <a:ext cx="1420494" cy="354331"/>
            <a:chOff x="675332" y="3199142"/>
            <a:chExt cx="1192983" cy="354331"/>
          </a:xfrm>
        </p:grpSpPr>
        <p:sp>
          <p:nvSpPr>
            <p:cNvPr id="243" name="textbox 202"/>
            <p:cNvSpPr/>
            <p:nvPr/>
          </p:nvSpPr>
          <p:spPr>
            <a:xfrm>
              <a:off x="675333"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C00000"/>
                  </a:solidFill>
                  <a:latin typeface="+mj-lt"/>
                  <a:ea typeface="OPPOSans M" panose="00020600040101010101" charset="-122"/>
                  <a:cs typeface="OPPOSans R" panose="00020600040101010101" pitchFamily="18" charset="-122"/>
                </a:rPr>
                <a:t>开放标准接口</a:t>
              </a:r>
              <a:endParaRPr lang="zh-CN" altLang="en-US" sz="1000" dirty="0">
                <a:solidFill>
                  <a:srgbClr val="C00000"/>
                </a:solidFill>
                <a:latin typeface="+mj-lt"/>
                <a:ea typeface="Arial" panose="020B0604020202020204"/>
                <a:cs typeface="Arial" panose="020B0604020202020204"/>
              </a:endParaRPr>
            </a:p>
          </p:txBody>
        </p:sp>
        <p:sp>
          <p:nvSpPr>
            <p:cNvPr id="244" name="textbox 202"/>
            <p:cNvSpPr/>
            <p:nvPr/>
          </p:nvSpPr>
          <p:spPr>
            <a:xfrm>
              <a:off x="675332" y="3393070"/>
              <a:ext cx="1192983" cy="160403"/>
            </a:xfrm>
            <a:prstGeom prst="rect">
              <a:avLst/>
            </a:prstGeom>
            <a:noFill/>
            <a:ln w="0" cap="flat">
              <a:noFill/>
              <a:prstDash val="solid"/>
              <a:miter lim="0"/>
            </a:ln>
          </p:spPr>
          <p:txBody>
            <a:bodyPr vert="horz" wrap="square" lIns="0" tIns="0" rIns="0" bIns="0"/>
            <a:lstStyle/>
            <a:p>
              <a:pPr marL="14605" eaLnBrk="0">
                <a:lnSpc>
                  <a:spcPct val="87000"/>
                </a:lnSpc>
              </a:pPr>
              <a:r>
                <a:rPr lang="zh-CN" altLang="en-US" sz="800" kern="0" spc="-23" dirty="0">
                  <a:solidFill>
                    <a:srgbClr val="3E3A39">
                      <a:alpha val="100000"/>
                    </a:srgbClr>
                  </a:solidFill>
                  <a:cs typeface="OPPOSans R" panose="00020600040101010101" pitchFamily="18" charset="-122"/>
                </a:rPr>
                <a:t>机械、电气、通信、数据</a:t>
              </a:r>
              <a:endParaRPr lang="zh-CN" altLang="en-US" sz="800" kern="0" spc="-23" dirty="0">
                <a:solidFill>
                  <a:srgbClr val="3E3A39">
                    <a:alpha val="100000"/>
                  </a:srgbClr>
                </a:solidFill>
                <a:cs typeface="OPPOSans R" panose="00020600040101010101" pitchFamily="18" charset="-122"/>
              </a:endParaRPr>
            </a:p>
          </p:txBody>
        </p:sp>
      </p:grpSp>
      <p:grpSp>
        <p:nvGrpSpPr>
          <p:cNvPr id="238" name="组合 237"/>
          <p:cNvGrpSpPr/>
          <p:nvPr/>
        </p:nvGrpSpPr>
        <p:grpSpPr>
          <a:xfrm>
            <a:off x="6134668" y="3933929"/>
            <a:ext cx="1420494" cy="354331"/>
            <a:chOff x="675332" y="3199142"/>
            <a:chExt cx="1192983" cy="354331"/>
          </a:xfrm>
        </p:grpSpPr>
        <p:sp>
          <p:nvSpPr>
            <p:cNvPr id="239" name="textbox 202"/>
            <p:cNvSpPr/>
            <p:nvPr/>
          </p:nvSpPr>
          <p:spPr>
            <a:xfrm>
              <a:off x="675333"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C00000"/>
                  </a:solidFill>
                  <a:latin typeface="+mj-lt"/>
                  <a:ea typeface="OPPOSans M" panose="00020600040101010101" charset="-122"/>
                  <a:cs typeface="OPPOSans R" panose="00020600040101010101" pitchFamily="18" charset="-122"/>
                </a:rPr>
                <a:t>基础系统</a:t>
              </a:r>
              <a:endParaRPr lang="zh-CN" altLang="en-US" sz="1000" dirty="0">
                <a:solidFill>
                  <a:srgbClr val="C00000"/>
                </a:solidFill>
                <a:latin typeface="+mj-lt"/>
                <a:ea typeface="Arial" panose="020B0604020202020204"/>
                <a:cs typeface="Arial" panose="020B0604020202020204"/>
              </a:endParaRPr>
            </a:p>
          </p:txBody>
        </p:sp>
        <p:sp>
          <p:nvSpPr>
            <p:cNvPr id="240" name="textbox 202"/>
            <p:cNvSpPr/>
            <p:nvPr/>
          </p:nvSpPr>
          <p:spPr>
            <a:xfrm>
              <a:off x="675332" y="3393070"/>
              <a:ext cx="1192983" cy="160403"/>
            </a:xfrm>
            <a:prstGeom prst="rect">
              <a:avLst/>
            </a:prstGeom>
            <a:noFill/>
            <a:ln w="0" cap="flat">
              <a:noFill/>
              <a:prstDash val="solid"/>
              <a:miter lim="0"/>
            </a:ln>
          </p:spPr>
          <p:txBody>
            <a:bodyPr vert="horz" wrap="square" lIns="0" tIns="0" rIns="0" bIns="0"/>
            <a:lstStyle/>
            <a:p>
              <a:pPr marL="14605" eaLnBrk="0">
                <a:lnSpc>
                  <a:spcPct val="87000"/>
                </a:lnSpc>
              </a:pPr>
              <a:r>
                <a:rPr lang="zh-CN" altLang="en-US" sz="800" kern="0" spc="-23" dirty="0">
                  <a:solidFill>
                    <a:srgbClr val="3E3A39">
                      <a:alpha val="100000"/>
                    </a:srgbClr>
                  </a:solidFill>
                  <a:cs typeface="OPPOSans R" panose="00020600040101010101" pitchFamily="18" charset="-122"/>
                </a:rPr>
                <a:t>百川</a:t>
              </a:r>
              <a:endParaRPr lang="zh-CN" altLang="en-US" sz="800" kern="0" spc="-23" dirty="0">
                <a:solidFill>
                  <a:srgbClr val="3E3A39">
                    <a:alpha val="100000"/>
                  </a:srgbClr>
                </a:solidFill>
                <a:cs typeface="OPPOSans R" panose="00020600040101010101" pitchFamily="18" charset="-122"/>
              </a:endParaRPr>
            </a:p>
          </p:txBody>
        </p:sp>
      </p:grpSp>
      <p:sp>
        <p:nvSpPr>
          <p:cNvPr id="319" name="矩形: 圆角 318"/>
          <p:cNvSpPr/>
          <p:nvPr/>
        </p:nvSpPr>
        <p:spPr>
          <a:xfrm>
            <a:off x="613370" y="4457103"/>
            <a:ext cx="258127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4" name="组合 233"/>
          <p:cNvGrpSpPr/>
          <p:nvPr/>
        </p:nvGrpSpPr>
        <p:grpSpPr>
          <a:xfrm>
            <a:off x="6134668" y="4538086"/>
            <a:ext cx="1879297" cy="324383"/>
            <a:chOff x="675332" y="3199142"/>
            <a:chExt cx="1578303" cy="324383"/>
          </a:xfrm>
        </p:grpSpPr>
        <p:sp>
          <p:nvSpPr>
            <p:cNvPr id="235" name="textbox 202"/>
            <p:cNvSpPr/>
            <p:nvPr/>
          </p:nvSpPr>
          <p:spPr>
            <a:xfrm>
              <a:off x="675333" y="3199142"/>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C00000"/>
                  </a:solidFill>
                  <a:latin typeface="+mj-lt"/>
                  <a:ea typeface="OPPOSans M" panose="00020600040101010101" charset="-122"/>
                  <a:cs typeface="OPPOSans R" panose="00020600040101010101" pitchFamily="18" charset="-122"/>
                </a:rPr>
                <a:t>开放开发生态</a:t>
              </a:r>
              <a:endParaRPr lang="zh-CN" altLang="en-US" sz="1000" dirty="0">
                <a:solidFill>
                  <a:srgbClr val="C00000"/>
                </a:solidFill>
                <a:latin typeface="+mj-lt"/>
                <a:ea typeface="Arial" panose="020B0604020202020204"/>
                <a:cs typeface="Arial" panose="020B0604020202020204"/>
              </a:endParaRPr>
            </a:p>
          </p:txBody>
        </p:sp>
        <p:sp>
          <p:nvSpPr>
            <p:cNvPr id="236" name="textbox 202"/>
            <p:cNvSpPr/>
            <p:nvPr/>
          </p:nvSpPr>
          <p:spPr>
            <a:xfrm>
              <a:off x="675332" y="3393071"/>
              <a:ext cx="1578303" cy="130454"/>
            </a:xfrm>
            <a:prstGeom prst="rect">
              <a:avLst/>
            </a:prstGeom>
            <a:noFill/>
            <a:ln w="0" cap="flat">
              <a:noFill/>
              <a:prstDash val="solid"/>
              <a:miter lim="0"/>
            </a:ln>
          </p:spPr>
          <p:txBody>
            <a:bodyPr vert="horz" wrap="square" lIns="0" tIns="0" rIns="0" bIns="0"/>
            <a:lstStyle/>
            <a:p>
              <a:pPr marL="14605" eaLnBrk="0">
                <a:lnSpc>
                  <a:spcPct val="87000"/>
                </a:lnSpc>
              </a:pPr>
              <a:r>
                <a:rPr lang="en-US" altLang="zh-CN" sz="800" kern="0" spc="-23" dirty="0">
                  <a:solidFill>
                    <a:srgbClr val="3E3A39">
                      <a:alpha val="100000"/>
                    </a:srgbClr>
                  </a:solidFill>
                  <a:cs typeface="OPPOSans R" panose="00020600040101010101" pitchFamily="18" charset="-122"/>
                </a:rPr>
                <a:t>API</a:t>
              </a:r>
              <a:r>
                <a:rPr lang="zh-CN" altLang="en-US" sz="800" kern="0" spc="-23" dirty="0">
                  <a:solidFill>
                    <a:srgbClr val="3E3A39">
                      <a:alpha val="100000"/>
                    </a:srgbClr>
                  </a:solidFill>
                  <a:cs typeface="OPPOSans R" panose="00020600040101010101" pitchFamily="18" charset="-122"/>
                </a:rPr>
                <a:t>、</a:t>
              </a:r>
              <a:r>
                <a:rPr lang="en-US" altLang="zh-CN" sz="800" kern="0" spc="-23" dirty="0">
                  <a:solidFill>
                    <a:srgbClr val="3E3A39">
                      <a:alpha val="100000"/>
                    </a:srgbClr>
                  </a:solidFill>
                  <a:cs typeface="OPPOSans R" panose="00020600040101010101" pitchFamily="18" charset="-122"/>
                </a:rPr>
                <a:t>SDK</a:t>
              </a:r>
              <a:r>
                <a:rPr lang="zh-CN" altLang="en-US" sz="800" kern="0" spc="-23" dirty="0">
                  <a:solidFill>
                    <a:srgbClr val="3E3A39">
                      <a:alpha val="100000"/>
                    </a:srgbClr>
                  </a:solidFill>
                  <a:cs typeface="OPPOSans R" panose="00020600040101010101" pitchFamily="18" charset="-122"/>
                </a:rPr>
                <a:t>、</a:t>
              </a:r>
              <a:r>
                <a:rPr lang="en-US" altLang="zh-CN" sz="800" kern="0" spc="-23" dirty="0">
                  <a:solidFill>
                    <a:srgbClr val="3E3A39">
                      <a:alpha val="100000"/>
                    </a:srgbClr>
                  </a:solidFill>
                  <a:cs typeface="OPPOSans R" panose="00020600040101010101" pitchFamily="18" charset="-122"/>
                </a:rPr>
                <a:t>Skill</a:t>
              </a:r>
              <a:r>
                <a:rPr lang="zh-CN" altLang="en-US" sz="800" kern="0" spc="-23" dirty="0">
                  <a:solidFill>
                    <a:srgbClr val="3E3A39">
                      <a:alpha val="100000"/>
                    </a:srgbClr>
                  </a:solidFill>
                  <a:cs typeface="OPPOSans R" panose="00020600040101010101" pitchFamily="18" charset="-122"/>
                </a:rPr>
                <a:t>、体验器、工业插件</a:t>
              </a:r>
              <a:endParaRPr lang="zh-CN" altLang="en-US" sz="800" kern="0" spc="-23" dirty="0">
                <a:solidFill>
                  <a:srgbClr val="3E3A39">
                    <a:alpha val="100000"/>
                  </a:srgbClr>
                </a:solidFill>
                <a:cs typeface="OPPOSans R" panose="00020600040101010101" pitchFamily="18" charset="-122"/>
              </a:endParaRPr>
            </a:p>
          </p:txBody>
        </p:sp>
      </p:grpSp>
      <p:grpSp>
        <p:nvGrpSpPr>
          <p:cNvPr id="245" name="组合 244"/>
          <p:cNvGrpSpPr/>
          <p:nvPr/>
        </p:nvGrpSpPr>
        <p:grpSpPr>
          <a:xfrm>
            <a:off x="6157059" y="1917478"/>
            <a:ext cx="1717978" cy="430304"/>
            <a:chOff x="3469089" y="1797734"/>
            <a:chExt cx="1192983" cy="430304"/>
          </a:xfrm>
        </p:grpSpPr>
        <p:sp>
          <p:nvSpPr>
            <p:cNvPr id="246" name="textbox 202"/>
            <p:cNvSpPr/>
            <p:nvPr/>
          </p:nvSpPr>
          <p:spPr>
            <a:xfrm>
              <a:off x="3469089" y="1797734"/>
              <a:ext cx="875589" cy="160403"/>
            </a:xfrm>
            <a:prstGeom prst="rect">
              <a:avLst/>
            </a:prstGeom>
            <a:noFill/>
            <a:ln w="0" cap="flat">
              <a:noFill/>
              <a:prstDash val="solid"/>
              <a:miter lim="0"/>
            </a:ln>
          </p:spPr>
          <p:txBody>
            <a:bodyPr vert="horz" wrap="square" lIns="0" tIns="0" rIns="0" bIns="0"/>
            <a:lstStyle/>
            <a:p>
              <a:pPr marL="15875" eaLnBrk="0">
                <a:lnSpc>
                  <a:spcPct val="86000"/>
                </a:lnSpc>
              </a:pPr>
              <a:r>
                <a:rPr lang="zh-CN" altLang="en-US" sz="1000" kern="0" spc="-11" dirty="0">
                  <a:solidFill>
                    <a:srgbClr val="C00000"/>
                  </a:solidFill>
                  <a:latin typeface="+mj-lt"/>
                  <a:ea typeface="OPPOSans M" panose="00020600040101010101" charset="-122"/>
                  <a:cs typeface="OPPOSans R" panose="00020600040101010101" pitchFamily="18" charset="-122"/>
                </a:rPr>
                <a:t>模块化部件</a:t>
              </a:r>
              <a:endParaRPr lang="zh-CN" altLang="en-US" sz="1000" dirty="0">
                <a:solidFill>
                  <a:srgbClr val="C00000"/>
                </a:solidFill>
                <a:latin typeface="+mj-lt"/>
                <a:ea typeface="Arial" panose="020B0604020202020204"/>
                <a:cs typeface="Arial" panose="020B0604020202020204"/>
              </a:endParaRPr>
            </a:p>
          </p:txBody>
        </p:sp>
        <p:sp>
          <p:nvSpPr>
            <p:cNvPr id="247" name="textbox 202"/>
            <p:cNvSpPr/>
            <p:nvPr/>
          </p:nvSpPr>
          <p:spPr>
            <a:xfrm>
              <a:off x="3469089" y="1980776"/>
              <a:ext cx="1192983" cy="247262"/>
            </a:xfrm>
            <a:prstGeom prst="rect">
              <a:avLst/>
            </a:prstGeom>
            <a:noFill/>
            <a:ln w="0" cap="flat">
              <a:noFill/>
              <a:prstDash val="solid"/>
              <a:miter lim="0"/>
            </a:ln>
          </p:spPr>
          <p:txBody>
            <a:bodyPr vert="horz" wrap="square" lIns="0" tIns="0" rIns="0" bIns="0"/>
            <a:lstStyle/>
            <a:p>
              <a:pPr marL="14605" eaLnBrk="0">
                <a:lnSpc>
                  <a:spcPct val="87000"/>
                </a:lnSpc>
              </a:pPr>
              <a:r>
                <a:rPr lang="zh-CN" altLang="en-US" sz="800" kern="0" spc="-23" dirty="0">
                  <a:solidFill>
                    <a:srgbClr val="3E3A39">
                      <a:alpha val="100000"/>
                    </a:srgbClr>
                  </a:solidFill>
                  <a:cs typeface="OPPOSans R" panose="00020600040101010101" pitchFamily="18" charset="-122"/>
                </a:rPr>
                <a:t>控制器、底盘、机械臂、传感器</a:t>
              </a:r>
              <a:endParaRPr lang="zh-CN" altLang="en-US" sz="800" kern="0" spc="-23" dirty="0">
                <a:solidFill>
                  <a:srgbClr val="3E3A39">
                    <a:alpha val="100000"/>
                  </a:srgbClr>
                </a:solidFill>
                <a:cs typeface="OPPOSans R" panose="00020600040101010101" pitchFamily="18" charset="-122"/>
              </a:endParaRPr>
            </a:p>
          </p:txBody>
        </p:sp>
      </p:grpSp>
      <p:sp>
        <p:nvSpPr>
          <p:cNvPr id="248" name="右箭头 16"/>
          <p:cNvSpPr>
            <a:spLocks noChangeAspect="1"/>
          </p:cNvSpPr>
          <p:nvPr/>
        </p:nvSpPr>
        <p:spPr>
          <a:xfrm>
            <a:off x="5535270" y="3344253"/>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249" name="右箭头 16"/>
          <p:cNvSpPr>
            <a:spLocks noChangeAspect="1"/>
          </p:cNvSpPr>
          <p:nvPr/>
        </p:nvSpPr>
        <p:spPr>
          <a:xfrm>
            <a:off x="5535270" y="3957395"/>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250" name="右箭头 16"/>
          <p:cNvSpPr>
            <a:spLocks noChangeAspect="1"/>
          </p:cNvSpPr>
          <p:nvPr/>
        </p:nvSpPr>
        <p:spPr>
          <a:xfrm>
            <a:off x="5535270" y="4570536"/>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252" name="文本框 251"/>
          <p:cNvSpPr txBox="1"/>
          <p:nvPr/>
        </p:nvSpPr>
        <p:spPr>
          <a:xfrm>
            <a:off x="11016321" y="1965392"/>
            <a:ext cx="455250" cy="200055"/>
          </a:xfrm>
          <a:prstGeom prst="rect">
            <a:avLst/>
          </a:prstGeom>
          <a:noFill/>
        </p:spPr>
        <p:txBody>
          <a:bodyPr wrap="square" rtlCol="0">
            <a:spAutoFit/>
          </a:bodyPr>
          <a:lstStyle/>
          <a:p>
            <a:r>
              <a:rPr lang="zh-CN" altLang="en-US" sz="700" dirty="0">
                <a:solidFill>
                  <a:srgbClr val="000000"/>
                </a:solidFill>
                <a:latin typeface="+mj-ea"/>
                <a:ea typeface="+mj-ea"/>
              </a:rPr>
              <a:t>可替换</a:t>
            </a:r>
            <a:endParaRPr lang="en-US" altLang="zh-CN" sz="700" dirty="0">
              <a:solidFill>
                <a:srgbClr val="000000"/>
              </a:solidFill>
              <a:latin typeface="+mj-ea"/>
              <a:ea typeface="+mj-ea"/>
            </a:endParaRPr>
          </a:p>
        </p:txBody>
      </p:sp>
      <p:sp>
        <p:nvSpPr>
          <p:cNvPr id="260" name="椭圆 259"/>
          <p:cNvSpPr/>
          <p:nvPr/>
        </p:nvSpPr>
        <p:spPr>
          <a:xfrm>
            <a:off x="10894538" y="1995502"/>
            <a:ext cx="139834" cy="139834"/>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L 形 261"/>
          <p:cNvSpPr/>
          <p:nvPr/>
        </p:nvSpPr>
        <p:spPr>
          <a:xfrm rot="18843688">
            <a:off x="10926425" y="2030791"/>
            <a:ext cx="83119" cy="54090"/>
          </a:xfrm>
          <a:prstGeom prst="corner">
            <a:avLst>
              <a:gd name="adj1" fmla="val 28394"/>
              <a:gd name="adj2" fmla="val 3148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文本框 267"/>
          <p:cNvSpPr txBox="1"/>
          <p:nvPr/>
        </p:nvSpPr>
        <p:spPr>
          <a:xfrm>
            <a:off x="11016321" y="3391259"/>
            <a:ext cx="455250" cy="200055"/>
          </a:xfrm>
          <a:prstGeom prst="rect">
            <a:avLst/>
          </a:prstGeom>
          <a:noFill/>
        </p:spPr>
        <p:txBody>
          <a:bodyPr wrap="square" rtlCol="0">
            <a:spAutoFit/>
          </a:bodyPr>
          <a:lstStyle/>
          <a:p>
            <a:r>
              <a:rPr lang="zh-CN" altLang="en-US" sz="700" dirty="0">
                <a:solidFill>
                  <a:srgbClr val="000000"/>
                </a:solidFill>
                <a:latin typeface="+mj-ea"/>
                <a:ea typeface="+mj-ea"/>
              </a:rPr>
              <a:t>可兼容</a:t>
            </a:r>
            <a:endParaRPr lang="zh-CN" altLang="en-US" sz="700" dirty="0">
              <a:solidFill>
                <a:srgbClr val="000000"/>
              </a:solidFill>
              <a:latin typeface="+mj-ea"/>
              <a:ea typeface="+mj-ea"/>
            </a:endParaRPr>
          </a:p>
        </p:txBody>
      </p:sp>
      <p:sp>
        <p:nvSpPr>
          <p:cNvPr id="271" name="椭圆 270"/>
          <p:cNvSpPr/>
          <p:nvPr/>
        </p:nvSpPr>
        <p:spPr>
          <a:xfrm>
            <a:off x="10894538" y="3421369"/>
            <a:ext cx="139834" cy="139834"/>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L 形 271"/>
          <p:cNvSpPr/>
          <p:nvPr/>
        </p:nvSpPr>
        <p:spPr>
          <a:xfrm rot="18843688">
            <a:off x="10926425" y="3456658"/>
            <a:ext cx="83119" cy="54090"/>
          </a:xfrm>
          <a:prstGeom prst="corner">
            <a:avLst>
              <a:gd name="adj1" fmla="val 28394"/>
              <a:gd name="adj2" fmla="val 3148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nvSpPr>
        <p:spPr>
          <a:xfrm>
            <a:off x="11016321" y="3979480"/>
            <a:ext cx="455250" cy="200055"/>
          </a:xfrm>
          <a:prstGeom prst="rect">
            <a:avLst/>
          </a:prstGeom>
          <a:noFill/>
        </p:spPr>
        <p:txBody>
          <a:bodyPr wrap="square" rtlCol="0">
            <a:spAutoFit/>
          </a:bodyPr>
          <a:lstStyle/>
          <a:p>
            <a:r>
              <a:rPr lang="zh-CN" altLang="en-US" sz="700" dirty="0">
                <a:solidFill>
                  <a:srgbClr val="000000"/>
                </a:solidFill>
                <a:latin typeface="+mj-ea"/>
                <a:ea typeface="+mj-ea"/>
              </a:rPr>
              <a:t>可扩展</a:t>
            </a:r>
            <a:endParaRPr lang="en-US" altLang="zh-CN" sz="700" dirty="0">
              <a:solidFill>
                <a:srgbClr val="000000"/>
              </a:solidFill>
              <a:latin typeface="+mj-ea"/>
              <a:ea typeface="+mj-ea"/>
            </a:endParaRPr>
          </a:p>
        </p:txBody>
      </p:sp>
      <p:sp>
        <p:nvSpPr>
          <p:cNvPr id="277" name="椭圆 276"/>
          <p:cNvSpPr/>
          <p:nvPr/>
        </p:nvSpPr>
        <p:spPr>
          <a:xfrm>
            <a:off x="10894538" y="4009590"/>
            <a:ext cx="139834" cy="139834"/>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L 形 277"/>
          <p:cNvSpPr/>
          <p:nvPr/>
        </p:nvSpPr>
        <p:spPr>
          <a:xfrm rot="18843688">
            <a:off x="10926425" y="4044879"/>
            <a:ext cx="83119" cy="54090"/>
          </a:xfrm>
          <a:prstGeom prst="corner">
            <a:avLst>
              <a:gd name="adj1" fmla="val 28394"/>
              <a:gd name="adj2" fmla="val 3148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矩形: 圆角 322"/>
          <p:cNvSpPr/>
          <p:nvPr/>
        </p:nvSpPr>
        <p:spPr>
          <a:xfrm>
            <a:off x="600500" y="1810105"/>
            <a:ext cx="2581274" cy="1297073"/>
          </a:xfrm>
          <a:prstGeom prst="roundRect">
            <a:avLst>
              <a:gd name="adj" fmla="val 882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文本框 279"/>
          <p:cNvSpPr txBox="1"/>
          <p:nvPr/>
        </p:nvSpPr>
        <p:spPr>
          <a:xfrm>
            <a:off x="11016321" y="4567701"/>
            <a:ext cx="455250" cy="200055"/>
          </a:xfrm>
          <a:prstGeom prst="rect">
            <a:avLst/>
          </a:prstGeom>
          <a:noFill/>
        </p:spPr>
        <p:txBody>
          <a:bodyPr wrap="square" rtlCol="0">
            <a:spAutoFit/>
          </a:bodyPr>
          <a:lstStyle/>
          <a:p>
            <a:r>
              <a:rPr lang="zh-CN" altLang="en-US" sz="700" dirty="0">
                <a:solidFill>
                  <a:srgbClr val="000000"/>
                </a:solidFill>
                <a:latin typeface="+mj-ea"/>
                <a:ea typeface="+mj-ea"/>
              </a:rPr>
              <a:t>可扩展</a:t>
            </a:r>
            <a:endParaRPr lang="en-US" altLang="zh-CN" sz="700" dirty="0">
              <a:solidFill>
                <a:srgbClr val="000000"/>
              </a:solidFill>
              <a:latin typeface="+mj-ea"/>
              <a:ea typeface="+mj-ea"/>
            </a:endParaRPr>
          </a:p>
        </p:txBody>
      </p:sp>
      <p:sp>
        <p:nvSpPr>
          <p:cNvPr id="283" name="椭圆 282"/>
          <p:cNvSpPr/>
          <p:nvPr/>
        </p:nvSpPr>
        <p:spPr>
          <a:xfrm>
            <a:off x="10894538" y="4597811"/>
            <a:ext cx="139834" cy="139834"/>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4" name="L 形 283"/>
          <p:cNvSpPr/>
          <p:nvPr/>
        </p:nvSpPr>
        <p:spPr>
          <a:xfrm rot="18843688">
            <a:off x="10926425" y="4633100"/>
            <a:ext cx="83119" cy="54090"/>
          </a:xfrm>
          <a:prstGeom prst="corner">
            <a:avLst>
              <a:gd name="adj1" fmla="val 28394"/>
              <a:gd name="adj2" fmla="val 3148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4" name="矩形: 圆角 323"/>
          <p:cNvSpPr/>
          <p:nvPr/>
        </p:nvSpPr>
        <p:spPr>
          <a:xfrm>
            <a:off x="8018140" y="1810105"/>
            <a:ext cx="2581274" cy="1297073"/>
          </a:xfrm>
          <a:prstGeom prst="roundRect">
            <a:avLst>
              <a:gd name="adj" fmla="val 882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文本框 286"/>
          <p:cNvSpPr txBox="1"/>
          <p:nvPr/>
        </p:nvSpPr>
        <p:spPr>
          <a:xfrm>
            <a:off x="-635" y="1067828"/>
            <a:ext cx="12192635" cy="276999"/>
          </a:xfrm>
          <a:prstGeom prst="rect">
            <a:avLst/>
          </a:prstGeom>
          <a:noFill/>
        </p:spPr>
        <p:txBody>
          <a:bodyPr wrap="square" rtlCol="0">
            <a:spAutoFit/>
          </a:bodyPr>
          <a:lstStyle/>
          <a:p>
            <a:pPr algn="ctr"/>
            <a:r>
              <a:rPr lang="zh-CN" altLang="en-US" sz="1200" dirty="0">
                <a:solidFill>
                  <a:srgbClr val="C00000"/>
                </a:solidFill>
                <a:latin typeface="+mj-ea"/>
                <a:ea typeface="+mj-ea"/>
                <a:sym typeface="+mn-ea"/>
              </a:rPr>
              <a:t>像组装电脑一样造工业智能设备</a:t>
            </a:r>
            <a:endParaRPr lang="zh-CN" altLang="en-US" sz="1200" dirty="0">
              <a:solidFill>
                <a:srgbClr val="C00000"/>
              </a:solidFill>
              <a:latin typeface="+mj-ea"/>
              <a:ea typeface="+mj-ea"/>
            </a:endParaRPr>
          </a:p>
        </p:txBody>
      </p:sp>
      <p:sp>
        <p:nvSpPr>
          <p:cNvPr id="290" name="AutoShape 2" descr="图像 101"/>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94" name="图片 29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068344" y="1864249"/>
            <a:ext cx="2442102" cy="1221051"/>
          </a:xfrm>
          <a:prstGeom prst="rect">
            <a:avLst/>
          </a:prstGeom>
        </p:spPr>
      </p:pic>
      <p:sp>
        <p:nvSpPr>
          <p:cNvPr id="295" name="矩形: 圆角 294"/>
          <p:cNvSpPr/>
          <p:nvPr/>
        </p:nvSpPr>
        <p:spPr>
          <a:xfrm>
            <a:off x="600500" y="3280661"/>
            <a:ext cx="80842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9" name="图片 29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2940" y="3405616"/>
            <a:ext cx="672082" cy="196412"/>
          </a:xfrm>
          <a:prstGeom prst="rect">
            <a:avLst/>
          </a:prstGeom>
        </p:spPr>
      </p:pic>
      <p:sp>
        <p:nvSpPr>
          <p:cNvPr id="302" name="矩形: 圆角 301"/>
          <p:cNvSpPr/>
          <p:nvPr/>
        </p:nvSpPr>
        <p:spPr>
          <a:xfrm>
            <a:off x="1486925" y="3280661"/>
            <a:ext cx="80842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矩形: 圆角 302"/>
          <p:cNvSpPr/>
          <p:nvPr/>
        </p:nvSpPr>
        <p:spPr>
          <a:xfrm>
            <a:off x="2386220" y="3280661"/>
            <a:ext cx="80842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7" name="图片 2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36393" y="3314087"/>
            <a:ext cx="436848" cy="360742"/>
          </a:xfrm>
          <a:prstGeom prst="rect">
            <a:avLst/>
          </a:prstGeom>
        </p:spPr>
      </p:pic>
      <p:sp>
        <p:nvSpPr>
          <p:cNvPr id="318" name="矩形: 圆角 317"/>
          <p:cNvSpPr/>
          <p:nvPr/>
        </p:nvSpPr>
        <p:spPr>
          <a:xfrm>
            <a:off x="613370" y="3868882"/>
            <a:ext cx="258127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矩形: 圆角 307"/>
          <p:cNvSpPr/>
          <p:nvPr/>
        </p:nvSpPr>
        <p:spPr>
          <a:xfrm>
            <a:off x="8018140" y="3280661"/>
            <a:ext cx="258127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1" name="图片 30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13042" y="3314087"/>
            <a:ext cx="510701" cy="359940"/>
          </a:xfrm>
          <a:prstGeom prst="rect">
            <a:avLst/>
          </a:prstGeom>
        </p:spPr>
      </p:pic>
      <p:pic>
        <p:nvPicPr>
          <p:cNvPr id="307" name="图片 30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29523" y="3852784"/>
            <a:ext cx="1372956" cy="457652"/>
          </a:xfrm>
          <a:prstGeom prst="rect">
            <a:avLst/>
          </a:prstGeom>
        </p:spPr>
      </p:pic>
      <p:sp>
        <p:nvSpPr>
          <p:cNvPr id="309" name="矩形: 圆角 308"/>
          <p:cNvSpPr/>
          <p:nvPr/>
        </p:nvSpPr>
        <p:spPr>
          <a:xfrm>
            <a:off x="8018140" y="4457103"/>
            <a:ext cx="258127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5" name="图片 30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62190" y="4442983"/>
            <a:ext cx="1348460" cy="449487"/>
          </a:xfrm>
          <a:prstGeom prst="rect">
            <a:avLst/>
          </a:prstGeom>
        </p:spPr>
      </p:pic>
      <p:pic>
        <p:nvPicPr>
          <p:cNvPr id="313" name="图片 312"/>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8810065" y="4457103"/>
            <a:ext cx="1272060" cy="398170"/>
          </a:xfrm>
          <a:prstGeom prst="rect">
            <a:avLst/>
          </a:prstGeom>
        </p:spPr>
      </p:pic>
      <p:pic>
        <p:nvPicPr>
          <p:cNvPr id="316" name="图片 3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07491" y="3338443"/>
            <a:ext cx="1802572" cy="321652"/>
          </a:xfrm>
          <a:prstGeom prst="rect">
            <a:avLst/>
          </a:prstGeom>
        </p:spPr>
      </p:pic>
      <p:sp>
        <p:nvSpPr>
          <p:cNvPr id="320" name="矩形: 圆角 319"/>
          <p:cNvSpPr/>
          <p:nvPr/>
        </p:nvSpPr>
        <p:spPr>
          <a:xfrm>
            <a:off x="8018140" y="3868882"/>
            <a:ext cx="2581274" cy="42125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5" name="图片 32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38088" y="1846145"/>
            <a:ext cx="2431310" cy="1215656"/>
          </a:xfrm>
          <a:prstGeom prst="rect">
            <a:avLst/>
          </a:prstGeom>
        </p:spPr>
      </p:pic>
      <p:pic>
        <p:nvPicPr>
          <p:cNvPr id="327" name="图片 3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515140" y="3836908"/>
            <a:ext cx="1591354" cy="530452"/>
          </a:xfrm>
          <a:prstGeom prst="rect">
            <a:avLst/>
          </a:prstGeom>
        </p:spPr>
      </p:pic>
      <p:sp>
        <p:nvSpPr>
          <p:cNvPr id="328" name="function-model-title"/>
          <p:cNvSpPr>
            <a:spLocks noGrp="1"/>
          </p:cNvSpPr>
          <p:nvPr/>
        </p:nvSpPr>
        <p:spPr>
          <a:xfrm>
            <a:off x="6095682" y="1385402"/>
            <a:ext cx="2245179" cy="352424"/>
          </a:xfrm>
          <a:prstGeom prst="rect">
            <a:avLst/>
          </a:prstGeom>
          <a:noFill/>
          <a:ln w="0">
            <a:noFill/>
            <a:prstDash val="solid"/>
          </a:ln>
        </p:spPr>
        <p:txBody>
          <a:bodyPr anchor="ctr"/>
          <a:lstStyle/>
          <a:p>
            <a:pPr lvl="0" algn="l">
              <a:buClrTx/>
              <a:buSzTx/>
              <a:buFontTx/>
              <a:defRPr sz="1500" b="1">
                <a:solidFill>
                  <a:srgbClr val="111827"/>
                </a:solidFill>
              </a:defRPr>
            </a:pPr>
            <a:r>
              <a:rPr lang="zh-CN" altLang="en-US" sz="1100" b="0" dirty="0">
                <a:solidFill>
                  <a:schemeClr val="bg1"/>
                </a:solidFill>
                <a:latin typeface="OPPOSans M" panose="00020600040101010101" charset="-122"/>
                <a:ea typeface="OPPOSans M" panose="00020600040101010101" charset="-122"/>
                <a:cs typeface="OPPOSans B" panose="00020600040101010101" charset="-122"/>
                <a:sym typeface="+mn-ea"/>
              </a:rPr>
              <a:t>墨影开放式造机底座</a:t>
            </a:r>
            <a:endParaRPr lang="zh-CN" altLang="en-US" sz="1100" b="0" dirty="0">
              <a:solidFill>
                <a:schemeClr val="bg1"/>
              </a:solidFill>
              <a:latin typeface="OPPOSans M" panose="00020600040101010101" charset="-122"/>
              <a:ea typeface="OPPOSans M" panose="00020600040101010101" charset="-122"/>
              <a:cs typeface="OPPOSans B" panose="00020600040101010101" charset="-122"/>
              <a:sym typeface="+mn-ea"/>
            </a:endParaRPr>
          </a:p>
        </p:txBody>
      </p:sp>
      <p:sp>
        <p:nvSpPr>
          <p:cNvPr id="177" name="callout-text"/>
          <p:cNvSpPr>
            <a:spLocks noGrp="1"/>
          </p:cNvSpPr>
          <p:nvPr/>
        </p:nvSpPr>
        <p:spPr>
          <a:xfrm>
            <a:off x="-636" y="6394665"/>
            <a:ext cx="12192635" cy="337214"/>
          </a:xfrm>
          <a:prstGeom prst="rect">
            <a:avLst/>
          </a:prstGeom>
          <a:noFill/>
          <a:ln w="0">
            <a:noFill/>
            <a:prstDash val="solid"/>
          </a:ln>
        </p:spPr>
        <p:txBody>
          <a:bodyPr anchor="ctr">
            <a:noAutofit/>
          </a:bodyPr>
          <a:lstStyle/>
          <a:p>
            <a:pPr algn="ctr"/>
            <a:r>
              <a:rPr lang="zh-CN" altLang="en-US" sz="900" dirty="0">
                <a:solidFill>
                  <a:srgbClr val="000000"/>
                </a:solidFill>
                <a:latin typeface="+mn-ea"/>
                <a:cs typeface="OPPOSans M" panose="00020600040101010101" charset="-122"/>
                <a:sym typeface="+mn-ea"/>
              </a:rPr>
              <a:t>墨影提供的不是一套整机，而是“造设备</a:t>
            </a:r>
            <a:r>
              <a:rPr lang="en-US" altLang="zh-CN" sz="900" dirty="0">
                <a:solidFill>
                  <a:srgbClr val="000000"/>
                </a:solidFill>
                <a:latin typeface="+mn-ea"/>
                <a:cs typeface="OPPOSans M" panose="00020600040101010101" charset="-122"/>
                <a:sym typeface="+mn-ea"/>
              </a:rPr>
              <a:t>+</a:t>
            </a:r>
            <a:r>
              <a:rPr lang="zh-CN" altLang="en-US" sz="900" dirty="0">
                <a:solidFill>
                  <a:srgbClr val="000000"/>
                </a:solidFill>
                <a:latin typeface="+mn-ea"/>
                <a:cs typeface="OPPOSans M" panose="00020600040101010101" charset="-122"/>
                <a:sym typeface="+mn-ea"/>
              </a:rPr>
              <a:t>开放应用</a:t>
            </a:r>
            <a:r>
              <a:rPr lang="en-US" altLang="zh-CN" sz="900" dirty="0">
                <a:solidFill>
                  <a:srgbClr val="000000"/>
                </a:solidFill>
                <a:latin typeface="+mn-ea"/>
                <a:cs typeface="OPPOSans M" panose="00020600040101010101" charset="-122"/>
                <a:sym typeface="+mn-ea"/>
              </a:rPr>
              <a:t>+</a:t>
            </a:r>
            <a:r>
              <a:rPr lang="zh-CN" altLang="en-US" sz="900" dirty="0">
                <a:solidFill>
                  <a:srgbClr val="000000"/>
                </a:solidFill>
                <a:latin typeface="+mn-ea"/>
                <a:cs typeface="OPPOSans M" panose="00020600040101010101" charset="-122"/>
                <a:sym typeface="+mn-ea"/>
              </a:rPr>
              <a:t>数字工厂</a:t>
            </a:r>
            <a:r>
              <a:rPr lang="en-US" altLang="zh-CN" sz="900" dirty="0">
                <a:solidFill>
                  <a:srgbClr val="000000"/>
                </a:solidFill>
                <a:latin typeface="+mn-ea"/>
                <a:cs typeface="OPPOSans M" panose="00020600040101010101" charset="-122"/>
                <a:sym typeface="+mn-ea"/>
              </a:rPr>
              <a:t>"</a:t>
            </a:r>
            <a:r>
              <a:rPr lang="zh-CN" altLang="en-US" sz="900" dirty="0">
                <a:solidFill>
                  <a:srgbClr val="000000"/>
                </a:solidFill>
                <a:latin typeface="+mn-ea"/>
                <a:cs typeface="OPPOSans M" panose="00020600040101010101" charset="-122"/>
                <a:sym typeface="+mn-ea"/>
              </a:rPr>
              <a:t>的基础底座</a:t>
            </a:r>
            <a:endParaRPr lang="zh-CN" altLang="en-US" sz="900" b="0" dirty="0">
              <a:solidFill>
                <a:srgbClr val="000000"/>
              </a:solidFill>
              <a:latin typeface="+mn-ea"/>
              <a:cs typeface="OPPOSans M" panose="00020600040101010101" charset="-122"/>
              <a:sym typeface="+mn-ea"/>
            </a:endParaRPr>
          </a:p>
        </p:txBody>
      </p:sp>
      <p:grpSp>
        <p:nvGrpSpPr>
          <p:cNvPr id="334" name="组合 333"/>
          <p:cNvGrpSpPr/>
          <p:nvPr/>
        </p:nvGrpSpPr>
        <p:grpSpPr>
          <a:xfrm>
            <a:off x="3257414" y="5404275"/>
            <a:ext cx="2683283" cy="938006"/>
            <a:chOff x="263525" y="5306301"/>
            <a:chExt cx="2683283" cy="938006"/>
          </a:xfrm>
        </p:grpSpPr>
        <p:sp>
          <p:nvSpPr>
            <p:cNvPr id="335" name="矩形: 圆角 334"/>
            <p:cNvSpPr/>
            <p:nvPr/>
          </p:nvSpPr>
          <p:spPr>
            <a:xfrm>
              <a:off x="263525" y="5306301"/>
              <a:ext cx="2683283" cy="938006"/>
            </a:xfrm>
            <a:prstGeom prst="roundRect">
              <a:avLst>
                <a:gd name="adj" fmla="val 1279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矩形 335"/>
            <p:cNvSpPr/>
            <p:nvPr>
              <p:custDataLst>
                <p:tags r:id="rId13"/>
              </p:custDataLst>
            </p:nvPr>
          </p:nvSpPr>
          <p:spPr>
            <a:xfrm>
              <a:off x="263526" y="5388964"/>
              <a:ext cx="2683282" cy="304165"/>
            </a:xfrm>
            <a:prstGeom prst="rect">
              <a:avLst/>
            </a:prstGeom>
            <a:noFill/>
            <a:ln>
              <a:noFill/>
            </a:ln>
          </p:spPr>
          <p:txBody>
            <a:bodyPr/>
            <a:lstStyle/>
            <a:p>
              <a:pPr indent="0" algn="ctr" fontAlgn="auto">
                <a:lnSpc>
                  <a:spcPct val="120000"/>
                </a:lnSpc>
                <a:buNone/>
                <a:defRPr sz="900" b="0">
                  <a:solidFill>
                    <a:srgbClr val="5E6978"/>
                  </a:solidFill>
                </a:defRPr>
              </a:pPr>
              <a:r>
                <a:rPr lang="zh-CN" altLang="en-US" sz="1200" dirty="0">
                  <a:solidFill>
                    <a:srgbClr val="C00000"/>
                  </a:solidFill>
                  <a:latin typeface="+mj-ea"/>
                  <a:ea typeface="+mj-ea"/>
                  <a:cs typeface="OPPOSans B" panose="00020600040101010101" charset="-122"/>
                </a:rPr>
                <a:t>百川产品线｜智能设备单机底座</a:t>
              </a:r>
              <a:endParaRPr lang="zh-CN" altLang="en-US" sz="1200" dirty="0">
                <a:solidFill>
                  <a:srgbClr val="C00000"/>
                </a:solidFill>
                <a:latin typeface="+mj-ea"/>
                <a:ea typeface="+mj-ea"/>
                <a:cs typeface="OPPOSans B" panose="00020600040101010101" charset="-122"/>
              </a:endParaRPr>
            </a:p>
          </p:txBody>
        </p:sp>
        <p:sp>
          <p:nvSpPr>
            <p:cNvPr id="337" name="矩形 336"/>
            <p:cNvSpPr/>
            <p:nvPr>
              <p:custDataLst>
                <p:tags r:id="rId14"/>
              </p:custDataLst>
            </p:nvPr>
          </p:nvSpPr>
          <p:spPr>
            <a:xfrm>
              <a:off x="348344" y="5693129"/>
              <a:ext cx="2518431" cy="500842"/>
            </a:xfrm>
            <a:prstGeom prst="rect">
              <a:avLst/>
            </a:prstGeom>
            <a:noFill/>
            <a:ln>
              <a:noFill/>
            </a:ln>
          </p:spPr>
          <p:txBody>
            <a:bodyPr/>
            <a:lstStyle/>
            <a:p>
              <a:pPr>
                <a:lnSpc>
                  <a:spcPct val="150000"/>
                </a:lnSpc>
                <a:defRPr sz="900" b="0">
                  <a:solidFill>
                    <a:srgbClr val="5E6978"/>
                  </a:solidFill>
                </a:defRPr>
              </a:pPr>
              <a:r>
                <a:rPr lang="zh-CN" altLang="en-US" sz="800" dirty="0">
                  <a:solidFill>
                    <a:schemeClr val="tx1">
                      <a:lumMod val="75000"/>
                      <a:lumOff val="25000"/>
                    </a:schemeClr>
                  </a:solidFill>
                  <a:latin typeface="+mn-ea"/>
                  <a:ea typeface="Noto Sans SC" panose="020B0200000000000000" charset="-122"/>
                  <a:cs typeface="OPPOSans M" panose="00020600040101010101" charset="-122"/>
                </a:rPr>
                <a:t>覆盖设备设计、装机、软硬件集成、调试、运行与运维，支撑客户自主制造和交付工业智能设备</a:t>
              </a:r>
              <a:endParaRPr lang="zh-CN" altLang="en-US" sz="800" dirty="0">
                <a:solidFill>
                  <a:schemeClr val="tx1">
                    <a:lumMod val="75000"/>
                    <a:lumOff val="25000"/>
                  </a:schemeClr>
                </a:solidFill>
                <a:latin typeface="+mn-ea"/>
                <a:ea typeface="Noto Sans SC" panose="020B0200000000000000" charset="-122"/>
                <a:cs typeface="OPPOSans M" panose="00020600040101010101" charset="-122"/>
              </a:endParaRPr>
            </a:p>
          </p:txBody>
        </p:sp>
      </p:grpSp>
      <p:grpSp>
        <p:nvGrpSpPr>
          <p:cNvPr id="338" name="组合 337"/>
          <p:cNvGrpSpPr/>
          <p:nvPr/>
        </p:nvGrpSpPr>
        <p:grpSpPr>
          <a:xfrm>
            <a:off x="6251303" y="5404275"/>
            <a:ext cx="2683283" cy="938006"/>
            <a:chOff x="263525" y="5306301"/>
            <a:chExt cx="2683283" cy="938006"/>
          </a:xfrm>
        </p:grpSpPr>
        <p:sp>
          <p:nvSpPr>
            <p:cNvPr id="339" name="矩形: 圆角 338"/>
            <p:cNvSpPr/>
            <p:nvPr/>
          </p:nvSpPr>
          <p:spPr>
            <a:xfrm>
              <a:off x="263525" y="5306301"/>
              <a:ext cx="2683283" cy="938006"/>
            </a:xfrm>
            <a:prstGeom prst="roundRect">
              <a:avLst>
                <a:gd name="adj" fmla="val 1279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p:cNvSpPr/>
            <p:nvPr>
              <p:custDataLst>
                <p:tags r:id="rId15"/>
              </p:custDataLst>
            </p:nvPr>
          </p:nvSpPr>
          <p:spPr>
            <a:xfrm>
              <a:off x="263526" y="5388964"/>
              <a:ext cx="2683282" cy="304165"/>
            </a:xfrm>
            <a:prstGeom prst="rect">
              <a:avLst/>
            </a:prstGeom>
            <a:noFill/>
            <a:ln>
              <a:noFill/>
            </a:ln>
          </p:spPr>
          <p:txBody>
            <a:bodyPr/>
            <a:lstStyle/>
            <a:p>
              <a:pPr indent="0" algn="ctr" fontAlgn="auto">
                <a:lnSpc>
                  <a:spcPct val="120000"/>
                </a:lnSpc>
                <a:buNone/>
                <a:defRPr sz="900" b="0">
                  <a:solidFill>
                    <a:srgbClr val="5E6978"/>
                  </a:solidFill>
                </a:defRPr>
              </a:pPr>
              <a:r>
                <a:rPr lang="zh-CN" altLang="en-US" sz="1200" dirty="0">
                  <a:solidFill>
                    <a:srgbClr val="111827"/>
                  </a:solidFill>
                  <a:latin typeface="+mj-ea"/>
                  <a:ea typeface="+mj-ea"/>
                  <a:cs typeface="OPPOSans B" panose="00020600040101010101" charset="-122"/>
                </a:rPr>
                <a:t>开放平台｜能力供给与生态连接</a:t>
              </a:r>
              <a:endParaRPr lang="zh-CN" altLang="en-US" sz="1200" dirty="0">
                <a:solidFill>
                  <a:srgbClr val="111827"/>
                </a:solidFill>
                <a:latin typeface="+mj-ea"/>
                <a:ea typeface="+mj-ea"/>
                <a:cs typeface="OPPOSans B" panose="00020600040101010101" charset="-122"/>
              </a:endParaRPr>
            </a:p>
          </p:txBody>
        </p:sp>
        <p:sp>
          <p:nvSpPr>
            <p:cNvPr id="341" name="矩形 340"/>
            <p:cNvSpPr/>
            <p:nvPr>
              <p:custDataLst>
                <p:tags r:id="rId16"/>
              </p:custDataLst>
            </p:nvPr>
          </p:nvSpPr>
          <p:spPr>
            <a:xfrm>
              <a:off x="348344" y="5693129"/>
              <a:ext cx="2518431" cy="500842"/>
            </a:xfrm>
            <a:prstGeom prst="rect">
              <a:avLst/>
            </a:prstGeom>
            <a:noFill/>
            <a:ln>
              <a:noFill/>
            </a:ln>
          </p:spPr>
          <p:txBody>
            <a:bodyPr/>
            <a:lstStyle/>
            <a:p>
              <a:pPr>
                <a:lnSpc>
                  <a:spcPct val="150000"/>
                </a:lnSpc>
                <a:defRPr sz="900" b="0">
                  <a:solidFill>
                    <a:srgbClr val="5E6978"/>
                  </a:solidFill>
                </a:defRPr>
              </a:pPr>
              <a:r>
                <a:rPr lang="zh-CN" altLang="en-US" sz="800" dirty="0">
                  <a:solidFill>
                    <a:schemeClr val="tx1">
                      <a:lumMod val="75000"/>
                      <a:lumOff val="25000"/>
                    </a:schemeClr>
                  </a:solidFill>
                  <a:latin typeface="+mn-ea"/>
                  <a:ea typeface="Noto Sans SC" panose="020B0200000000000000" charset="-122"/>
                  <a:cs typeface="OPPOSans M" panose="00020600040101010101" charset="-122"/>
                </a:rPr>
                <a:t>连接开发者、供应商与集成商，实现插件、算法、工艺包和关键部件的统一开发、认证与分发</a:t>
              </a:r>
              <a:endParaRPr lang="zh-CN" altLang="en-US" sz="800" dirty="0">
                <a:solidFill>
                  <a:schemeClr val="tx1">
                    <a:lumMod val="75000"/>
                    <a:lumOff val="25000"/>
                  </a:schemeClr>
                </a:solidFill>
                <a:latin typeface="+mn-ea"/>
                <a:ea typeface="Noto Sans SC" panose="020B0200000000000000" charset="-122"/>
                <a:cs typeface="OPPOSans M" panose="00020600040101010101" charset="-122"/>
              </a:endParaRPr>
            </a:p>
          </p:txBody>
        </p:sp>
      </p:grpSp>
      <p:grpSp>
        <p:nvGrpSpPr>
          <p:cNvPr id="342" name="组合 341"/>
          <p:cNvGrpSpPr/>
          <p:nvPr/>
        </p:nvGrpSpPr>
        <p:grpSpPr>
          <a:xfrm>
            <a:off x="9245192" y="5404275"/>
            <a:ext cx="2683283" cy="938006"/>
            <a:chOff x="263525" y="5306301"/>
            <a:chExt cx="2683283" cy="938006"/>
          </a:xfrm>
        </p:grpSpPr>
        <p:sp>
          <p:nvSpPr>
            <p:cNvPr id="343" name="矩形: 圆角 342"/>
            <p:cNvSpPr/>
            <p:nvPr/>
          </p:nvSpPr>
          <p:spPr>
            <a:xfrm>
              <a:off x="263525" y="5306301"/>
              <a:ext cx="2683283" cy="938006"/>
            </a:xfrm>
            <a:prstGeom prst="roundRect">
              <a:avLst>
                <a:gd name="adj" fmla="val 12794"/>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4" name="矩形 343"/>
            <p:cNvSpPr/>
            <p:nvPr>
              <p:custDataLst>
                <p:tags r:id="rId17"/>
              </p:custDataLst>
            </p:nvPr>
          </p:nvSpPr>
          <p:spPr>
            <a:xfrm>
              <a:off x="263526" y="5388964"/>
              <a:ext cx="2683282" cy="304165"/>
            </a:xfrm>
            <a:prstGeom prst="rect">
              <a:avLst/>
            </a:prstGeom>
            <a:noFill/>
            <a:ln>
              <a:noFill/>
            </a:ln>
          </p:spPr>
          <p:txBody>
            <a:bodyPr/>
            <a:lstStyle/>
            <a:p>
              <a:pPr indent="0" algn="ctr" fontAlgn="auto">
                <a:lnSpc>
                  <a:spcPct val="120000"/>
                </a:lnSpc>
                <a:buNone/>
                <a:defRPr sz="900" b="0">
                  <a:solidFill>
                    <a:srgbClr val="5E6978"/>
                  </a:solidFill>
                </a:defRPr>
              </a:pPr>
              <a:r>
                <a:rPr lang="zh-CN" altLang="en-US" sz="1200" dirty="0">
                  <a:solidFill>
                    <a:srgbClr val="111827"/>
                  </a:solidFill>
                  <a:latin typeface="+mj-ea"/>
                  <a:ea typeface="+mj-ea"/>
                  <a:cs typeface="OPPOSans B" panose="00020600040101010101" charset="-122"/>
                </a:rPr>
                <a:t>天工产品线｜数字工厂基础底座</a:t>
              </a:r>
              <a:endParaRPr lang="zh-CN" altLang="en-US" sz="1200" dirty="0">
                <a:solidFill>
                  <a:srgbClr val="111827"/>
                </a:solidFill>
                <a:latin typeface="+mj-ea"/>
                <a:ea typeface="+mj-ea"/>
                <a:cs typeface="OPPOSans B" panose="00020600040101010101" charset="-122"/>
              </a:endParaRPr>
            </a:p>
          </p:txBody>
        </p:sp>
        <p:sp>
          <p:nvSpPr>
            <p:cNvPr id="345" name="矩形 344"/>
            <p:cNvSpPr/>
            <p:nvPr>
              <p:custDataLst>
                <p:tags r:id="rId18"/>
              </p:custDataLst>
            </p:nvPr>
          </p:nvSpPr>
          <p:spPr>
            <a:xfrm>
              <a:off x="348344" y="5693129"/>
              <a:ext cx="2518431" cy="500842"/>
            </a:xfrm>
            <a:prstGeom prst="rect">
              <a:avLst/>
            </a:prstGeom>
            <a:noFill/>
            <a:ln>
              <a:noFill/>
            </a:ln>
          </p:spPr>
          <p:txBody>
            <a:bodyPr/>
            <a:lstStyle/>
            <a:p>
              <a:pPr>
                <a:lnSpc>
                  <a:spcPct val="150000"/>
                </a:lnSpc>
                <a:defRPr sz="900" b="0">
                  <a:solidFill>
                    <a:srgbClr val="5E6978"/>
                  </a:solidFill>
                </a:defRPr>
              </a:pPr>
              <a:r>
                <a:rPr lang="zh-CN" altLang="en-US" sz="800" dirty="0">
                  <a:solidFill>
                    <a:schemeClr val="tx1">
                      <a:lumMod val="75000"/>
                      <a:lumOff val="25000"/>
                    </a:schemeClr>
                  </a:solidFill>
                  <a:latin typeface="+mn-ea"/>
                  <a:ea typeface="Noto Sans SC" panose="020B0200000000000000" charset="-122"/>
                  <a:cs typeface="OPPOSans M" panose="00020600040101010101" charset="-122"/>
                </a:rPr>
                <a:t>连接设备、数据与控制能力，支撑多机调度、边缘数采、数字孪生、数字看板及</a:t>
              </a:r>
              <a:r>
                <a:rPr lang="en-US" altLang="zh-CN" sz="800" dirty="0">
                  <a:solidFill>
                    <a:schemeClr val="tx1">
                      <a:lumMod val="75000"/>
                      <a:lumOff val="25000"/>
                    </a:schemeClr>
                  </a:solidFill>
                  <a:latin typeface="+mn-ea"/>
                  <a:ea typeface="Noto Sans SC" panose="020B0200000000000000" charset="-122"/>
                  <a:cs typeface="OPPOSans M" panose="00020600040101010101" charset="-122"/>
                </a:rPr>
                <a:t>MES、WMS</a:t>
              </a:r>
              <a:r>
                <a:rPr lang="zh-CN" altLang="en-US" sz="800" dirty="0">
                  <a:solidFill>
                    <a:schemeClr val="tx1">
                      <a:lumMod val="75000"/>
                      <a:lumOff val="25000"/>
                    </a:schemeClr>
                  </a:solidFill>
                  <a:latin typeface="+mn-ea"/>
                  <a:ea typeface="Noto Sans SC" panose="020B0200000000000000" charset="-122"/>
                  <a:cs typeface="OPPOSans M" panose="00020600040101010101" charset="-122"/>
                </a:rPr>
                <a:t>等应用</a:t>
              </a:r>
              <a:endParaRPr lang="zh-CN" altLang="en-US" sz="800" dirty="0">
                <a:solidFill>
                  <a:schemeClr val="tx1">
                    <a:lumMod val="75000"/>
                    <a:lumOff val="25000"/>
                  </a:schemeClr>
                </a:solidFill>
                <a:latin typeface="+mn-ea"/>
                <a:ea typeface="Noto Sans SC" panose="020B0200000000000000" charset="-122"/>
                <a:cs typeface="OPPOSans M" panose="00020600040101010101"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矩形: 圆角 158"/>
          <p:cNvSpPr/>
          <p:nvPr/>
        </p:nvSpPr>
        <p:spPr>
          <a:xfrm>
            <a:off x="263525" y="653860"/>
            <a:ext cx="11664950" cy="5943790"/>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8" name="组合 127"/>
          <p:cNvGrpSpPr/>
          <p:nvPr/>
        </p:nvGrpSpPr>
        <p:grpSpPr>
          <a:xfrm>
            <a:off x="422949" y="789835"/>
            <a:ext cx="2672464" cy="511346"/>
            <a:chOff x="440850" y="700068"/>
            <a:chExt cx="2672464" cy="511346"/>
          </a:xfrm>
        </p:grpSpPr>
        <p:sp>
          <p:nvSpPr>
            <p:cNvPr id="56" name="矩形: 圆顶角 55"/>
            <p:cNvSpPr/>
            <p:nvPr/>
          </p:nvSpPr>
          <p:spPr>
            <a:xfrm rot="16200000">
              <a:off x="429591" y="711327"/>
              <a:ext cx="511346" cy="488828"/>
            </a:xfrm>
            <a:prstGeom prst="round2SameRect">
              <a:avLst>
                <a:gd name="adj1" fmla="val 28556"/>
                <a:gd name="adj2" fmla="val 0"/>
              </a:avLst>
            </a:prstGeom>
            <a:solidFill>
              <a:srgbClr val="E6E6EA"/>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pic>
          <p:nvPicPr>
            <p:cNvPr id="255" name="图片 25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4033" y="859497"/>
              <a:ext cx="195943" cy="192485"/>
            </a:xfrm>
            <a:prstGeom prst="rect">
              <a:avLst/>
            </a:prstGeom>
          </p:spPr>
        </p:pic>
        <p:sp>
          <p:nvSpPr>
            <p:cNvPr id="57" name="矩形: 圆顶角 56"/>
            <p:cNvSpPr/>
            <p:nvPr/>
          </p:nvSpPr>
          <p:spPr>
            <a:xfrm rot="16200000" flipV="1">
              <a:off x="1765822" y="-136078"/>
              <a:ext cx="511346" cy="2183638"/>
            </a:xfrm>
            <a:prstGeom prst="round2SameRect">
              <a:avLst>
                <a:gd name="adj1" fmla="val 21502"/>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nvGrpSpPr>
            <p:cNvPr id="61" name="组合 60"/>
            <p:cNvGrpSpPr/>
            <p:nvPr/>
          </p:nvGrpSpPr>
          <p:grpSpPr>
            <a:xfrm>
              <a:off x="1037310" y="817597"/>
              <a:ext cx="1192983" cy="337242"/>
              <a:chOff x="1702453" y="850613"/>
              <a:chExt cx="1192983" cy="337242"/>
            </a:xfrm>
          </p:grpSpPr>
          <p:sp>
            <p:nvSpPr>
              <p:cNvPr id="58" name="textbox 202"/>
              <p:cNvSpPr/>
              <p:nvPr/>
            </p:nvSpPr>
            <p:spPr>
              <a:xfrm>
                <a:off x="1711161" y="850613"/>
                <a:ext cx="875589" cy="141323"/>
              </a:xfrm>
              <a:prstGeom prst="rect">
                <a:avLst/>
              </a:prstGeom>
              <a:noFill/>
              <a:ln w="0" cap="flat">
                <a:noFill/>
                <a:prstDash val="solid"/>
                <a:miter lim="0"/>
              </a:ln>
            </p:spPr>
            <p:txBody>
              <a:bodyPr vert="horz" wrap="square" lIns="0" tIns="0" rIns="0" bIns="0"/>
              <a:lstStyle/>
              <a:p>
                <a:pPr rtl="0" eaLnBrk="0">
                  <a:lnSpc>
                    <a:spcPct val="84000"/>
                  </a:lnSpc>
                </a:pPr>
                <a:endParaRPr lang="zh-CN" altLang="en-US" sz="115" dirty="0">
                  <a:latin typeface="Arial" panose="020B0604020202020204"/>
                  <a:ea typeface="Arial" panose="020B0604020202020204"/>
                  <a:cs typeface="Arial" panose="020B0604020202020204"/>
                </a:endParaRPr>
              </a:p>
              <a:p>
                <a:pPr marL="15875"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标准硬件</a:t>
                </a:r>
                <a:endParaRPr lang="zh-CN" altLang="en-US" sz="300" dirty="0">
                  <a:latin typeface="Arial" panose="020B0604020202020204"/>
                  <a:ea typeface="Arial" panose="020B0604020202020204"/>
                  <a:cs typeface="Arial" panose="020B0604020202020204"/>
                </a:endParaRPr>
              </a:p>
              <a:p>
                <a:pPr rtl="0" eaLnBrk="0">
                  <a:lnSpc>
                    <a:spcPct val="189000"/>
                  </a:lnSpc>
                </a:pPr>
                <a:endParaRPr sz="115" dirty="0">
                  <a:latin typeface="Arial" panose="020B0604020202020204"/>
                  <a:ea typeface="Arial" panose="020B0604020202020204"/>
                  <a:cs typeface="Arial" panose="020B0604020202020204"/>
                </a:endParaRPr>
              </a:p>
            </p:txBody>
          </p:sp>
          <p:sp>
            <p:nvSpPr>
              <p:cNvPr id="59" name="textbox 202"/>
              <p:cNvSpPr/>
              <p:nvPr/>
            </p:nvSpPr>
            <p:spPr>
              <a:xfrm>
                <a:off x="1702453" y="940593"/>
                <a:ext cx="1192983" cy="247262"/>
              </a:xfrm>
              <a:prstGeom prst="rect">
                <a:avLst/>
              </a:prstGeom>
              <a:noFill/>
              <a:ln w="0" cap="flat">
                <a:noFill/>
                <a:prstDash val="solid"/>
                <a:miter lim="0"/>
              </a:ln>
            </p:spPr>
            <p:txBody>
              <a:bodyPr vert="horz" wrap="square" lIns="0" tIns="0" rIns="0" bIns="0"/>
              <a:lstStyle/>
              <a:p>
                <a:pPr rtl="0" eaLnBrk="0">
                  <a:lnSpc>
                    <a:spcPct val="84000"/>
                  </a:lnSpc>
                </a:pPr>
                <a:r>
                  <a:rPr lang="zh-CN" altLang="en-US" sz="800" dirty="0">
                    <a:latin typeface="+mn-ea"/>
                    <a:cs typeface="Arial" panose="020B0604020202020204"/>
                  </a:rPr>
                  <a:t> </a:t>
                </a:r>
                <a:endParaRPr lang="zh-CN" altLang="en-US" sz="800" dirty="0">
                  <a:latin typeface="+mn-ea"/>
                  <a:cs typeface="Arial" panose="020B0604020202020204"/>
                </a:endParaRPr>
              </a:p>
              <a:p>
                <a:pPr marL="14605" eaLnBrk="0">
                  <a:lnSpc>
                    <a:spcPct val="87000"/>
                  </a:lnSpc>
                </a:pPr>
                <a:r>
                  <a:rPr lang="zh-CN" altLang="en-US" sz="700" kern="0" spc="-23" dirty="0">
                    <a:solidFill>
                      <a:srgbClr val="3E3A39">
                        <a:alpha val="100000"/>
                      </a:srgbClr>
                    </a:solidFill>
                    <a:latin typeface="+mn-ea"/>
                    <a:cs typeface="OPPOSans R" panose="00020600040101010101" pitchFamily="18" charset="-122"/>
                  </a:rPr>
                  <a:t>控制器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标准模组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统一接口</a:t>
                </a:r>
                <a:endParaRPr lang="zh-CN" altLang="en-US" sz="700" kern="0" spc="-23" dirty="0">
                  <a:solidFill>
                    <a:srgbClr val="3E3A39">
                      <a:alpha val="100000"/>
                    </a:srgbClr>
                  </a:solidFill>
                  <a:latin typeface="+mn-ea"/>
                  <a:cs typeface="OPPOSans R" panose="00020600040101010101" pitchFamily="18" charset="-122"/>
                </a:endParaRPr>
              </a:p>
            </p:txBody>
          </p:sp>
        </p:grpSp>
      </p:grpSp>
      <p:sp>
        <p:nvSpPr>
          <p:cNvPr id="266" name="矩形: 圆顶角 265"/>
          <p:cNvSpPr/>
          <p:nvPr/>
        </p:nvSpPr>
        <p:spPr>
          <a:xfrm>
            <a:off x="1326931" y="5556870"/>
            <a:ext cx="8998135" cy="342987"/>
          </a:xfrm>
          <a:prstGeom prst="round2SameRect">
            <a:avLst>
              <a:gd name="adj1" fmla="val 36730"/>
              <a:gd name="adj2" fmla="val 0"/>
            </a:avLst>
          </a:prstGeom>
          <a:solidFill>
            <a:srgbClr val="E6E6EA"/>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26" name="矩形: 圆顶角 225"/>
          <p:cNvSpPr/>
          <p:nvPr/>
        </p:nvSpPr>
        <p:spPr>
          <a:xfrm>
            <a:off x="10737656" y="1436914"/>
            <a:ext cx="1011877" cy="950946"/>
          </a:xfrm>
          <a:prstGeom prst="round2SameRect">
            <a:avLst>
              <a:gd name="adj1" fmla="val 13507"/>
              <a:gd name="adj2" fmla="val 0"/>
            </a:avLst>
          </a:prstGeom>
          <a:solidFill>
            <a:srgbClr val="E6E6EA"/>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64" name="矩形: 圆顶角 263"/>
          <p:cNvSpPr/>
          <p:nvPr/>
        </p:nvSpPr>
        <p:spPr>
          <a:xfrm flipV="1">
            <a:off x="10737656" y="2387859"/>
            <a:ext cx="1011877" cy="4076785"/>
          </a:xfrm>
          <a:prstGeom prst="round2SameRect">
            <a:avLst>
              <a:gd name="adj1" fmla="val 12135"/>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27" name="矩形: 圆顶角 226"/>
          <p:cNvSpPr/>
          <p:nvPr/>
        </p:nvSpPr>
        <p:spPr>
          <a:xfrm flipV="1">
            <a:off x="1330437" y="5854074"/>
            <a:ext cx="8998132" cy="610573"/>
          </a:xfrm>
          <a:prstGeom prst="round2SameRect">
            <a:avLst>
              <a:gd name="adj1" fmla="val 2032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40" name="矩形: 圆角 239"/>
          <p:cNvSpPr/>
          <p:nvPr/>
        </p:nvSpPr>
        <p:spPr>
          <a:xfrm>
            <a:off x="3677311" y="5976037"/>
            <a:ext cx="2058743" cy="366647"/>
          </a:xfrm>
          <a:prstGeom prst="roundRect">
            <a:avLst>
              <a:gd name="adj" fmla="val 28118"/>
            </a:avLst>
          </a:prstGeom>
          <a:solidFill>
            <a:schemeClr val="bg1"/>
          </a:solidFill>
          <a:ln w="6350">
            <a:solidFill>
              <a:srgbClr val="E6E6EA"/>
            </a:solidFill>
          </a:ln>
          <a:effectLst>
            <a:outerShdw blurRad="635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1" name="矩形: 圆角 240"/>
          <p:cNvSpPr/>
          <p:nvPr/>
        </p:nvSpPr>
        <p:spPr>
          <a:xfrm>
            <a:off x="5908415" y="5976037"/>
            <a:ext cx="2058743" cy="366647"/>
          </a:xfrm>
          <a:prstGeom prst="roundRect">
            <a:avLst>
              <a:gd name="adj" fmla="val 28118"/>
            </a:avLst>
          </a:prstGeom>
          <a:solidFill>
            <a:schemeClr val="bg1"/>
          </a:solidFill>
          <a:ln w="6350">
            <a:solidFill>
              <a:srgbClr val="E6E6EA"/>
            </a:solidFill>
          </a:ln>
          <a:effectLst>
            <a:outerShdw blurRad="635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2" name="矩形: 圆角 241"/>
          <p:cNvSpPr/>
          <p:nvPr/>
        </p:nvSpPr>
        <p:spPr>
          <a:xfrm>
            <a:off x="8139520" y="5976037"/>
            <a:ext cx="2058743" cy="366647"/>
          </a:xfrm>
          <a:prstGeom prst="roundRect">
            <a:avLst>
              <a:gd name="adj" fmla="val 28118"/>
            </a:avLst>
          </a:prstGeom>
          <a:solidFill>
            <a:schemeClr val="bg1"/>
          </a:solidFill>
          <a:ln w="6350">
            <a:solidFill>
              <a:srgbClr val="E6E6EA"/>
            </a:solidFill>
          </a:ln>
          <a:effectLst>
            <a:outerShdw blurRad="635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3" name="矩形: 圆角 242"/>
          <p:cNvSpPr/>
          <p:nvPr/>
        </p:nvSpPr>
        <p:spPr>
          <a:xfrm>
            <a:off x="1440172" y="5976037"/>
            <a:ext cx="2058743" cy="366647"/>
          </a:xfrm>
          <a:prstGeom prst="roundRect">
            <a:avLst>
              <a:gd name="adj" fmla="val 28118"/>
            </a:avLst>
          </a:prstGeom>
          <a:solidFill>
            <a:schemeClr val="bg1"/>
          </a:solidFill>
          <a:ln w="6350">
            <a:solidFill>
              <a:srgbClr val="E6E6EA"/>
            </a:solidFill>
          </a:ln>
          <a:effectLst>
            <a:outerShdw blurRad="635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9" name="矩形: 圆角 228"/>
          <p:cNvSpPr/>
          <p:nvPr/>
        </p:nvSpPr>
        <p:spPr>
          <a:xfrm>
            <a:off x="422949" y="1436915"/>
            <a:ext cx="754054" cy="5027731"/>
          </a:xfrm>
          <a:prstGeom prst="roundRect">
            <a:avLst>
              <a:gd name="adj" fmla="val 16262"/>
            </a:avLst>
          </a:prstGeom>
          <a:solidFill>
            <a:srgbClr val="E6E6EA"/>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7" name="矩形: 圆顶角 166"/>
          <p:cNvSpPr/>
          <p:nvPr/>
        </p:nvSpPr>
        <p:spPr>
          <a:xfrm>
            <a:off x="1326931" y="4174394"/>
            <a:ext cx="8998135" cy="342987"/>
          </a:xfrm>
          <a:prstGeom prst="round2SameRect">
            <a:avLst>
              <a:gd name="adj1" fmla="val 36730"/>
              <a:gd name="adj2" fmla="val 0"/>
            </a:avLst>
          </a:prstGeom>
          <a:solidFill>
            <a:srgbClr val="E6E6EA"/>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69" name="矩形: 圆顶角 168"/>
          <p:cNvSpPr/>
          <p:nvPr/>
        </p:nvSpPr>
        <p:spPr>
          <a:xfrm flipV="1">
            <a:off x="1330437" y="4482464"/>
            <a:ext cx="8998132" cy="828405"/>
          </a:xfrm>
          <a:prstGeom prst="round2SameRect">
            <a:avLst>
              <a:gd name="adj1" fmla="val 16761"/>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183" name="矩形: 圆角 182"/>
          <p:cNvSpPr/>
          <p:nvPr/>
        </p:nvSpPr>
        <p:spPr>
          <a:xfrm>
            <a:off x="2858193"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5" name="矩形: 圆角 184"/>
          <p:cNvSpPr/>
          <p:nvPr/>
        </p:nvSpPr>
        <p:spPr>
          <a:xfrm>
            <a:off x="3935606"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矩形: 圆角 186"/>
          <p:cNvSpPr/>
          <p:nvPr/>
        </p:nvSpPr>
        <p:spPr>
          <a:xfrm>
            <a:off x="5013019"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矩形: 圆角 188"/>
          <p:cNvSpPr/>
          <p:nvPr/>
        </p:nvSpPr>
        <p:spPr>
          <a:xfrm>
            <a:off x="6090433"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矩形: 圆角 190"/>
          <p:cNvSpPr/>
          <p:nvPr/>
        </p:nvSpPr>
        <p:spPr>
          <a:xfrm>
            <a:off x="7167846"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矩形: 圆角 192"/>
          <p:cNvSpPr/>
          <p:nvPr/>
        </p:nvSpPr>
        <p:spPr>
          <a:xfrm>
            <a:off x="8245259"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圆角 194"/>
          <p:cNvSpPr/>
          <p:nvPr/>
        </p:nvSpPr>
        <p:spPr>
          <a:xfrm>
            <a:off x="9322674" y="4629467"/>
            <a:ext cx="876809" cy="556870"/>
          </a:xfrm>
          <a:prstGeom prst="roundRect">
            <a:avLst/>
          </a:prstGeom>
          <a:solidFill>
            <a:schemeClr val="bg1"/>
          </a:solidFill>
          <a:ln w="6350">
            <a:solidFill>
              <a:srgbClr val="E6E6EA"/>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矩形: 圆角 196"/>
          <p:cNvSpPr/>
          <p:nvPr/>
        </p:nvSpPr>
        <p:spPr>
          <a:xfrm>
            <a:off x="1440172" y="4629467"/>
            <a:ext cx="1210614" cy="556870"/>
          </a:xfrm>
          <a:prstGeom prst="roundRect">
            <a:avLst/>
          </a:prstGeom>
          <a:solidFill>
            <a:srgbClr val="E6E6EA"/>
          </a:solidFill>
          <a:ln w="6350">
            <a:no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3" name="组合 22"/>
          <p:cNvGrpSpPr/>
          <p:nvPr/>
        </p:nvGrpSpPr>
        <p:grpSpPr>
          <a:xfrm>
            <a:off x="1320298" y="1422731"/>
            <a:ext cx="8998135" cy="1139064"/>
            <a:chOff x="1317171" y="1560078"/>
            <a:chExt cx="8998135" cy="1139064"/>
          </a:xfrm>
        </p:grpSpPr>
        <p:sp>
          <p:nvSpPr>
            <p:cNvPr id="6" name="矩形: 圆顶角 5"/>
            <p:cNvSpPr/>
            <p:nvPr/>
          </p:nvSpPr>
          <p:spPr>
            <a:xfrm>
              <a:off x="1317171" y="1560078"/>
              <a:ext cx="8998135" cy="342987"/>
            </a:xfrm>
            <a:prstGeom prst="round2SameRect">
              <a:avLst>
                <a:gd name="adj1" fmla="val 36730"/>
                <a:gd name="adj2" fmla="val 0"/>
              </a:avLst>
            </a:prstGeom>
            <a:solidFill>
              <a:srgbClr val="003AF2"/>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7" name="矩形: 圆顶角 6"/>
            <p:cNvSpPr/>
            <p:nvPr/>
          </p:nvSpPr>
          <p:spPr>
            <a:xfrm flipV="1">
              <a:off x="1317171" y="1870737"/>
              <a:ext cx="8998132" cy="828405"/>
            </a:xfrm>
            <a:prstGeom prst="round2SameRect">
              <a:avLst>
                <a:gd name="adj1" fmla="val 16761"/>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8" name="组合 7"/>
            <p:cNvGrpSpPr/>
            <p:nvPr/>
          </p:nvGrpSpPr>
          <p:grpSpPr>
            <a:xfrm>
              <a:off x="9676490" y="1646664"/>
              <a:ext cx="476057" cy="113943"/>
              <a:chOff x="5298623" y="1396154"/>
              <a:chExt cx="507580" cy="121488"/>
            </a:xfrm>
          </p:grpSpPr>
          <p:sp>
            <p:nvSpPr>
              <p:cNvPr id="9" name="椭圆 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custDataLst>
                <p:tags r:id="rId2"/>
              </p:custDataLst>
            </p:nvPr>
          </p:nvSpPr>
          <p:spPr>
            <a:xfrm>
              <a:off x="1440171" y="1612186"/>
              <a:ext cx="3006620" cy="267781"/>
            </a:xfrm>
            <a:prstGeom prst="rect">
              <a:avLst/>
            </a:prstGeom>
            <a:noFill/>
            <a:ln>
              <a:noFill/>
            </a:ln>
          </p:spPr>
          <p:txBody>
            <a:bodyPr/>
            <a:lstStyle/>
            <a:p>
              <a:r>
                <a:rPr lang="zh-CN" altLang="en-US" sz="900" dirty="0">
                  <a:solidFill>
                    <a:schemeClr val="bg1"/>
                  </a:solidFill>
                  <a:latin typeface="OPPOSans M" panose="00020600040101010101" charset="-122"/>
                  <a:ea typeface="OPPOSans M" panose="00020600040101010101" charset="-122"/>
                  <a:cs typeface="OPPOSans M" panose="00020600040101010101" charset="-122"/>
                </a:rPr>
                <a:t>天工平台</a:t>
              </a:r>
              <a:r>
                <a:rPr lang="en-US" altLang="zh-CN" sz="900" dirty="0">
                  <a:solidFill>
                    <a:schemeClr val="bg1"/>
                  </a:solidFill>
                  <a:latin typeface="OPPOSans M" panose="00020600040101010101" charset="-122"/>
                  <a:ea typeface="OPPOSans M" panose="00020600040101010101" charset="-122"/>
                  <a:cs typeface="OPPOSans M" panose="00020600040101010101" charset="-122"/>
                </a:rPr>
                <a:t>:</a:t>
              </a:r>
              <a:r>
                <a:rPr lang="zh-CN" altLang="en-US" sz="900" dirty="0">
                  <a:solidFill>
                    <a:schemeClr val="bg1"/>
                  </a:solidFill>
                  <a:latin typeface="OPPOSans M" panose="00020600040101010101" charset="-122"/>
                  <a:ea typeface="OPPOSans M" panose="00020600040101010101" charset="-122"/>
                  <a:cs typeface="OPPOSans M" panose="00020600040101010101" charset="-122"/>
                </a:rPr>
                <a:t>工厂协同的“超级大脑”</a:t>
              </a:r>
              <a:endParaRPr lang="zh-CN" altLang="en-US" sz="900" dirty="0">
                <a:solidFill>
                  <a:schemeClr val="bg1"/>
                </a:solidFill>
                <a:latin typeface="OPPOSans M" panose="00020600040101010101" charset="-122"/>
                <a:ea typeface="OPPOSans M" panose="00020600040101010101" charset="-122"/>
                <a:cs typeface="OPPOSans M" panose="00020600040101010101" charset="-122"/>
              </a:endParaRPr>
            </a:p>
          </p:txBody>
        </p:sp>
      </p:grpSp>
      <p:grpSp>
        <p:nvGrpSpPr>
          <p:cNvPr id="22" name="组合 21"/>
          <p:cNvGrpSpPr/>
          <p:nvPr/>
        </p:nvGrpSpPr>
        <p:grpSpPr>
          <a:xfrm>
            <a:off x="1440172" y="1886267"/>
            <a:ext cx="8759311" cy="556870"/>
            <a:chOff x="1440172" y="2008338"/>
            <a:chExt cx="8759311" cy="556870"/>
          </a:xfrm>
        </p:grpSpPr>
        <p:sp>
          <p:nvSpPr>
            <p:cNvPr id="14" name="矩形: 圆角 13"/>
            <p:cNvSpPr/>
            <p:nvPr/>
          </p:nvSpPr>
          <p:spPr>
            <a:xfrm>
              <a:off x="2858193"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圆角 15"/>
            <p:cNvSpPr/>
            <p:nvPr/>
          </p:nvSpPr>
          <p:spPr>
            <a:xfrm>
              <a:off x="3935606"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p:nvSpPr>
          <p:spPr>
            <a:xfrm>
              <a:off x="5013019"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6090433"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7167846"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8245259"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9322674" y="2008338"/>
              <a:ext cx="876809" cy="556870"/>
            </a:xfrm>
            <a:prstGeom prst="roundRect">
              <a:avLst/>
            </a:prstGeom>
            <a:solidFill>
              <a:schemeClr val="bg1"/>
            </a:solidFill>
            <a:ln w="6350">
              <a:solidFill>
                <a:srgbClr val="003AF2"/>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1440172" y="2008338"/>
              <a:ext cx="1210614" cy="556870"/>
            </a:xfrm>
            <a:prstGeom prst="roundRect">
              <a:avLst/>
            </a:prstGeom>
            <a:solidFill>
              <a:srgbClr val="003AF2"/>
            </a:solidFill>
            <a:ln w="6350">
              <a:no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2" name="textbox 162"/>
          <p:cNvSpPr/>
          <p:nvPr/>
        </p:nvSpPr>
        <p:spPr>
          <a:xfrm>
            <a:off x="261874" y="110966"/>
            <a:ext cx="2624497" cy="246092"/>
          </a:xfrm>
          <a:prstGeom prst="rect">
            <a:avLst/>
          </a:prstGeom>
          <a:noFill/>
          <a:ln w="0" cap="flat">
            <a:noFill/>
            <a:prstDash val="solid"/>
            <a:miter lim="0"/>
          </a:ln>
        </p:spPr>
        <p:txBody>
          <a:bodyPr vert="horz" wrap="square" lIns="0" tIns="0" rIns="0" bIns="0"/>
          <a:lstStyle/>
          <a:p>
            <a:pPr algn="l" rtl="0" eaLnBrk="0">
              <a:lnSpc>
                <a:spcPct val="86000"/>
              </a:lnSpc>
            </a:pPr>
            <a:endParaRPr sz="115" dirty="0">
              <a:latin typeface="Arial" panose="020B0604020202020204"/>
              <a:ea typeface="Arial" panose="020B0604020202020204"/>
              <a:cs typeface="Arial" panose="020B0604020202020204"/>
            </a:endParaRPr>
          </a:p>
          <a:p>
            <a:pPr marL="14605" eaLnBrk="0">
              <a:lnSpc>
                <a:spcPct val="89000"/>
              </a:lnSpc>
            </a:pPr>
            <a:r>
              <a:rPr sz="1595" kern="0" spc="103" dirty="0">
                <a:solidFill>
                  <a:srgbClr val="231815">
                    <a:alpha val="100000"/>
                  </a:srgbClr>
                </a:solidFill>
                <a:latin typeface="OPPOSans B" panose="00020600040101010101" charset="-122"/>
                <a:ea typeface="OPPOSans B" panose="00020600040101010101" charset="-122"/>
                <a:cs typeface="OPPOSans B" panose="00020600040101010101" charset="-122"/>
              </a:rPr>
              <a:t>墨影工业具身智能生态架构</a:t>
            </a:r>
            <a:endParaRPr sz="1595" dirty="0">
              <a:latin typeface="OPPOSans B" panose="00020600040101010101" charset="-122"/>
              <a:ea typeface="OPPOSans B" panose="00020600040101010101" charset="-122"/>
              <a:cs typeface="OPPOSans B" panose="00020600040101010101" charset="-122"/>
            </a:endParaRPr>
          </a:p>
        </p:txBody>
      </p:sp>
      <p:sp>
        <p:nvSpPr>
          <p:cNvPr id="174" name="textbox 174"/>
          <p:cNvSpPr/>
          <p:nvPr/>
        </p:nvSpPr>
        <p:spPr>
          <a:xfrm>
            <a:off x="9435368" y="4790596"/>
            <a:ext cx="651420" cy="266357"/>
          </a:xfrm>
          <a:prstGeom prst="rect">
            <a:avLst/>
          </a:prstGeom>
          <a:noFill/>
          <a:ln w="0" cap="flat">
            <a:noFill/>
            <a:prstDash val="solid"/>
            <a:miter lim="0"/>
          </a:ln>
        </p:spPr>
        <p:txBody>
          <a:bodyPr vert="horz" wrap="square" lIns="0" tIns="0" rIns="0" bIns="0"/>
          <a:lstStyle/>
          <a:p>
            <a:pPr algn="l" rtl="0" eaLnBrk="0">
              <a:lnSpc>
                <a:spcPct val="86000"/>
              </a:lnSpc>
            </a:pPr>
            <a:endParaRPr sz="115" dirty="0">
              <a:latin typeface="Arial" panose="020B0604020202020204"/>
              <a:ea typeface="Arial" panose="020B0604020202020204"/>
              <a:cs typeface="Arial" panose="020B0604020202020204"/>
            </a:endParaRPr>
          </a:p>
          <a:p>
            <a:pPr marL="88265" eaLnBrk="0">
              <a:lnSpc>
                <a:spcPct val="86000"/>
              </a:lnSpc>
            </a:pPr>
            <a:r>
              <a:rPr sz="910" kern="0" spc="-23"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电气通信</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19000"/>
              </a:lnSpc>
            </a:pPr>
            <a:endParaRPr sz="230" dirty="0">
              <a:latin typeface="Arial" panose="020B0604020202020204"/>
              <a:ea typeface="Arial" panose="020B0604020202020204"/>
              <a:cs typeface="Arial" panose="020B0604020202020204"/>
            </a:endParaRPr>
          </a:p>
          <a:p>
            <a:pPr marL="14605" eaLnBrk="0">
              <a:lnSpc>
                <a:spcPct val="87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IO·总线·网络·安全</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176" name="textbox 176"/>
          <p:cNvSpPr/>
          <p:nvPr/>
        </p:nvSpPr>
        <p:spPr>
          <a:xfrm>
            <a:off x="6247594" y="4790596"/>
            <a:ext cx="612333" cy="266357"/>
          </a:xfrm>
          <a:prstGeom prst="rect">
            <a:avLst/>
          </a:prstGeom>
          <a:noFill/>
          <a:ln w="0" cap="flat">
            <a:noFill/>
            <a:prstDash val="solid"/>
            <a:miter lim="0"/>
          </a:ln>
        </p:spPr>
        <p:txBody>
          <a:bodyPr vert="horz" wrap="square" lIns="0" tIns="0" rIns="0" bIns="0"/>
          <a:lstStyle/>
          <a:p>
            <a:pPr algn="l" rtl="0" eaLnBrk="0">
              <a:lnSpc>
                <a:spcPct val="85000"/>
              </a:lnSpc>
            </a:pPr>
            <a:endParaRPr sz="115" dirty="0">
              <a:latin typeface="Arial" panose="020B0604020202020204"/>
              <a:ea typeface="Arial" panose="020B0604020202020204"/>
              <a:cs typeface="Arial" panose="020B0604020202020204"/>
            </a:endParaRPr>
          </a:p>
          <a:p>
            <a:pPr marL="60960" eaLnBrk="0">
              <a:lnSpc>
                <a:spcPct val="86000"/>
              </a:lnSpc>
            </a:pPr>
            <a:r>
              <a:rPr sz="910" kern="0"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感知模组</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22000"/>
              </a:lnSpc>
            </a:pPr>
            <a:endParaRPr sz="230" dirty="0">
              <a:latin typeface="Arial" panose="020B0604020202020204"/>
              <a:ea typeface="Arial" panose="020B0604020202020204"/>
              <a:cs typeface="Arial" panose="020B0604020202020204"/>
            </a:endParaRPr>
          </a:p>
          <a:p>
            <a:pPr marL="14605" eaLnBrk="0">
              <a:lnSpc>
                <a:spcPct val="86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视觉·雷达·传感器</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186" name="textbox 186"/>
          <p:cNvSpPr/>
          <p:nvPr/>
        </p:nvSpPr>
        <p:spPr>
          <a:xfrm>
            <a:off x="4125189" y="4790714"/>
            <a:ext cx="540677" cy="266357"/>
          </a:xfrm>
          <a:prstGeom prst="rect">
            <a:avLst/>
          </a:prstGeom>
          <a:noFill/>
          <a:ln w="0" cap="flat">
            <a:noFill/>
            <a:prstDash val="solid"/>
            <a:miter lim="0"/>
          </a:ln>
        </p:spPr>
        <p:txBody>
          <a:bodyPr vert="horz" wrap="square" lIns="0" tIns="0" rIns="0" bIns="0"/>
          <a:lstStyle/>
          <a:p>
            <a:pPr algn="l" rtl="0" eaLnBrk="0">
              <a:lnSpc>
                <a:spcPct val="85000"/>
              </a:lnSpc>
            </a:pPr>
            <a:endParaRPr sz="115" dirty="0">
              <a:latin typeface="Arial" panose="020B0604020202020204"/>
              <a:ea typeface="Arial" panose="020B0604020202020204"/>
              <a:cs typeface="Arial" panose="020B0604020202020204"/>
            </a:endParaRPr>
          </a:p>
          <a:p>
            <a:pPr marL="27305" eaLnBrk="0">
              <a:lnSpc>
                <a:spcPct val="86000"/>
              </a:lnSpc>
            </a:pPr>
            <a:r>
              <a:rPr sz="910" kern="0"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移动模组</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20000"/>
              </a:lnSpc>
            </a:pPr>
            <a:endParaRPr sz="230" dirty="0">
              <a:latin typeface="Arial" panose="020B0604020202020204"/>
              <a:ea typeface="Arial" panose="020B0604020202020204"/>
              <a:cs typeface="Arial" panose="020B0604020202020204"/>
            </a:endParaRPr>
          </a:p>
          <a:p>
            <a:pPr marL="14605" eaLnBrk="0">
              <a:lnSpc>
                <a:spcPct val="87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底盘·驱动·轮组</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188" name="textbox 188"/>
          <p:cNvSpPr/>
          <p:nvPr/>
        </p:nvSpPr>
        <p:spPr>
          <a:xfrm>
            <a:off x="7360969" y="4790714"/>
            <a:ext cx="539953" cy="266357"/>
          </a:xfrm>
          <a:prstGeom prst="rect">
            <a:avLst/>
          </a:prstGeom>
          <a:noFill/>
          <a:ln w="0" cap="flat">
            <a:noFill/>
            <a:prstDash val="solid"/>
            <a:miter lim="0"/>
          </a:ln>
        </p:spPr>
        <p:txBody>
          <a:bodyPr vert="horz" wrap="square" lIns="0" tIns="0" rIns="0" bIns="0"/>
          <a:lstStyle/>
          <a:p>
            <a:pPr algn="l" rtl="0" eaLnBrk="0">
              <a:lnSpc>
                <a:spcPct val="84000"/>
              </a:lnSpc>
            </a:pPr>
            <a:endParaRPr sz="115" dirty="0">
              <a:latin typeface="Arial" panose="020B0604020202020204"/>
              <a:ea typeface="Arial" panose="020B0604020202020204"/>
              <a:cs typeface="Arial" panose="020B0604020202020204"/>
            </a:endParaRPr>
          </a:p>
          <a:p>
            <a:pPr marL="30480" eaLnBrk="0">
              <a:lnSpc>
                <a:spcPct val="86000"/>
              </a:lnSpc>
            </a:pPr>
            <a:r>
              <a:rPr lang="zh-CN" altLang="en-US" sz="910" kern="0"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工具</a:t>
            </a:r>
            <a:r>
              <a:rPr sz="910" kern="0"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模组</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21000"/>
              </a:lnSpc>
            </a:pPr>
            <a:endParaRPr sz="230" dirty="0">
              <a:latin typeface="Arial" panose="020B0604020202020204"/>
              <a:ea typeface="Arial" panose="020B0604020202020204"/>
              <a:cs typeface="Arial" panose="020B0604020202020204"/>
            </a:endParaRPr>
          </a:p>
          <a:p>
            <a:pPr marL="14605" eaLnBrk="0">
              <a:lnSpc>
                <a:spcPct val="87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夹爪·吸盘·快换</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192" name="textbox 192"/>
          <p:cNvSpPr/>
          <p:nvPr/>
        </p:nvSpPr>
        <p:spPr>
          <a:xfrm>
            <a:off x="8432065" y="4790479"/>
            <a:ext cx="534164" cy="266357"/>
          </a:xfrm>
          <a:prstGeom prst="rect">
            <a:avLst/>
          </a:prstGeom>
          <a:noFill/>
          <a:ln w="0" cap="flat">
            <a:noFill/>
            <a:prstDash val="solid"/>
            <a:miter lim="0"/>
          </a:ln>
        </p:spPr>
        <p:txBody>
          <a:bodyPr vert="horz" wrap="square" lIns="0" tIns="0" rIns="0" bIns="0"/>
          <a:lstStyle/>
          <a:p>
            <a:pPr algn="l" rtl="0" eaLnBrk="0">
              <a:lnSpc>
                <a:spcPct val="85000"/>
              </a:lnSpc>
            </a:pPr>
            <a:endParaRPr sz="115" dirty="0">
              <a:latin typeface="Arial" panose="020B0604020202020204"/>
              <a:ea typeface="Arial" panose="020B0604020202020204"/>
              <a:cs typeface="Arial" panose="020B0604020202020204"/>
            </a:endParaRPr>
          </a:p>
          <a:p>
            <a:pPr marL="25400" eaLnBrk="0">
              <a:lnSpc>
                <a:spcPct val="86000"/>
              </a:lnSpc>
            </a:pPr>
            <a:r>
              <a:rPr sz="91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能源模组</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21000"/>
              </a:lnSpc>
            </a:pPr>
            <a:endParaRPr sz="230" dirty="0">
              <a:latin typeface="Arial" panose="020B0604020202020204"/>
              <a:ea typeface="Arial" panose="020B0604020202020204"/>
              <a:cs typeface="Arial" panose="020B0604020202020204"/>
            </a:endParaRPr>
          </a:p>
          <a:p>
            <a:pPr marL="14605" eaLnBrk="0">
              <a:lnSpc>
                <a:spcPct val="86000"/>
              </a:lnSpc>
            </a:pPr>
            <a:r>
              <a:rPr sz="570" kern="0" spc="-23"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电池·充电·电源</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204" name="textbox 204"/>
          <p:cNvSpPr/>
          <p:nvPr/>
        </p:nvSpPr>
        <p:spPr>
          <a:xfrm>
            <a:off x="5199652" y="4790714"/>
            <a:ext cx="500144" cy="265634"/>
          </a:xfrm>
          <a:prstGeom prst="rect">
            <a:avLst/>
          </a:prstGeom>
          <a:noFill/>
          <a:ln w="0" cap="flat">
            <a:noFill/>
            <a:prstDash val="solid"/>
            <a:miter lim="0"/>
          </a:ln>
        </p:spPr>
        <p:txBody>
          <a:bodyPr vert="horz" wrap="square" lIns="0" tIns="0" rIns="0" bIns="0"/>
          <a:lstStyle/>
          <a:p>
            <a:pPr algn="l" rtl="0" eaLnBrk="0">
              <a:lnSpc>
                <a:spcPct val="83000"/>
              </a:lnSpc>
            </a:pPr>
            <a:endParaRPr sz="115" dirty="0">
              <a:latin typeface="Arial" panose="020B0604020202020204"/>
              <a:ea typeface="Arial" panose="020B0604020202020204"/>
              <a:cs typeface="Arial" panose="020B0604020202020204"/>
            </a:endParaRPr>
          </a:p>
          <a:p>
            <a:pPr marL="15875" eaLnBrk="0">
              <a:lnSpc>
                <a:spcPct val="86000"/>
              </a:lnSpc>
            </a:pPr>
            <a:r>
              <a:rPr lang="zh-CN" altLang="en-US" sz="910" kern="0"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执行</a:t>
            </a:r>
            <a:r>
              <a:rPr sz="910" kern="0"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模组</a:t>
            </a:r>
            <a:endParaRPr sz="910" dirty="0">
              <a:latin typeface="OPPOSans M" panose="00020600040101010101" charset="-122"/>
              <a:ea typeface="OPPOSans M" panose="00020600040101010101" charset="-122"/>
              <a:cs typeface="OPPOSans R" panose="00020600040101010101" pitchFamily="18" charset="-122"/>
            </a:endParaRPr>
          </a:p>
          <a:p>
            <a:pPr algn="l" rtl="0" eaLnBrk="0">
              <a:lnSpc>
                <a:spcPct val="122000"/>
              </a:lnSpc>
            </a:pPr>
            <a:endParaRPr sz="230" dirty="0">
              <a:latin typeface="Arial" panose="020B0604020202020204"/>
              <a:ea typeface="Arial" panose="020B0604020202020204"/>
              <a:cs typeface="Arial" panose="020B0604020202020204"/>
            </a:endParaRPr>
          </a:p>
          <a:p>
            <a:pPr marL="14605" eaLnBrk="0">
              <a:lnSpc>
                <a:spcPct val="86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机械臂·执行器</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206" name="textbox 206"/>
          <p:cNvSpPr/>
          <p:nvPr/>
        </p:nvSpPr>
        <p:spPr>
          <a:xfrm>
            <a:off x="3050127" y="4797060"/>
            <a:ext cx="496525" cy="266357"/>
          </a:xfrm>
          <a:prstGeom prst="rect">
            <a:avLst/>
          </a:prstGeom>
          <a:noFill/>
          <a:ln w="0" cap="flat">
            <a:noFill/>
            <a:prstDash val="solid"/>
            <a:miter lim="0"/>
          </a:ln>
        </p:spPr>
        <p:txBody>
          <a:bodyPr vert="horz" wrap="square" lIns="0" tIns="0" rIns="0" bIns="0"/>
          <a:lstStyle/>
          <a:p>
            <a:pPr algn="l" rtl="0" eaLnBrk="0">
              <a:lnSpc>
                <a:spcPct val="84000"/>
              </a:lnSpc>
            </a:pPr>
            <a:endParaRPr sz="115" dirty="0">
              <a:latin typeface="Arial" panose="020B0604020202020204"/>
              <a:ea typeface="Arial" panose="020B0604020202020204"/>
              <a:cs typeface="Arial" panose="020B0604020202020204"/>
            </a:endParaRPr>
          </a:p>
          <a:p>
            <a:pPr marL="14605" eaLnBrk="0">
              <a:lnSpc>
                <a:spcPct val="86000"/>
              </a:lnSpc>
            </a:pPr>
            <a:r>
              <a:rPr sz="910" kern="0"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控制模组</a:t>
            </a:r>
            <a:endParaRPr sz="910" dirty="0">
              <a:latin typeface="OPPOSans R" panose="00020600040101010101" pitchFamily="18" charset="-122"/>
              <a:ea typeface="OPPOSans R" panose="00020600040101010101" pitchFamily="18" charset="-122"/>
              <a:cs typeface="OPPOSans R" panose="00020600040101010101" pitchFamily="18" charset="-122"/>
            </a:endParaRPr>
          </a:p>
          <a:p>
            <a:pPr algn="l" rtl="0" eaLnBrk="0">
              <a:lnSpc>
                <a:spcPct val="122000"/>
              </a:lnSpc>
            </a:pPr>
            <a:endParaRPr sz="230" dirty="0">
              <a:latin typeface="Arial" panose="020B0604020202020204"/>
              <a:ea typeface="Arial" panose="020B0604020202020204"/>
              <a:cs typeface="Arial" panose="020B0604020202020204"/>
            </a:endParaRPr>
          </a:p>
          <a:p>
            <a:pPr marL="57785" eaLnBrk="0">
              <a:lnSpc>
                <a:spcPct val="86000"/>
              </a:lnSpc>
            </a:pPr>
            <a:r>
              <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百川控制器</a:t>
            </a:r>
            <a:endParaRPr sz="570" dirty="0">
              <a:latin typeface="OPPOSans R" panose="00020600040101010101" pitchFamily="18" charset="-122"/>
              <a:ea typeface="OPPOSans R" panose="00020600040101010101" pitchFamily="18" charset="-122"/>
              <a:cs typeface="OPPOSans R" panose="00020600040101010101" pitchFamily="18" charset="-122"/>
            </a:endParaRPr>
          </a:p>
        </p:txBody>
      </p:sp>
      <p:sp>
        <p:nvSpPr>
          <p:cNvPr id="212" name="textbox 212"/>
          <p:cNvSpPr/>
          <p:nvPr/>
        </p:nvSpPr>
        <p:spPr>
          <a:xfrm>
            <a:off x="10287746" y="1856847"/>
            <a:ext cx="355780" cy="1876906"/>
          </a:xfrm>
          <a:prstGeom prst="rect">
            <a:avLst/>
          </a:prstGeom>
          <a:noFill/>
          <a:ln w="0" cap="flat">
            <a:noFill/>
            <a:prstDash val="solid"/>
            <a:miter lim="0"/>
          </a:ln>
        </p:spPr>
        <p:txBody>
          <a:bodyPr vert="eaVert" wrap="square" lIns="0" tIns="0" rIns="0" bIns="0"/>
          <a:lstStyle/>
          <a:p>
            <a:pPr algn="ctr" rtl="0" eaLnBrk="0">
              <a:lnSpc>
                <a:spcPct val="84000"/>
              </a:lnSpc>
            </a:pPr>
            <a:endParaRPr lang="zh-CN" altLang="en-US" sz="800" dirty="0">
              <a:latin typeface="OPPOSans M" panose="00020600040101010101" charset="-122"/>
              <a:ea typeface="OPPOSans M" panose="00020600040101010101" charset="-122"/>
              <a:cs typeface="OPPOSans M" panose="00020600040101010101" charset="-122"/>
            </a:endParaRPr>
          </a:p>
          <a:p>
            <a:pPr marL="14605" algn="ctr" eaLnBrk="0">
              <a:lnSpc>
                <a:spcPct val="91000"/>
              </a:lnSpc>
            </a:pPr>
            <a:r>
              <a:rPr lang="zh-CN" altLang="en-US" sz="700" b="1" spc="300" dirty="0">
                <a:solidFill>
                  <a:srgbClr val="C00000"/>
                </a:solidFill>
              </a:rPr>
              <a:t>设备包</a:t>
            </a:r>
            <a:r>
              <a:rPr lang="en-US" altLang="zh-CN" sz="700" b="1" spc="300" dirty="0">
                <a:solidFill>
                  <a:srgbClr val="C00000"/>
                </a:solidFill>
              </a:rPr>
              <a:t>·</a:t>
            </a:r>
            <a:r>
              <a:rPr lang="zh-CN" altLang="en-US" sz="700" b="1" spc="300" dirty="0">
                <a:solidFill>
                  <a:srgbClr val="C00000"/>
                </a:solidFill>
              </a:rPr>
              <a:t>插件</a:t>
            </a:r>
            <a:r>
              <a:rPr lang="en-US" altLang="zh-CN" sz="700" b="1" spc="300" dirty="0">
                <a:solidFill>
                  <a:srgbClr val="C00000"/>
                </a:solidFill>
              </a:rPr>
              <a:t>·</a:t>
            </a:r>
            <a:r>
              <a:rPr lang="zh-CN" altLang="en-US" sz="700" b="1" spc="300" dirty="0">
                <a:solidFill>
                  <a:srgbClr val="C00000"/>
                </a:solidFill>
              </a:rPr>
              <a:t>算法</a:t>
            </a:r>
            <a:r>
              <a:rPr lang="en-US" altLang="zh-CN" sz="700" b="1" spc="300" dirty="0">
                <a:solidFill>
                  <a:srgbClr val="C00000"/>
                </a:solidFill>
              </a:rPr>
              <a:t> </a:t>
            </a:r>
            <a:r>
              <a:rPr lang="zh-CN" altLang="en-US" sz="700" b="1" spc="300" dirty="0">
                <a:solidFill>
                  <a:srgbClr val="C00000"/>
                </a:solidFill>
              </a:rPr>
              <a:t>应用</a:t>
            </a:r>
            <a:endParaRPr lang="zh-CN" altLang="en-US" sz="700" b="1" spc="300" dirty="0">
              <a:solidFill>
                <a:srgbClr val="C00000"/>
              </a:solidFill>
            </a:endParaRPr>
          </a:p>
        </p:txBody>
      </p:sp>
      <p:sp>
        <p:nvSpPr>
          <p:cNvPr id="218" name="textbox 218"/>
          <p:cNvSpPr/>
          <p:nvPr/>
        </p:nvSpPr>
        <p:spPr>
          <a:xfrm>
            <a:off x="10737656" y="2048490"/>
            <a:ext cx="1011878" cy="184537"/>
          </a:xfrm>
          <a:prstGeom prst="rect">
            <a:avLst/>
          </a:prstGeom>
          <a:noFill/>
          <a:ln w="0" cap="flat">
            <a:noFill/>
            <a:prstDash val="solid"/>
            <a:miter lim="0"/>
          </a:ln>
        </p:spPr>
        <p:txBody>
          <a:bodyPr vert="horz" wrap="square" lIns="0" tIns="0" rIns="0" bIns="0"/>
          <a:lstStyle/>
          <a:p>
            <a:pPr algn="ctr" rtl="0" eaLnBrk="0">
              <a:lnSpc>
                <a:spcPct val="84000"/>
              </a:lnSpc>
            </a:pPr>
            <a:endParaRPr sz="115" dirty="0">
              <a:solidFill>
                <a:srgbClr val="969696"/>
              </a:solidFill>
              <a:latin typeface="OPPOSans B" panose="00020600040101010101" charset="-122"/>
              <a:ea typeface="OPPOSans B" panose="00020600040101010101" charset="-122"/>
              <a:cs typeface="OPPOSans B" panose="00020600040101010101" charset="-122"/>
            </a:endParaRPr>
          </a:p>
          <a:p>
            <a:pPr marL="14605" algn="ctr" eaLnBrk="0">
              <a:lnSpc>
                <a:spcPct val="86000"/>
              </a:lnSpc>
            </a:pPr>
            <a:r>
              <a:rPr lang="zh-CN" altLang="en-US" sz="910" kern="0" spc="11" dirty="0">
                <a:solidFill>
                  <a:srgbClr val="969696"/>
                </a:solidFill>
                <a:latin typeface="OPPOSans B" panose="00020600040101010101" charset="-122"/>
                <a:ea typeface="OPPOSans B" panose="00020600040101010101" charset="-122"/>
                <a:cs typeface="OPPOSans B" panose="00020600040101010101" charset="-122"/>
              </a:rPr>
              <a:t>开放平台</a:t>
            </a:r>
            <a:endParaRPr sz="800" dirty="0">
              <a:solidFill>
                <a:srgbClr val="969696"/>
              </a:solidFill>
              <a:latin typeface="OPPOSans B" panose="00020600040101010101" charset="-122"/>
              <a:ea typeface="OPPOSans B" panose="00020600040101010101" charset="-122"/>
              <a:cs typeface="OPPOSans B" panose="00020600040101010101" charset="-122"/>
            </a:endParaRPr>
          </a:p>
        </p:txBody>
      </p:sp>
      <p:sp>
        <p:nvSpPr>
          <p:cNvPr id="220" name="textbox 220"/>
          <p:cNvSpPr/>
          <p:nvPr/>
        </p:nvSpPr>
        <p:spPr>
          <a:xfrm>
            <a:off x="1440171" y="6087366"/>
            <a:ext cx="2058744" cy="143989"/>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86000"/>
              </a:lnSpc>
            </a:pPr>
            <a:r>
              <a:rPr sz="910" kern="0" spc="11" dirty="0" err="1">
                <a:solidFill>
                  <a:srgbClr val="000000">
                    <a:alpha val="100000"/>
                  </a:srgbClr>
                </a:solidFill>
                <a:latin typeface="OPPOSans M" panose="00020600040101010101" charset="-122"/>
                <a:ea typeface="OPPOSans M" panose="00020600040101010101" charset="-122"/>
                <a:cs typeface="OPPOSans M" panose="00020600040101010101" charset="-122"/>
              </a:rPr>
              <a:t>模块化</a:t>
            </a:r>
            <a:r>
              <a:rPr lang="en-US" sz="910" kern="0" spc="11" dirty="0">
                <a:solidFill>
                  <a:srgbClr val="000000">
                    <a:alpha val="100000"/>
                  </a:srgbClr>
                </a:solidFill>
                <a:latin typeface="OPPOSans M" panose="00020600040101010101" charset="-122"/>
                <a:ea typeface="OPPOSans M" panose="00020600040101010101" charset="-122"/>
                <a:cs typeface="OPPOSans M" panose="00020600040101010101" charset="-122"/>
              </a:rPr>
              <a:t> </a:t>
            </a:r>
            <a:r>
              <a:rPr sz="910" kern="0" dirty="0">
                <a:solidFill>
                  <a:srgbClr val="000000">
                    <a:alpha val="100000"/>
                  </a:srgbClr>
                </a:solidFill>
                <a:latin typeface="OPPOSans M" panose="00020600040101010101" charset="-122"/>
                <a:ea typeface="OPPOSans M" panose="00020600040101010101" charset="-122"/>
                <a:cs typeface="OPPOSans M" panose="00020600040101010101" charset="-122"/>
              </a:rPr>
              <a:t>AMR</a:t>
            </a:r>
            <a:endParaRPr sz="910" dirty="0">
              <a:latin typeface="OPPOSans M" panose="00020600040101010101" charset="-122"/>
              <a:ea typeface="OPPOSans M" panose="00020600040101010101" charset="-122"/>
              <a:cs typeface="OPPOSans M" panose="00020600040101010101" charset="-122"/>
            </a:endParaRPr>
          </a:p>
        </p:txBody>
      </p:sp>
      <p:pic>
        <p:nvPicPr>
          <p:cNvPr id="163" name="图片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1478" y="4723805"/>
            <a:ext cx="326511" cy="375664"/>
          </a:xfrm>
          <a:prstGeom prst="rect">
            <a:avLst/>
          </a:prstGeom>
        </p:spPr>
      </p:pic>
      <p:sp>
        <p:nvSpPr>
          <p:cNvPr id="173" name="矩形 172"/>
          <p:cNvSpPr/>
          <p:nvPr>
            <p:custDataLst>
              <p:tags r:id="rId4"/>
            </p:custDataLst>
          </p:nvPr>
        </p:nvSpPr>
        <p:spPr>
          <a:xfrm>
            <a:off x="1440171" y="4223985"/>
            <a:ext cx="3006620" cy="288421"/>
          </a:xfrm>
          <a:prstGeom prst="rect">
            <a:avLst/>
          </a:prstGeom>
          <a:noFill/>
          <a:ln>
            <a:noFill/>
          </a:ln>
        </p:spPr>
        <p:txBody>
          <a:bodyPr/>
          <a:lstStyle/>
          <a:p>
            <a:r>
              <a:rPr lang="zh-CN" altLang="en-US" sz="900" dirty="0">
                <a:latin typeface="OPPOSans M" panose="00020600040101010101" charset="-122"/>
                <a:ea typeface="OPPOSans M" panose="00020600040101010101" charset="-122"/>
                <a:cs typeface="OPPOSans M" panose="00020600040101010101" charset="-122"/>
              </a:rPr>
              <a:t>标准硬件与模块化产品层</a:t>
            </a:r>
            <a:endParaRPr lang="zh-CN" altLang="en-US" sz="900" dirty="0">
              <a:latin typeface="OPPOSans M" panose="00020600040101010101" charset="-122"/>
              <a:ea typeface="OPPOSans M" panose="00020600040101010101" charset="-122"/>
              <a:cs typeface="OPPOSans M" panose="00020600040101010101" charset="-122"/>
            </a:endParaRPr>
          </a:p>
        </p:txBody>
      </p:sp>
      <p:sp>
        <p:nvSpPr>
          <p:cNvPr id="219" name="文本框 218"/>
          <p:cNvSpPr txBox="1"/>
          <p:nvPr/>
        </p:nvSpPr>
        <p:spPr>
          <a:xfrm>
            <a:off x="1944064" y="2041592"/>
            <a:ext cx="701435" cy="246221"/>
          </a:xfrm>
          <a:prstGeom prst="rect">
            <a:avLst/>
          </a:prstGeom>
          <a:noFill/>
        </p:spPr>
        <p:txBody>
          <a:bodyPr wrap="square" rtlCol="0">
            <a:spAutoFit/>
          </a:bodyPr>
          <a:lstStyle/>
          <a:p>
            <a:r>
              <a:rPr lang="zh-CN" altLang="en-US" sz="1000" dirty="0">
                <a:solidFill>
                  <a:schemeClr val="bg1"/>
                </a:solidFill>
                <a:latin typeface="OPPOSans M" panose="00020600040101010101" charset="-122"/>
                <a:ea typeface="OPPOSans M" panose="00020600040101010101" charset="-122"/>
                <a:cs typeface="OPPOSans M" panose="00020600040101010101" charset="-122"/>
              </a:rPr>
              <a:t>天工平台</a:t>
            </a:r>
            <a:endParaRPr lang="zh-CN" altLang="en-US" sz="1000" dirty="0">
              <a:solidFill>
                <a:schemeClr val="bg1"/>
              </a:solidFill>
              <a:latin typeface="OPPOSans M" panose="00020600040101010101" charset="-122"/>
              <a:ea typeface="OPPOSans M" panose="00020600040101010101" charset="-122"/>
              <a:cs typeface="OPPOSans M" panose="00020600040101010101" charset="-122"/>
            </a:endParaRPr>
          </a:p>
        </p:txBody>
      </p:sp>
      <p:sp>
        <p:nvSpPr>
          <p:cNvPr id="223" name="文本框 222"/>
          <p:cNvSpPr txBox="1"/>
          <p:nvPr/>
        </p:nvSpPr>
        <p:spPr>
          <a:xfrm>
            <a:off x="1944064" y="4784792"/>
            <a:ext cx="701435" cy="246221"/>
          </a:xfrm>
          <a:prstGeom prst="rect">
            <a:avLst/>
          </a:prstGeom>
          <a:noFill/>
        </p:spPr>
        <p:txBody>
          <a:bodyPr wrap="square" rtlCol="0">
            <a:spAutoFit/>
          </a:bodyPr>
          <a:lstStyle/>
          <a:p>
            <a:r>
              <a:rPr lang="zh-CN" altLang="en-US" sz="1000" dirty="0">
                <a:latin typeface="OPPOSans M" panose="00020600040101010101" charset="-122"/>
                <a:ea typeface="OPPOSans M" panose="00020600040101010101" charset="-122"/>
                <a:cs typeface="OPPOSans M" panose="00020600040101010101" charset="-122"/>
              </a:rPr>
              <a:t>硬件模组</a:t>
            </a:r>
            <a:endParaRPr lang="zh-CN" altLang="en-US" sz="1000" dirty="0">
              <a:latin typeface="OPPOSans M" panose="00020600040101010101" charset="-122"/>
              <a:ea typeface="OPPOSans M" panose="00020600040101010101" charset="-122"/>
              <a:cs typeface="OPPOSans M" panose="00020600040101010101" charset="-122"/>
            </a:endParaRPr>
          </a:p>
        </p:txBody>
      </p:sp>
      <p:pic>
        <p:nvPicPr>
          <p:cNvPr id="224" name="图片 2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527968" y="2096189"/>
            <a:ext cx="436907" cy="137026"/>
          </a:xfrm>
          <a:prstGeom prst="rect">
            <a:avLst/>
          </a:prstGeom>
        </p:spPr>
      </p:pic>
      <p:sp>
        <p:nvSpPr>
          <p:cNvPr id="236" name="矩形 235"/>
          <p:cNvSpPr/>
          <p:nvPr>
            <p:custDataLst>
              <p:tags r:id="rId6"/>
            </p:custDataLst>
          </p:nvPr>
        </p:nvSpPr>
        <p:spPr>
          <a:xfrm>
            <a:off x="1440171" y="5590920"/>
            <a:ext cx="3006620" cy="288421"/>
          </a:xfrm>
          <a:prstGeom prst="rect">
            <a:avLst/>
          </a:prstGeom>
          <a:noFill/>
          <a:ln>
            <a:noFill/>
          </a:ln>
        </p:spPr>
        <p:txBody>
          <a:bodyPr/>
          <a:lstStyle/>
          <a:p>
            <a:r>
              <a:rPr lang="zh-CN" altLang="en-US" sz="900" dirty="0">
                <a:latin typeface="OPPOSans M" panose="00020600040101010101" charset="-122"/>
                <a:ea typeface="OPPOSans M" panose="00020600040101010101" charset="-122"/>
                <a:cs typeface="OPPOSans M" panose="00020600040101010101" charset="-122"/>
              </a:rPr>
              <a:t>工业设备层</a:t>
            </a:r>
            <a:endParaRPr lang="zh-CN" altLang="en-US" sz="900" dirty="0">
              <a:latin typeface="OPPOSans M" panose="00020600040101010101" charset="-122"/>
              <a:ea typeface="OPPOSans M" panose="00020600040101010101" charset="-122"/>
              <a:cs typeface="OPPOSans M" panose="00020600040101010101" charset="-122"/>
            </a:endParaRPr>
          </a:p>
        </p:txBody>
      </p:sp>
      <p:pic>
        <p:nvPicPr>
          <p:cNvPr id="249" name="图片 24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0276" y="3554188"/>
            <a:ext cx="259400" cy="312644"/>
          </a:xfrm>
          <a:prstGeom prst="rect">
            <a:avLst/>
          </a:prstGeom>
        </p:spPr>
      </p:pic>
      <p:pic>
        <p:nvPicPr>
          <p:cNvPr id="257" name="图片 25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93977" y="1622750"/>
            <a:ext cx="299234" cy="338662"/>
          </a:xfrm>
          <a:prstGeom prst="rect">
            <a:avLst/>
          </a:prstGeom>
        </p:spPr>
      </p:pic>
      <p:grpSp>
        <p:nvGrpSpPr>
          <p:cNvPr id="63" name="组合 62"/>
          <p:cNvGrpSpPr/>
          <p:nvPr/>
        </p:nvGrpSpPr>
        <p:grpSpPr>
          <a:xfrm>
            <a:off x="10737656" y="2637565"/>
            <a:ext cx="1011877" cy="315470"/>
            <a:chOff x="10737656" y="2679490"/>
            <a:chExt cx="1011877" cy="315470"/>
          </a:xfrm>
        </p:grpSpPr>
        <p:sp>
          <p:nvSpPr>
            <p:cNvPr id="265" name="textbox 202"/>
            <p:cNvSpPr/>
            <p:nvPr/>
          </p:nvSpPr>
          <p:spPr>
            <a:xfrm>
              <a:off x="10737656" y="2679490"/>
              <a:ext cx="1011877" cy="141323"/>
            </a:xfrm>
            <a:prstGeom prst="rect">
              <a:avLst/>
            </a:prstGeom>
            <a:noFill/>
            <a:ln w="0" cap="flat">
              <a:noFill/>
              <a:prstDash val="solid"/>
              <a:miter lim="0"/>
            </a:ln>
          </p:spPr>
          <p:txBody>
            <a:bodyPr vert="horz" wrap="square" lIns="0" tIns="0" rIns="0" bIns="0"/>
            <a:lstStyle/>
            <a:p>
              <a:pPr algn="ctr" rtl="0" eaLnBrk="0">
                <a:lnSpc>
                  <a:spcPct val="84000"/>
                </a:lnSpc>
              </a:pPr>
              <a:r>
                <a:rPr lang="zh-CN" altLang="en-US" sz="115" dirty="0">
                  <a:latin typeface="Arial" panose="020B0604020202020204"/>
                  <a:ea typeface="Arial" panose="020B0604020202020204"/>
                  <a:cs typeface="Arial" panose="020B0604020202020204"/>
                </a:rPr>
                <a:t>陌</a:t>
              </a:r>
              <a:endParaRPr lang="zh-CN" altLang="en-US" sz="115" dirty="0">
                <a:latin typeface="Arial" panose="020B0604020202020204"/>
                <a:ea typeface="Arial" panose="020B0604020202020204"/>
                <a:cs typeface="Arial" panose="020B0604020202020204"/>
              </a:endParaRPr>
            </a:p>
            <a:p>
              <a:pPr marL="15875" algn="ctr" eaLnBrk="0">
                <a:lnSpc>
                  <a:spcPct val="86000"/>
                </a:lnSpc>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墨影学院</a:t>
              </a:r>
              <a:endParaRPr lang="zh-CN" altLang="en-US" sz="115" dirty="0">
                <a:latin typeface="Arial" panose="020B0604020202020204"/>
                <a:ea typeface="Arial" panose="020B0604020202020204"/>
                <a:cs typeface="Arial" panose="020B0604020202020204"/>
              </a:endParaRPr>
            </a:p>
          </p:txBody>
        </p:sp>
        <p:sp>
          <p:nvSpPr>
            <p:cNvPr id="268" name="textbox 202"/>
            <p:cNvSpPr/>
            <p:nvPr/>
          </p:nvSpPr>
          <p:spPr>
            <a:xfrm>
              <a:off x="10737656" y="2747698"/>
              <a:ext cx="1011877" cy="247262"/>
            </a:xfrm>
            <a:prstGeom prst="rect">
              <a:avLst/>
            </a:prstGeom>
            <a:noFill/>
            <a:ln w="0" cap="flat">
              <a:noFill/>
              <a:prstDash val="solid"/>
              <a:miter lim="0"/>
            </a:ln>
          </p:spPr>
          <p:txBody>
            <a:bodyPr vert="horz" wrap="square" lIns="0" tIns="0" rIns="0" bIns="0"/>
            <a:lstStyle/>
            <a:p>
              <a:pPr algn="ctr" rtl="0" eaLnBrk="0">
                <a:lnSpc>
                  <a:spcPct val="84000"/>
                </a:lnSpc>
              </a:pPr>
              <a:endParaRPr lang="zh-CN" altLang="en-US" sz="650" dirty="0">
                <a:latin typeface="+mn-ea"/>
                <a:cs typeface="Arial" panose="020B0604020202020204"/>
              </a:endParaRPr>
            </a:p>
            <a:p>
              <a:pPr marL="14605" algn="ctr" eaLnBrk="0">
                <a:lnSpc>
                  <a:spcPct val="87000"/>
                </a:lnSpc>
                <a:spcBef>
                  <a:spcPts val="310"/>
                </a:spcBef>
              </a:pPr>
              <a:r>
                <a:rPr lang="zh-CN" altLang="en-US" sz="650" dirty="0">
                  <a:latin typeface="+mn-ea"/>
                  <a:cs typeface="Arial" panose="020B0604020202020204"/>
                </a:rPr>
                <a:t>文档 </a:t>
              </a:r>
              <a:r>
                <a:rPr lang="en-US" altLang="zh-CN" sz="650" dirty="0">
                  <a:latin typeface="+mn-ea"/>
                  <a:cs typeface="Arial" panose="020B0604020202020204"/>
                </a:rPr>
                <a:t>· </a:t>
              </a:r>
              <a:r>
                <a:rPr lang="zh-CN" altLang="en-US" sz="650" dirty="0">
                  <a:latin typeface="+mn-ea"/>
                  <a:cs typeface="Arial" panose="020B0604020202020204"/>
                </a:rPr>
                <a:t>学习</a:t>
              </a:r>
              <a:endParaRPr sz="650" dirty="0">
                <a:latin typeface="+mn-ea"/>
                <a:cs typeface="Arial" panose="020B0604020202020204"/>
              </a:endParaRPr>
            </a:p>
          </p:txBody>
        </p:sp>
      </p:grpSp>
      <p:sp>
        <p:nvSpPr>
          <p:cNvPr id="40" name="矩形: 圆顶角 39"/>
          <p:cNvSpPr/>
          <p:nvPr/>
        </p:nvSpPr>
        <p:spPr>
          <a:xfrm>
            <a:off x="1317171" y="2813960"/>
            <a:ext cx="8998135" cy="342987"/>
          </a:xfrm>
          <a:prstGeom prst="round2SameRect">
            <a:avLst>
              <a:gd name="adj1" fmla="val 36730"/>
              <a:gd name="adj2" fmla="val 0"/>
            </a:avLst>
          </a:prstGeom>
          <a:solidFill>
            <a:srgbClr val="C00000"/>
          </a:soli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41" name="矩形: 圆顶角 40"/>
          <p:cNvSpPr/>
          <p:nvPr/>
        </p:nvSpPr>
        <p:spPr>
          <a:xfrm flipV="1">
            <a:off x="1317171" y="3124619"/>
            <a:ext cx="8998132" cy="828405"/>
          </a:xfrm>
          <a:prstGeom prst="round2SameRect">
            <a:avLst>
              <a:gd name="adj1" fmla="val 16761"/>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15" name="矩形: 圆角 14"/>
          <p:cNvSpPr/>
          <p:nvPr/>
        </p:nvSpPr>
        <p:spPr>
          <a:xfrm>
            <a:off x="4377644" y="3262220"/>
            <a:ext cx="1266996" cy="556870"/>
          </a:xfrm>
          <a:prstGeom prst="roundRect">
            <a:avLst/>
          </a:prstGeom>
          <a:solidFill>
            <a:schemeClr val="bg1"/>
          </a:solidFill>
          <a:ln w="6350">
            <a:solidFill>
              <a:srgbClr val="C00000"/>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圆角 25"/>
          <p:cNvSpPr/>
          <p:nvPr/>
        </p:nvSpPr>
        <p:spPr>
          <a:xfrm>
            <a:off x="5897095" y="3262220"/>
            <a:ext cx="1266996" cy="556870"/>
          </a:xfrm>
          <a:prstGeom prst="roundRect">
            <a:avLst/>
          </a:prstGeom>
          <a:solidFill>
            <a:schemeClr val="bg1"/>
          </a:solidFill>
          <a:ln w="6350">
            <a:solidFill>
              <a:srgbClr val="C00000"/>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圆角 27"/>
          <p:cNvSpPr/>
          <p:nvPr/>
        </p:nvSpPr>
        <p:spPr>
          <a:xfrm>
            <a:off x="7416546" y="3262220"/>
            <a:ext cx="1266996" cy="556870"/>
          </a:xfrm>
          <a:prstGeom prst="roundRect">
            <a:avLst/>
          </a:prstGeom>
          <a:solidFill>
            <a:schemeClr val="bg1"/>
          </a:solidFill>
          <a:ln w="6350">
            <a:solidFill>
              <a:srgbClr val="C00000"/>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28"/>
          <p:cNvSpPr/>
          <p:nvPr/>
        </p:nvSpPr>
        <p:spPr>
          <a:xfrm>
            <a:off x="8932487" y="3262220"/>
            <a:ext cx="1266996" cy="556870"/>
          </a:xfrm>
          <a:prstGeom prst="roundRect">
            <a:avLst/>
          </a:prstGeom>
          <a:solidFill>
            <a:schemeClr val="bg1"/>
          </a:solidFill>
          <a:ln w="6350">
            <a:solidFill>
              <a:srgbClr val="C00000"/>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2" name="组合 41"/>
          <p:cNvGrpSpPr/>
          <p:nvPr/>
        </p:nvGrpSpPr>
        <p:grpSpPr>
          <a:xfrm>
            <a:off x="9676490" y="2900546"/>
            <a:ext cx="476057" cy="113943"/>
            <a:chOff x="5298623" y="1396154"/>
            <a:chExt cx="507580" cy="121488"/>
          </a:xfrm>
        </p:grpSpPr>
        <p:sp>
          <p:nvSpPr>
            <p:cNvPr id="44" name="椭圆 43"/>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42"/>
          <p:cNvSpPr/>
          <p:nvPr>
            <p:custDataLst>
              <p:tags r:id="rId9"/>
            </p:custDataLst>
          </p:nvPr>
        </p:nvSpPr>
        <p:spPr>
          <a:xfrm>
            <a:off x="1440171" y="2861403"/>
            <a:ext cx="3006620" cy="288421"/>
          </a:xfrm>
          <a:prstGeom prst="rect">
            <a:avLst/>
          </a:prstGeom>
          <a:noFill/>
          <a:ln>
            <a:noFill/>
          </a:ln>
        </p:spPr>
        <p:txBody>
          <a:bodyPr/>
          <a:lstStyle/>
          <a:p>
            <a:r>
              <a:rPr lang="zh-CN" altLang="en-US" sz="900" dirty="0">
                <a:solidFill>
                  <a:schemeClr val="bg1"/>
                </a:solidFill>
                <a:latin typeface="OPPOSans M" panose="00020600040101010101" charset="-122"/>
                <a:ea typeface="OPPOSans M" panose="00020600040101010101" charset="-122"/>
                <a:cs typeface="OPPOSans M" panose="00020600040101010101" charset="-122"/>
              </a:rPr>
              <a:t>百川平台</a:t>
            </a:r>
            <a:r>
              <a:rPr lang="en-US" altLang="zh-CN" sz="900" dirty="0">
                <a:solidFill>
                  <a:schemeClr val="bg1"/>
                </a:solidFill>
                <a:latin typeface="OPPOSans M" panose="00020600040101010101" charset="-122"/>
                <a:ea typeface="OPPOSans M" panose="00020600040101010101" charset="-122"/>
                <a:cs typeface="OPPOSans M" panose="00020600040101010101" charset="-122"/>
              </a:rPr>
              <a:t>:</a:t>
            </a:r>
            <a:r>
              <a:rPr lang="zh-CN" altLang="en-US" sz="900" dirty="0">
                <a:solidFill>
                  <a:schemeClr val="bg1"/>
                </a:solidFill>
                <a:latin typeface="OPPOSans M" panose="00020600040101010101" charset="-122"/>
                <a:ea typeface="OPPOSans M" panose="00020600040101010101" charset="-122"/>
                <a:cs typeface="OPPOSans M" panose="00020600040101010101" charset="-122"/>
              </a:rPr>
              <a:t>工业具身智能的”通用安卓”</a:t>
            </a:r>
            <a:endParaRPr lang="zh-CN" altLang="en-US" sz="900" dirty="0">
              <a:solidFill>
                <a:schemeClr val="bg1"/>
              </a:solidFill>
              <a:latin typeface="OPPOSans M" panose="00020600040101010101" charset="-122"/>
              <a:ea typeface="OPPOSans M" panose="00020600040101010101" charset="-122"/>
              <a:cs typeface="OPPOSans M" panose="00020600040101010101" charset="-122"/>
            </a:endParaRPr>
          </a:p>
        </p:txBody>
      </p:sp>
      <p:sp>
        <p:nvSpPr>
          <p:cNvPr id="48" name="矩形: 圆角 47"/>
          <p:cNvSpPr/>
          <p:nvPr/>
        </p:nvSpPr>
        <p:spPr>
          <a:xfrm>
            <a:off x="2858193" y="3262220"/>
            <a:ext cx="1266996" cy="556870"/>
          </a:xfrm>
          <a:prstGeom prst="roundRect">
            <a:avLst/>
          </a:prstGeom>
          <a:solidFill>
            <a:schemeClr val="bg1"/>
          </a:solidFill>
          <a:ln w="6350">
            <a:solidFill>
              <a:srgbClr val="C00000"/>
            </a:solid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圆角 54"/>
          <p:cNvSpPr/>
          <p:nvPr/>
        </p:nvSpPr>
        <p:spPr>
          <a:xfrm>
            <a:off x="1440172" y="3262220"/>
            <a:ext cx="1210614" cy="556870"/>
          </a:xfrm>
          <a:prstGeom prst="roundRect">
            <a:avLst/>
          </a:prstGeom>
          <a:solidFill>
            <a:srgbClr val="C00000"/>
          </a:solidFill>
          <a:ln w="6350">
            <a:noFill/>
          </a:ln>
          <a:effectLst>
            <a:outerShdw blurRad="63500" sx="103000" sy="103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a:xfrm>
            <a:off x="1534714" y="3448862"/>
            <a:ext cx="431972" cy="183587"/>
          </a:xfrm>
          <a:prstGeom prst="rect">
            <a:avLst/>
          </a:prstGeom>
        </p:spPr>
      </p:pic>
      <p:sp>
        <p:nvSpPr>
          <p:cNvPr id="222" name="文本框 221"/>
          <p:cNvSpPr txBox="1"/>
          <p:nvPr/>
        </p:nvSpPr>
        <p:spPr>
          <a:xfrm>
            <a:off x="1944064" y="3417545"/>
            <a:ext cx="701435" cy="246221"/>
          </a:xfrm>
          <a:prstGeom prst="rect">
            <a:avLst/>
          </a:prstGeom>
          <a:noFill/>
        </p:spPr>
        <p:txBody>
          <a:bodyPr wrap="square" rtlCol="0">
            <a:spAutoFit/>
          </a:bodyPr>
          <a:lstStyle/>
          <a:p>
            <a:r>
              <a:rPr lang="zh-CN" altLang="en-US" sz="1000" dirty="0">
                <a:solidFill>
                  <a:schemeClr val="bg1"/>
                </a:solidFill>
                <a:latin typeface="OPPOSans M" panose="00020600040101010101" charset="-122"/>
                <a:ea typeface="OPPOSans M" panose="00020600040101010101" charset="-122"/>
                <a:cs typeface="OPPOSans M" panose="00020600040101010101" charset="-122"/>
              </a:rPr>
              <a:t>百川平台</a:t>
            </a:r>
            <a:endParaRPr lang="zh-CN" altLang="en-US" sz="1000" dirty="0">
              <a:solidFill>
                <a:schemeClr val="bg1"/>
              </a:solidFill>
              <a:latin typeface="OPPOSans M" panose="00020600040101010101" charset="-122"/>
              <a:ea typeface="OPPOSans M" panose="00020600040101010101" charset="-122"/>
              <a:cs typeface="OPPOSans M" panose="00020600040101010101" charset="-122"/>
            </a:endParaRPr>
          </a:p>
        </p:txBody>
      </p:sp>
      <p:grpSp>
        <p:nvGrpSpPr>
          <p:cNvPr id="62" name="组合 61"/>
          <p:cNvGrpSpPr/>
          <p:nvPr/>
        </p:nvGrpSpPr>
        <p:grpSpPr>
          <a:xfrm>
            <a:off x="9128190" y="3399072"/>
            <a:ext cx="875590" cy="337242"/>
            <a:chOff x="9322673" y="3399072"/>
            <a:chExt cx="875590" cy="337242"/>
          </a:xfrm>
        </p:grpSpPr>
        <p:sp>
          <p:nvSpPr>
            <p:cNvPr id="279" name="textbox 202"/>
            <p:cNvSpPr/>
            <p:nvPr/>
          </p:nvSpPr>
          <p:spPr>
            <a:xfrm>
              <a:off x="9322673" y="3399072"/>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百川运维</a:t>
              </a:r>
              <a:endParaRPr sz="1000" dirty="0">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280" name="textbox 202"/>
            <p:cNvSpPr/>
            <p:nvPr/>
          </p:nvSpPr>
          <p:spPr>
            <a:xfrm>
              <a:off x="9322674" y="3489052"/>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7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日志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告警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追溯</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grpSp>
      <p:grpSp>
        <p:nvGrpSpPr>
          <p:cNvPr id="32" name="组合 31"/>
          <p:cNvGrpSpPr/>
          <p:nvPr/>
        </p:nvGrpSpPr>
        <p:grpSpPr>
          <a:xfrm>
            <a:off x="7612249" y="3399072"/>
            <a:ext cx="875590" cy="337242"/>
            <a:chOff x="7554277" y="3399072"/>
            <a:chExt cx="875590" cy="337242"/>
          </a:xfrm>
        </p:grpSpPr>
        <p:sp>
          <p:nvSpPr>
            <p:cNvPr id="302" name="textbox 202"/>
            <p:cNvSpPr/>
            <p:nvPr/>
          </p:nvSpPr>
          <p:spPr>
            <a:xfrm>
              <a:off x="7554277" y="3399072"/>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百川轻搭</a:t>
              </a:r>
              <a:endParaRPr lang="zh-CN" altLang="en-US" sz="115" dirty="0">
                <a:latin typeface="Arial" panose="020B0604020202020204"/>
                <a:ea typeface="Arial" panose="020B0604020202020204"/>
                <a:cs typeface="Arial" panose="020B0604020202020204"/>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303" name="textbox 202"/>
            <p:cNvSpPr/>
            <p:nvPr/>
          </p:nvSpPr>
          <p:spPr>
            <a:xfrm>
              <a:off x="7554278" y="3489052"/>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7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标定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点位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行为树</a:t>
              </a:r>
              <a:endPar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grpSp>
        <p:nvGrpSpPr>
          <p:cNvPr id="60" name="组合 59"/>
          <p:cNvGrpSpPr/>
          <p:nvPr/>
        </p:nvGrpSpPr>
        <p:grpSpPr>
          <a:xfrm>
            <a:off x="6092798" y="3399072"/>
            <a:ext cx="875590" cy="337242"/>
            <a:chOff x="6053727" y="3399072"/>
            <a:chExt cx="875590" cy="337242"/>
          </a:xfrm>
        </p:grpSpPr>
        <p:sp>
          <p:nvSpPr>
            <p:cNvPr id="304" name="textbox 202"/>
            <p:cNvSpPr/>
            <p:nvPr/>
          </p:nvSpPr>
          <p:spPr>
            <a:xfrm>
              <a:off x="6053727" y="3399072"/>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百川集成</a:t>
              </a:r>
              <a:endParaRPr sz="115" dirty="0">
                <a:latin typeface="Arial" panose="020B0604020202020204"/>
                <a:ea typeface="Arial" panose="020B0604020202020204"/>
                <a:cs typeface="Arial" panose="020B0604020202020204"/>
              </a:endParaRPr>
            </a:p>
          </p:txBody>
        </p:sp>
        <p:sp>
          <p:nvSpPr>
            <p:cNvPr id="305" name="textbox 202"/>
            <p:cNvSpPr/>
            <p:nvPr/>
          </p:nvSpPr>
          <p:spPr>
            <a:xfrm>
              <a:off x="6053728" y="3489052"/>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7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驱动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参数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能力</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grpSp>
      <p:grpSp>
        <p:nvGrpSpPr>
          <p:cNvPr id="373" name="组合 372"/>
          <p:cNvGrpSpPr/>
          <p:nvPr/>
        </p:nvGrpSpPr>
        <p:grpSpPr>
          <a:xfrm>
            <a:off x="4573347" y="3399072"/>
            <a:ext cx="875590" cy="337242"/>
            <a:chOff x="4532040" y="3371857"/>
            <a:chExt cx="875590" cy="337242"/>
          </a:xfrm>
        </p:grpSpPr>
        <p:sp>
          <p:nvSpPr>
            <p:cNvPr id="307" name="textbox 202"/>
            <p:cNvSpPr/>
            <p:nvPr/>
          </p:nvSpPr>
          <p:spPr>
            <a:xfrm>
              <a:off x="4532040" y="3371857"/>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百川装机</a:t>
              </a:r>
              <a:endPar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08" name="textbox 202"/>
            <p:cNvSpPr/>
            <p:nvPr/>
          </p:nvSpPr>
          <p:spPr>
            <a:xfrm>
              <a:off x="4532041" y="3461837"/>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7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识别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装包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激活</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grpSp>
      <p:grpSp>
        <p:nvGrpSpPr>
          <p:cNvPr id="314" name="组合 313"/>
          <p:cNvGrpSpPr/>
          <p:nvPr/>
        </p:nvGrpSpPr>
        <p:grpSpPr>
          <a:xfrm>
            <a:off x="3053896" y="3399072"/>
            <a:ext cx="875590" cy="337242"/>
            <a:chOff x="3938910" y="3371857"/>
            <a:chExt cx="875590" cy="337242"/>
          </a:xfrm>
        </p:grpSpPr>
        <p:sp>
          <p:nvSpPr>
            <p:cNvPr id="315" name="textbox 202"/>
            <p:cNvSpPr/>
            <p:nvPr/>
          </p:nvSpPr>
          <p:spPr>
            <a:xfrm>
              <a:off x="3938910" y="3371857"/>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数字造机</a:t>
              </a:r>
              <a:endPar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16" name="textbox 202"/>
            <p:cNvSpPr/>
            <p:nvPr/>
          </p:nvSpPr>
          <p:spPr>
            <a:xfrm>
              <a:off x="3938911" y="3461837"/>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7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型号</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BOM·URDF</a:t>
              </a:r>
              <a:endPar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grpSp>
        <p:nvGrpSpPr>
          <p:cNvPr id="129" name="组合 128"/>
          <p:cNvGrpSpPr/>
          <p:nvPr/>
        </p:nvGrpSpPr>
        <p:grpSpPr>
          <a:xfrm>
            <a:off x="10737656" y="3191640"/>
            <a:ext cx="1011877" cy="300837"/>
            <a:chOff x="10737656" y="3226039"/>
            <a:chExt cx="1011877" cy="300837"/>
          </a:xfrm>
        </p:grpSpPr>
        <p:sp>
          <p:nvSpPr>
            <p:cNvPr id="347" name="textbox 202"/>
            <p:cNvSpPr/>
            <p:nvPr/>
          </p:nvSpPr>
          <p:spPr>
            <a:xfrm>
              <a:off x="10737656" y="3226039"/>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4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开发者中心</a:t>
              </a:r>
              <a:endPar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a:p>
              <a:pPr algn="ctr" rtl="0" eaLnBrk="0">
                <a:lnSpc>
                  <a:spcPct val="189000"/>
                </a:lnSpc>
              </a:pPr>
              <a:endParaRPr lang="zh-CN" altLang="en-US" sz="115" dirty="0">
                <a:latin typeface="Arial" panose="020B0604020202020204"/>
                <a:ea typeface="Arial" panose="020B0604020202020204"/>
                <a:cs typeface="Arial" panose="020B0604020202020204"/>
              </a:endParaRPr>
            </a:p>
          </p:txBody>
        </p:sp>
        <p:sp>
          <p:nvSpPr>
            <p:cNvPr id="348" name="textbox 202"/>
            <p:cNvSpPr/>
            <p:nvPr/>
          </p:nvSpPr>
          <p:spPr>
            <a:xfrm>
              <a:off x="10737656" y="3385553"/>
              <a:ext cx="1011877" cy="141323"/>
            </a:xfrm>
            <a:prstGeom prst="rect">
              <a:avLst/>
            </a:prstGeom>
            <a:noFill/>
            <a:ln w="0" cap="flat">
              <a:noFill/>
              <a:prstDash val="solid"/>
              <a:miter lim="0"/>
            </a:ln>
          </p:spPr>
          <p:txBody>
            <a:bodyPr vert="horz" wrap="square" lIns="0" tIns="0" rIns="0" bIns="0"/>
            <a:lstStyle/>
            <a:p>
              <a:pPr marL="14605" algn="ctr" eaLnBrk="0">
                <a:lnSpc>
                  <a:spcPct val="87000"/>
                </a:lnSpc>
                <a:spcBef>
                  <a:spcPts val="370"/>
                </a:spcBef>
              </a:pPr>
              <a:r>
                <a:rPr lang="en-US" altLang="zh-CN" sz="650" dirty="0">
                  <a:latin typeface="+mn-ea"/>
                  <a:cs typeface="Arial" panose="020B0604020202020204"/>
                </a:rPr>
                <a:t>AI Studio</a:t>
              </a:r>
              <a:endParaRPr lang="en-US" altLang="zh-CN" sz="650" dirty="0">
                <a:latin typeface="+mn-ea"/>
                <a:cs typeface="Arial" panose="020B0604020202020204"/>
              </a:endParaRPr>
            </a:p>
            <a:p>
              <a:pPr algn="ctr" rtl="0" eaLnBrk="0">
                <a:lnSpc>
                  <a:spcPct val="189000"/>
                </a:lnSpc>
              </a:pPr>
              <a:endParaRPr sz="650" dirty="0">
                <a:latin typeface="Arial" panose="020B0604020202020204"/>
                <a:ea typeface="Arial" panose="020B0604020202020204"/>
                <a:cs typeface="Arial" panose="020B0604020202020204"/>
              </a:endParaRPr>
            </a:p>
          </p:txBody>
        </p:sp>
      </p:grpSp>
      <p:grpSp>
        <p:nvGrpSpPr>
          <p:cNvPr id="131" name="组合 130"/>
          <p:cNvGrpSpPr/>
          <p:nvPr/>
        </p:nvGrpSpPr>
        <p:grpSpPr>
          <a:xfrm>
            <a:off x="10737656" y="3731082"/>
            <a:ext cx="1011877" cy="293698"/>
            <a:chOff x="10737656" y="3772588"/>
            <a:chExt cx="1011877" cy="293698"/>
          </a:xfrm>
        </p:grpSpPr>
        <p:sp>
          <p:nvSpPr>
            <p:cNvPr id="350" name="textbox 202"/>
            <p:cNvSpPr/>
            <p:nvPr/>
          </p:nvSpPr>
          <p:spPr>
            <a:xfrm>
              <a:off x="10737656" y="3772588"/>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5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设备商城</a:t>
              </a:r>
              <a:endParaRPr lang="zh-CN" altLang="en-US" sz="115" dirty="0">
                <a:latin typeface="Arial" panose="020B0604020202020204"/>
                <a:ea typeface="Arial" panose="020B0604020202020204"/>
                <a:cs typeface="Arial" panose="020B0604020202020204"/>
              </a:endParaRPr>
            </a:p>
          </p:txBody>
        </p:sp>
        <p:sp>
          <p:nvSpPr>
            <p:cNvPr id="351" name="textbox 202"/>
            <p:cNvSpPr/>
            <p:nvPr/>
          </p:nvSpPr>
          <p:spPr>
            <a:xfrm>
              <a:off x="10737656" y="3819024"/>
              <a:ext cx="1011877" cy="247262"/>
            </a:xfrm>
            <a:prstGeom prst="rect">
              <a:avLst/>
            </a:prstGeom>
            <a:noFill/>
            <a:ln w="0" cap="flat">
              <a:noFill/>
              <a:prstDash val="solid"/>
              <a:miter lim="0"/>
            </a:ln>
          </p:spPr>
          <p:txBody>
            <a:bodyPr vert="horz" wrap="square" lIns="0" tIns="0" rIns="0" bIns="0"/>
            <a:lstStyle/>
            <a:p>
              <a:pPr algn="ctr" rtl="0" eaLnBrk="0">
                <a:lnSpc>
                  <a:spcPct val="84000"/>
                </a:lnSpc>
              </a:pPr>
              <a:endParaRPr sz="650" dirty="0">
                <a:latin typeface="+mn-ea"/>
                <a:cs typeface="Arial" panose="020B0604020202020204"/>
              </a:endParaRPr>
            </a:p>
            <a:p>
              <a:pPr marL="14605" algn="ctr" eaLnBrk="0">
                <a:lnSpc>
                  <a:spcPct val="87000"/>
                </a:lnSpc>
                <a:spcBef>
                  <a:spcPts val="310"/>
                </a:spcBef>
              </a:pPr>
              <a:r>
                <a:rPr lang="zh-CN" altLang="en-US" sz="650" dirty="0">
                  <a:latin typeface="+mn-ea"/>
                  <a:cs typeface="Arial" panose="020B0604020202020204"/>
                </a:rPr>
                <a:t>部件 </a:t>
              </a:r>
              <a:r>
                <a:rPr lang="en-US" altLang="zh-CN" sz="650" dirty="0">
                  <a:latin typeface="+mn-ea"/>
                  <a:cs typeface="Arial" panose="020B0604020202020204"/>
                </a:rPr>
                <a:t>· </a:t>
              </a:r>
              <a:r>
                <a:rPr lang="zh-CN" altLang="en-US" sz="650" dirty="0">
                  <a:latin typeface="+mn-ea"/>
                  <a:cs typeface="Arial" panose="020B0604020202020204"/>
                </a:rPr>
                <a:t>整机</a:t>
              </a:r>
              <a:endParaRPr sz="650" dirty="0">
                <a:latin typeface="+mn-ea"/>
                <a:cs typeface="Arial" panose="020B0604020202020204"/>
              </a:endParaRPr>
            </a:p>
          </p:txBody>
        </p:sp>
      </p:grpSp>
      <p:grpSp>
        <p:nvGrpSpPr>
          <p:cNvPr id="138" name="组合 137"/>
          <p:cNvGrpSpPr/>
          <p:nvPr/>
        </p:nvGrpSpPr>
        <p:grpSpPr>
          <a:xfrm>
            <a:off x="10737656" y="4263385"/>
            <a:ext cx="1011877" cy="293698"/>
            <a:chOff x="10737656" y="4865686"/>
            <a:chExt cx="1011877" cy="293698"/>
          </a:xfrm>
        </p:grpSpPr>
        <p:sp>
          <p:nvSpPr>
            <p:cNvPr id="356" name="textbox 202"/>
            <p:cNvSpPr/>
            <p:nvPr/>
          </p:nvSpPr>
          <p:spPr>
            <a:xfrm>
              <a:off x="10737656" y="4865686"/>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4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生态商城</a:t>
              </a:r>
              <a:endPar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357" name="textbox 202"/>
            <p:cNvSpPr/>
            <p:nvPr/>
          </p:nvSpPr>
          <p:spPr>
            <a:xfrm>
              <a:off x="10737656" y="4912122"/>
              <a:ext cx="1011877" cy="247262"/>
            </a:xfrm>
            <a:prstGeom prst="rect">
              <a:avLst/>
            </a:prstGeom>
            <a:noFill/>
            <a:ln w="0" cap="flat">
              <a:noFill/>
              <a:prstDash val="solid"/>
              <a:miter lim="0"/>
            </a:ln>
          </p:spPr>
          <p:txBody>
            <a:bodyPr vert="horz" wrap="square" lIns="0" tIns="0" rIns="0" bIns="0"/>
            <a:lstStyle/>
            <a:p>
              <a:pPr algn="ctr" rtl="0" eaLnBrk="0">
                <a:lnSpc>
                  <a:spcPct val="84000"/>
                </a:lnSpc>
              </a:pPr>
              <a:endParaRPr sz="650" dirty="0">
                <a:latin typeface="+mn-ea"/>
                <a:cs typeface="Arial" panose="020B0604020202020204"/>
              </a:endParaRPr>
            </a:p>
            <a:p>
              <a:pPr marL="14605" algn="ctr" eaLnBrk="0">
                <a:lnSpc>
                  <a:spcPct val="87000"/>
                </a:lnSpc>
                <a:spcBef>
                  <a:spcPts val="315"/>
                </a:spcBef>
              </a:pPr>
              <a:r>
                <a:rPr lang="zh-CN" altLang="en-US" sz="650" dirty="0">
                  <a:latin typeface="+mn-ea"/>
                  <a:cs typeface="Arial" panose="020B0604020202020204"/>
                </a:rPr>
                <a:t>算法插件 </a:t>
              </a:r>
              <a:r>
                <a:rPr lang="en-US" altLang="zh-CN" sz="650" dirty="0">
                  <a:latin typeface="+mn-ea"/>
                  <a:cs typeface="Arial" panose="020B0604020202020204"/>
                </a:rPr>
                <a:t>· </a:t>
              </a:r>
              <a:r>
                <a:rPr lang="zh-CN" altLang="en-US" sz="650" dirty="0">
                  <a:latin typeface="+mn-ea"/>
                  <a:cs typeface="Arial" panose="020B0604020202020204"/>
                </a:rPr>
                <a:t>应用插件</a:t>
              </a:r>
              <a:endParaRPr sz="650" dirty="0">
                <a:latin typeface="+mn-ea"/>
                <a:cs typeface="Arial" panose="020B0604020202020204"/>
              </a:endParaRPr>
            </a:p>
          </p:txBody>
        </p:sp>
      </p:grpSp>
      <p:grpSp>
        <p:nvGrpSpPr>
          <p:cNvPr id="143" name="组合 142"/>
          <p:cNvGrpSpPr/>
          <p:nvPr/>
        </p:nvGrpSpPr>
        <p:grpSpPr>
          <a:xfrm>
            <a:off x="10737656" y="4822049"/>
            <a:ext cx="1011877" cy="293698"/>
            <a:chOff x="10737656" y="5412235"/>
            <a:chExt cx="1011877" cy="293698"/>
          </a:xfrm>
        </p:grpSpPr>
        <p:sp>
          <p:nvSpPr>
            <p:cNvPr id="359" name="textbox 202"/>
            <p:cNvSpPr/>
            <p:nvPr/>
          </p:nvSpPr>
          <p:spPr>
            <a:xfrm>
              <a:off x="10737656" y="5412235"/>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4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项目榜单</a:t>
              </a:r>
              <a:endParaRPr sz="115" dirty="0">
                <a:latin typeface="Arial" panose="020B0604020202020204"/>
                <a:ea typeface="Arial" panose="020B0604020202020204"/>
                <a:cs typeface="Arial" panose="020B0604020202020204"/>
              </a:endParaRPr>
            </a:p>
          </p:txBody>
        </p:sp>
        <p:sp>
          <p:nvSpPr>
            <p:cNvPr id="360" name="textbox 202"/>
            <p:cNvSpPr/>
            <p:nvPr/>
          </p:nvSpPr>
          <p:spPr>
            <a:xfrm>
              <a:off x="10737656" y="5458671"/>
              <a:ext cx="1011877" cy="247262"/>
            </a:xfrm>
            <a:prstGeom prst="rect">
              <a:avLst/>
            </a:prstGeom>
            <a:noFill/>
            <a:ln w="0" cap="flat">
              <a:noFill/>
              <a:prstDash val="solid"/>
              <a:miter lim="0"/>
            </a:ln>
          </p:spPr>
          <p:txBody>
            <a:bodyPr vert="horz" wrap="square" lIns="0" tIns="0" rIns="0" bIns="0"/>
            <a:lstStyle/>
            <a:p>
              <a:pPr marL="14605" algn="ctr" eaLnBrk="0">
                <a:lnSpc>
                  <a:spcPct val="87000"/>
                </a:lnSpc>
                <a:spcBef>
                  <a:spcPts val="315"/>
                </a:spcBef>
              </a:pPr>
              <a:endParaRPr lang="en-US" altLang="zh-CN" sz="650" dirty="0">
                <a:latin typeface="+mn-ea"/>
                <a:cs typeface="Arial" panose="020B0604020202020204"/>
              </a:endParaRPr>
            </a:p>
            <a:p>
              <a:pPr marL="14605" algn="ctr" eaLnBrk="0">
                <a:lnSpc>
                  <a:spcPct val="87000"/>
                </a:lnSpc>
                <a:spcBef>
                  <a:spcPts val="315"/>
                </a:spcBef>
              </a:pPr>
              <a:r>
                <a:rPr lang="zh-CN" altLang="en-US" sz="650" dirty="0">
                  <a:latin typeface="+mn-ea"/>
                  <a:cs typeface="Arial" panose="020B0604020202020204"/>
                </a:rPr>
                <a:t>契约 </a:t>
              </a:r>
              <a:r>
                <a:rPr lang="en-US" altLang="zh-CN" sz="650" dirty="0">
                  <a:latin typeface="+mn-ea"/>
                  <a:cs typeface="Arial" panose="020B0604020202020204"/>
                </a:rPr>
                <a:t>· </a:t>
              </a:r>
              <a:r>
                <a:rPr lang="zh-CN" altLang="en-US" sz="650" dirty="0">
                  <a:latin typeface="+mn-ea"/>
                  <a:cs typeface="Arial" panose="020B0604020202020204"/>
                </a:rPr>
                <a:t>兼容 </a:t>
              </a:r>
              <a:r>
                <a:rPr lang="en-US" altLang="zh-CN" sz="650" dirty="0">
                  <a:latin typeface="+mn-ea"/>
                  <a:cs typeface="Arial" panose="020B0604020202020204"/>
                </a:rPr>
                <a:t>· </a:t>
              </a:r>
              <a:r>
                <a:rPr lang="zh-CN" altLang="en-US" sz="650" dirty="0">
                  <a:latin typeface="+mn-ea"/>
                  <a:cs typeface="Arial" panose="020B0604020202020204"/>
                </a:rPr>
                <a:t>安全</a:t>
              </a:r>
              <a:endParaRPr lang="zh-CN" altLang="en-US" sz="650" dirty="0">
                <a:latin typeface="+mn-ea"/>
                <a:cs typeface="Arial" panose="020B0604020202020204"/>
              </a:endParaRPr>
            </a:p>
            <a:p>
              <a:pPr algn="ctr" rtl="0" eaLnBrk="0">
                <a:lnSpc>
                  <a:spcPct val="189000"/>
                </a:lnSpc>
              </a:pPr>
              <a:endParaRPr sz="650" dirty="0">
                <a:latin typeface="Arial" panose="020B0604020202020204"/>
                <a:ea typeface="Arial" panose="020B0604020202020204"/>
                <a:cs typeface="Arial" panose="020B0604020202020204"/>
              </a:endParaRPr>
            </a:p>
          </p:txBody>
        </p:sp>
      </p:grpSp>
      <p:grpSp>
        <p:nvGrpSpPr>
          <p:cNvPr id="145" name="组合 144"/>
          <p:cNvGrpSpPr/>
          <p:nvPr/>
        </p:nvGrpSpPr>
        <p:grpSpPr>
          <a:xfrm>
            <a:off x="10737656" y="5410446"/>
            <a:ext cx="1011877" cy="411396"/>
            <a:chOff x="10737656" y="5958782"/>
            <a:chExt cx="1011877" cy="411396"/>
          </a:xfrm>
        </p:grpSpPr>
        <p:sp>
          <p:nvSpPr>
            <p:cNvPr id="368" name="textbox 202"/>
            <p:cNvSpPr/>
            <p:nvPr/>
          </p:nvSpPr>
          <p:spPr>
            <a:xfrm>
              <a:off x="10737656" y="5958782"/>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5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后台管理</a:t>
              </a:r>
              <a:endParaRPr sz="115" dirty="0">
                <a:latin typeface="Arial" panose="020B0604020202020204"/>
                <a:ea typeface="Arial" panose="020B0604020202020204"/>
                <a:cs typeface="Arial" panose="020B0604020202020204"/>
              </a:endParaRPr>
            </a:p>
          </p:txBody>
        </p:sp>
        <p:sp>
          <p:nvSpPr>
            <p:cNvPr id="369" name="textbox 202"/>
            <p:cNvSpPr/>
            <p:nvPr/>
          </p:nvSpPr>
          <p:spPr>
            <a:xfrm>
              <a:off x="10737656" y="6122916"/>
              <a:ext cx="1011877" cy="247262"/>
            </a:xfrm>
            <a:prstGeom prst="rect">
              <a:avLst/>
            </a:prstGeom>
            <a:noFill/>
            <a:ln w="0" cap="flat">
              <a:noFill/>
              <a:prstDash val="solid"/>
              <a:miter lim="0"/>
            </a:ln>
          </p:spPr>
          <p:txBody>
            <a:bodyPr vert="horz" wrap="square" lIns="0" tIns="0" rIns="0" bIns="0"/>
            <a:lstStyle/>
            <a:p>
              <a:pPr marL="14605" algn="ctr" eaLnBrk="0">
                <a:lnSpc>
                  <a:spcPct val="87000"/>
                </a:lnSpc>
                <a:spcBef>
                  <a:spcPts val="315"/>
                </a:spcBef>
              </a:pPr>
              <a:r>
                <a:rPr lang="zh-CN" altLang="en-US" sz="650" dirty="0">
                  <a:latin typeface="+mn-ea"/>
                  <a:cs typeface="Arial" panose="020B0604020202020204"/>
                </a:rPr>
                <a:t>上架 </a:t>
              </a:r>
              <a:r>
                <a:rPr lang="en-US" altLang="zh-CN" sz="650" dirty="0">
                  <a:latin typeface="+mn-ea"/>
                  <a:cs typeface="Arial" panose="020B0604020202020204"/>
                </a:rPr>
                <a:t>· </a:t>
              </a:r>
              <a:r>
                <a:rPr lang="zh-CN" altLang="en-US" sz="650" dirty="0">
                  <a:latin typeface="+mn-ea"/>
                  <a:cs typeface="Arial" panose="020B0604020202020204"/>
                </a:rPr>
                <a:t>审核 </a:t>
              </a:r>
              <a:r>
                <a:rPr lang="en-US" altLang="zh-CN" sz="650" dirty="0">
                  <a:latin typeface="+mn-ea"/>
                  <a:cs typeface="Arial" panose="020B0604020202020204"/>
                </a:rPr>
                <a:t>· </a:t>
              </a:r>
              <a:r>
                <a:rPr lang="zh-CN" altLang="en-US" sz="650" dirty="0">
                  <a:latin typeface="+mn-ea"/>
                  <a:cs typeface="Arial" panose="020B0604020202020204"/>
                </a:rPr>
                <a:t>售后</a:t>
              </a:r>
              <a:endParaRPr sz="650" dirty="0">
                <a:latin typeface="+mn-ea"/>
                <a:cs typeface="Arial" panose="020B0604020202020204"/>
              </a:endParaRPr>
            </a:p>
          </p:txBody>
        </p:sp>
      </p:grpSp>
      <p:sp>
        <p:nvSpPr>
          <p:cNvPr id="372" name="textbox 218"/>
          <p:cNvSpPr/>
          <p:nvPr/>
        </p:nvSpPr>
        <p:spPr>
          <a:xfrm>
            <a:off x="440849" y="3807338"/>
            <a:ext cx="735056" cy="618913"/>
          </a:xfrm>
          <a:prstGeom prst="rect">
            <a:avLst/>
          </a:prstGeom>
          <a:noFill/>
          <a:ln w="0" cap="flat">
            <a:noFill/>
            <a:prstDash val="solid"/>
            <a:miter lim="0"/>
          </a:ln>
        </p:spPr>
        <p:txBody>
          <a:bodyPr vert="horz" wrap="square" lIns="0" tIns="0" rIns="0" bIns="0"/>
          <a:lstStyle/>
          <a:p>
            <a:pPr algn="ctr" rtl="0" eaLnBrk="0"/>
            <a:endParaRPr sz="900" dirty="0">
              <a:solidFill>
                <a:srgbClr val="969696"/>
              </a:solidFill>
              <a:latin typeface="OPPOSans B" panose="00020600040101010101" charset="-122"/>
              <a:ea typeface="OPPOSans B" panose="00020600040101010101" charset="-122"/>
              <a:cs typeface="OPPOSans B" panose="00020600040101010101" charset="-122"/>
            </a:endParaRPr>
          </a:p>
          <a:p>
            <a:pPr marL="14605" algn="ctr" eaLnBrk="0"/>
            <a:r>
              <a:rPr lang="zh-CN" altLang="en-US" sz="900" kern="0" spc="11" dirty="0">
                <a:solidFill>
                  <a:srgbClr val="969696"/>
                </a:solidFill>
                <a:latin typeface="OPPOSans B" panose="00020600040101010101" charset="-122"/>
                <a:ea typeface="OPPOSans B" panose="00020600040101010101" charset="-122"/>
                <a:cs typeface="OPPOSans B" panose="00020600040101010101" charset="-122"/>
              </a:rPr>
              <a:t>统一认证</a:t>
            </a:r>
            <a:endParaRPr lang="en-US" altLang="zh-CN" sz="900" kern="0" spc="11" dirty="0">
              <a:solidFill>
                <a:srgbClr val="969696"/>
              </a:solidFill>
              <a:latin typeface="OPPOSans B" panose="00020600040101010101" charset="-122"/>
              <a:ea typeface="OPPOSans B" panose="00020600040101010101" charset="-122"/>
              <a:cs typeface="OPPOSans B" panose="00020600040101010101" charset="-122"/>
            </a:endParaRPr>
          </a:p>
          <a:p>
            <a:pPr marL="14605" algn="ctr" eaLnBrk="0"/>
            <a:r>
              <a:rPr lang="zh-CN" altLang="en-US" sz="900" kern="0" spc="11" dirty="0">
                <a:solidFill>
                  <a:srgbClr val="969696"/>
                </a:solidFill>
                <a:latin typeface="OPPOSans B" panose="00020600040101010101" charset="-122"/>
                <a:ea typeface="OPPOSans B" panose="00020600040101010101" charset="-122"/>
                <a:cs typeface="OPPOSans B" panose="00020600040101010101" charset="-122"/>
              </a:rPr>
              <a:t>平台</a:t>
            </a:r>
            <a:endParaRPr sz="900" dirty="0">
              <a:solidFill>
                <a:srgbClr val="969696"/>
              </a:solidFill>
              <a:latin typeface="OPPOSans B" panose="00020600040101010101" charset="-122"/>
              <a:ea typeface="OPPOSans B" panose="00020600040101010101" charset="-122"/>
              <a:cs typeface="OPPOSans B" panose="00020600040101010101" charset="-122"/>
            </a:endParaRPr>
          </a:p>
        </p:txBody>
      </p:sp>
      <p:grpSp>
        <p:nvGrpSpPr>
          <p:cNvPr id="375" name="组合 374"/>
          <p:cNvGrpSpPr/>
          <p:nvPr/>
        </p:nvGrpSpPr>
        <p:grpSpPr>
          <a:xfrm>
            <a:off x="7167302" y="2032134"/>
            <a:ext cx="3030961" cy="337242"/>
            <a:chOff x="8203250" y="2620563"/>
            <a:chExt cx="3502739" cy="337242"/>
          </a:xfrm>
        </p:grpSpPr>
        <p:sp>
          <p:nvSpPr>
            <p:cNvPr id="376" name="textbox 202"/>
            <p:cNvSpPr/>
            <p:nvPr/>
          </p:nvSpPr>
          <p:spPr>
            <a:xfrm>
              <a:off x="10694111" y="2620563"/>
              <a:ext cx="1011877"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92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场景应用</a:t>
              </a:r>
              <a:endPar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377" name="textbox 202"/>
            <p:cNvSpPr/>
            <p:nvPr/>
          </p:nvSpPr>
          <p:spPr>
            <a:xfrm>
              <a:off x="10694112" y="2710543"/>
              <a:ext cx="1011877" cy="247262"/>
            </a:xfrm>
            <a:prstGeom prst="rect">
              <a:avLst/>
            </a:prstGeom>
            <a:noFill/>
            <a:ln w="0" cap="flat">
              <a:noFill/>
              <a:prstDash val="solid"/>
              <a:miter lim="0"/>
            </a:ln>
          </p:spPr>
          <p:txBody>
            <a:bodyPr vert="horz" wrap="square" lIns="0" tIns="0" rIns="0" bIns="0"/>
            <a:lstStyle/>
            <a:p>
              <a:pPr algn="ctr" eaLnBrk="0">
                <a:lnSpc>
                  <a:spcPct val="84000"/>
                </a:lnSpc>
                <a:spcBef>
                  <a:spcPts val="5"/>
                </a:spcBef>
              </a:pPr>
              <a:endParaRPr lang="en-US" altLang="zh-CN" sz="700" kern="0" spc="-23" dirty="0">
                <a:solidFill>
                  <a:srgbClr val="3E3A39">
                    <a:alpha val="100000"/>
                  </a:srgbClr>
                </a:solidFill>
                <a:latin typeface="+mn-ea"/>
                <a:cs typeface="OPPOSans R" panose="00020600040101010101" pitchFamily="18" charset="-122"/>
              </a:endParaRPr>
            </a:p>
            <a:p>
              <a:pPr algn="ctr" eaLnBrk="0">
                <a:lnSpc>
                  <a:spcPct val="84000"/>
                </a:lnSpc>
                <a:spcBef>
                  <a:spcPts val="5"/>
                </a:spcBef>
              </a:pP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AI</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开发发布</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378" name="textbox 202"/>
            <p:cNvSpPr/>
            <p:nvPr/>
          </p:nvSpPr>
          <p:spPr>
            <a:xfrm>
              <a:off x="9443289" y="2620563"/>
              <a:ext cx="1011877"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98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myTwin</a:t>
              </a:r>
              <a:endParaRPr lang="en-US" altLang="zh-CN"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79" name="textbox 202"/>
            <p:cNvSpPr/>
            <p:nvPr/>
          </p:nvSpPr>
          <p:spPr>
            <a:xfrm>
              <a:off x="9443290" y="2710543"/>
              <a:ext cx="1011877"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algn="ctr" eaLnBrk="0">
                <a:lnSpc>
                  <a:spcPct val="84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数字孪生</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380" name="textbox 202"/>
            <p:cNvSpPr/>
            <p:nvPr/>
          </p:nvSpPr>
          <p:spPr>
            <a:xfrm>
              <a:off x="8203250" y="2620563"/>
              <a:ext cx="1011877"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98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myView</a:t>
              </a:r>
              <a:endParaRPr lang="en-US" altLang="zh-CN"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81" name="textbox 202"/>
            <p:cNvSpPr/>
            <p:nvPr/>
          </p:nvSpPr>
          <p:spPr>
            <a:xfrm>
              <a:off x="8203251" y="2710543"/>
              <a:ext cx="1011877"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algn="ctr" eaLnBrk="0">
                <a:lnSpc>
                  <a:spcPct val="84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数字看板</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grpSp>
        <p:nvGrpSpPr>
          <p:cNvPr id="382" name="组合 381"/>
          <p:cNvGrpSpPr/>
          <p:nvPr/>
        </p:nvGrpSpPr>
        <p:grpSpPr>
          <a:xfrm>
            <a:off x="6052561" y="2050958"/>
            <a:ext cx="917310" cy="318418"/>
            <a:chOff x="6052561" y="3390681"/>
            <a:chExt cx="917310" cy="318418"/>
          </a:xfrm>
        </p:grpSpPr>
        <p:sp>
          <p:nvSpPr>
            <p:cNvPr id="383" name="textbox 202"/>
            <p:cNvSpPr/>
            <p:nvPr/>
          </p:nvSpPr>
          <p:spPr>
            <a:xfrm>
              <a:off x="6052561" y="3390681"/>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86360" algn="ctr" eaLnBrk="0">
                <a:lnSpc>
                  <a:spcPct val="92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myRCS</a:t>
              </a:r>
              <a:endParaRPr lang="en-US" altLang="zh-CN"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84" name="textbox 202"/>
            <p:cNvSpPr/>
            <p:nvPr/>
          </p:nvSpPr>
          <p:spPr>
            <a:xfrm>
              <a:off x="6094282" y="3461837"/>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marL="14605" algn="ctr" eaLnBrk="0">
                <a:lnSpc>
                  <a:spcPct val="86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任务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路径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协同</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grpSp>
      <p:grpSp>
        <p:nvGrpSpPr>
          <p:cNvPr id="385" name="组合 384"/>
          <p:cNvGrpSpPr/>
          <p:nvPr/>
        </p:nvGrpSpPr>
        <p:grpSpPr>
          <a:xfrm>
            <a:off x="5011930" y="2032134"/>
            <a:ext cx="875590" cy="337242"/>
            <a:chOff x="5011930" y="3371857"/>
            <a:chExt cx="875590" cy="337242"/>
          </a:xfrm>
        </p:grpSpPr>
        <p:sp>
          <p:nvSpPr>
            <p:cNvPr id="386" name="textbox 202"/>
            <p:cNvSpPr/>
            <p:nvPr/>
          </p:nvSpPr>
          <p:spPr>
            <a:xfrm>
              <a:off x="5011930" y="3371857"/>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92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mySCADA</a:t>
              </a:r>
              <a:endParaRPr lang="en-US" altLang="zh-CN"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a:p>
              <a:pPr algn="ctr" rtl="0" eaLnBrk="0">
                <a:lnSpc>
                  <a:spcPct val="189000"/>
                </a:lnSpc>
              </a:pPr>
              <a:endParaRPr sz="115" dirty="0">
                <a:latin typeface="Arial" panose="020B0604020202020204"/>
                <a:ea typeface="Arial" panose="020B0604020202020204"/>
                <a:cs typeface="Arial" panose="020B0604020202020204"/>
              </a:endParaRPr>
            </a:p>
          </p:txBody>
        </p:sp>
        <p:sp>
          <p:nvSpPr>
            <p:cNvPr id="387" name="textbox 202"/>
            <p:cNvSpPr/>
            <p:nvPr/>
          </p:nvSpPr>
          <p:spPr>
            <a:xfrm>
              <a:off x="5011931" y="3461837"/>
              <a:ext cx="875589" cy="247262"/>
            </a:xfrm>
            <a:prstGeom prst="rect">
              <a:avLst/>
            </a:prstGeom>
            <a:noFill/>
            <a:ln w="0" cap="flat">
              <a:noFill/>
              <a:prstDash val="solid"/>
              <a:miter lim="0"/>
            </a:ln>
          </p:spPr>
          <p:txBody>
            <a:bodyPr vert="horz" wrap="square" lIns="0" tIns="0" rIns="0" bIns="0"/>
            <a:lstStyle/>
            <a:p>
              <a:pPr algn="ctr" rtl="0" eaLnBrk="0">
                <a:lnSpc>
                  <a:spcPct val="84000"/>
                </a:lnSpc>
              </a:pPr>
              <a:endParaRPr sz="800" dirty="0">
                <a:latin typeface="+mn-ea"/>
                <a:cs typeface="Arial" panose="020B0604020202020204"/>
              </a:endParaRPr>
            </a:p>
            <a:p>
              <a:pPr algn="ctr" eaLnBrk="0">
                <a:lnSpc>
                  <a:spcPct val="84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连接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协议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实例</a:t>
              </a:r>
              <a:endPar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grpSp>
        <p:nvGrpSpPr>
          <p:cNvPr id="388" name="组合 387"/>
          <p:cNvGrpSpPr/>
          <p:nvPr/>
        </p:nvGrpSpPr>
        <p:grpSpPr>
          <a:xfrm>
            <a:off x="3938910" y="2032134"/>
            <a:ext cx="875590" cy="337242"/>
            <a:chOff x="3938910" y="3371857"/>
            <a:chExt cx="875590" cy="337242"/>
          </a:xfrm>
        </p:grpSpPr>
        <p:sp>
          <p:nvSpPr>
            <p:cNvPr id="389" name="textbox 202"/>
            <p:cNvSpPr/>
            <p:nvPr/>
          </p:nvSpPr>
          <p:spPr>
            <a:xfrm>
              <a:off x="3938910" y="3371857"/>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lang="zh-CN" altLang="en-US" sz="115" dirty="0">
                <a:latin typeface="Arial" panose="020B0604020202020204"/>
                <a:ea typeface="Arial" panose="020B0604020202020204"/>
                <a:cs typeface="Arial" panose="020B0604020202020204"/>
              </a:endParaRPr>
            </a:p>
            <a:p>
              <a:pPr marL="15875" algn="ctr" eaLnBrk="0">
                <a:lnSpc>
                  <a:spcPct val="86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myMES</a:t>
              </a:r>
              <a:endParaRPr lang="en-US" altLang="zh-CN"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90" name="textbox 202"/>
            <p:cNvSpPr/>
            <p:nvPr/>
          </p:nvSpPr>
          <p:spPr>
            <a:xfrm>
              <a:off x="3938911" y="3461837"/>
              <a:ext cx="875589" cy="247262"/>
            </a:xfrm>
            <a:prstGeom prst="rect">
              <a:avLst/>
            </a:prstGeom>
            <a:noFill/>
            <a:ln w="0" cap="flat">
              <a:noFill/>
              <a:prstDash val="solid"/>
              <a:miter lim="0"/>
            </a:ln>
          </p:spPr>
          <p:txBody>
            <a:bodyPr vert="horz" wrap="square" lIns="0" tIns="0" rIns="0" bIns="0"/>
            <a:lstStyle/>
            <a:p>
              <a:pPr algn="ctr" eaLnBrk="0">
                <a:lnSpc>
                  <a:spcPct val="84000"/>
                </a:lnSpc>
              </a:pPr>
              <a:endParaRPr sz="700" kern="0" spc="-23" dirty="0">
                <a:solidFill>
                  <a:srgbClr val="3E3A39">
                    <a:alpha val="100000"/>
                  </a:srgbClr>
                </a:solidFill>
                <a:latin typeface="+mn-ea"/>
                <a:cs typeface="OPPOSans R" panose="00020600040101010101" pitchFamily="18" charset="-122"/>
              </a:endParaRPr>
            </a:p>
            <a:p>
              <a:pPr algn="ctr" eaLnBrk="0">
                <a:lnSpc>
                  <a:spcPct val="84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产品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工艺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工序</a:t>
              </a:r>
              <a:endParaRPr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grpSp>
        <p:nvGrpSpPr>
          <p:cNvPr id="391" name="组合 390"/>
          <p:cNvGrpSpPr/>
          <p:nvPr/>
        </p:nvGrpSpPr>
        <p:grpSpPr>
          <a:xfrm>
            <a:off x="2865890" y="2032134"/>
            <a:ext cx="875590" cy="411885"/>
            <a:chOff x="3938910" y="3371857"/>
            <a:chExt cx="875590" cy="411885"/>
          </a:xfrm>
        </p:grpSpPr>
        <p:sp>
          <p:nvSpPr>
            <p:cNvPr id="392" name="textbox 202"/>
            <p:cNvSpPr/>
            <p:nvPr/>
          </p:nvSpPr>
          <p:spPr>
            <a:xfrm>
              <a:off x="3938910" y="3371857"/>
              <a:ext cx="875589" cy="141323"/>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5875" algn="ctr" eaLnBrk="0">
                <a:lnSpc>
                  <a:spcPct val="86000"/>
                </a:lnSpc>
              </a:pPr>
              <a:r>
                <a:rPr lang="en-US" altLang="zh-CN" sz="1000" kern="0" spc="-11" dirty="0" err="1">
                  <a:solidFill>
                    <a:srgbClr val="000000">
                      <a:alpha val="100000"/>
                    </a:srgbClr>
                  </a:solidFill>
                  <a:latin typeface="OPPOSans M" panose="00020600040101010101" charset="-122"/>
                  <a:ea typeface="OPPOSans M" panose="00020600040101010101" charset="-122"/>
                  <a:cs typeface="OPPOSans R" panose="00020600040101010101" pitchFamily="18" charset="-122"/>
                </a:rPr>
                <a:t>myDATA</a:t>
              </a:r>
              <a:endPar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393" name="textbox 202"/>
            <p:cNvSpPr/>
            <p:nvPr/>
          </p:nvSpPr>
          <p:spPr>
            <a:xfrm>
              <a:off x="3938911" y="3536480"/>
              <a:ext cx="875589" cy="247262"/>
            </a:xfrm>
            <a:prstGeom prst="rect">
              <a:avLst/>
            </a:prstGeom>
            <a:noFill/>
            <a:ln w="0" cap="flat">
              <a:noFill/>
              <a:prstDash val="solid"/>
              <a:miter lim="0"/>
            </a:ln>
          </p:spPr>
          <p:txBody>
            <a:bodyPr vert="horz" wrap="square" lIns="0" tIns="0" rIns="0" bIns="0"/>
            <a:lstStyle/>
            <a:p>
              <a:pPr algn="ctr" rtl="0" eaLnBrk="0">
                <a:lnSpc>
                  <a:spcPct val="84000"/>
                </a:lnSpc>
              </a:pP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模型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能力 </a:t>
              </a:r>
              <a:r>
                <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rPr>
                <a:t>版本</a:t>
              </a:r>
              <a:endParaRPr lang="en-US" altLang="zh-CN" sz="570" kern="0" spc="-11" dirty="0">
                <a:solidFill>
                  <a:srgbClr val="3E3A39">
                    <a:alpha val="100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grpSp>
      <p:sp>
        <p:nvSpPr>
          <p:cNvPr id="3" name="textbox 220"/>
          <p:cNvSpPr/>
          <p:nvPr/>
        </p:nvSpPr>
        <p:spPr>
          <a:xfrm>
            <a:off x="3677310" y="6087366"/>
            <a:ext cx="2058744" cy="143989"/>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86000"/>
              </a:lnSpc>
            </a:pPr>
            <a:r>
              <a:rPr sz="910" kern="0" spc="11" dirty="0" err="1">
                <a:solidFill>
                  <a:srgbClr val="000000">
                    <a:alpha val="100000"/>
                  </a:srgbClr>
                </a:solidFill>
                <a:latin typeface="OPPOSans M" panose="00020600040101010101" charset="-122"/>
                <a:ea typeface="OPPOSans M" panose="00020600040101010101" charset="-122"/>
                <a:cs typeface="OPPOSans M" panose="00020600040101010101" charset="-122"/>
              </a:rPr>
              <a:t>模块化</a:t>
            </a:r>
            <a:r>
              <a:rPr lang="en-US" sz="910" kern="0" spc="11" dirty="0">
                <a:solidFill>
                  <a:srgbClr val="000000">
                    <a:alpha val="100000"/>
                  </a:srgbClr>
                </a:solidFill>
                <a:latin typeface="OPPOSans M" panose="00020600040101010101" charset="-122"/>
                <a:ea typeface="OPPOSans M" panose="00020600040101010101" charset="-122"/>
                <a:cs typeface="OPPOSans M" panose="00020600040101010101" charset="-122"/>
              </a:rPr>
              <a:t> </a:t>
            </a:r>
            <a:r>
              <a:rPr lang="en-US" sz="910" kern="0" dirty="0">
                <a:solidFill>
                  <a:srgbClr val="000000">
                    <a:alpha val="100000"/>
                  </a:srgbClr>
                </a:solidFill>
                <a:latin typeface="OPPOSans M" panose="00020600040101010101" charset="-122"/>
                <a:ea typeface="OPPOSans M" panose="00020600040101010101" charset="-122"/>
                <a:cs typeface="OPPOSans M" panose="00020600040101010101" charset="-122"/>
              </a:rPr>
              <a:t>MCR</a:t>
            </a:r>
            <a:endParaRPr sz="910" dirty="0">
              <a:latin typeface="OPPOSans M" panose="00020600040101010101" charset="-122"/>
              <a:ea typeface="OPPOSans M" panose="00020600040101010101" charset="-122"/>
              <a:cs typeface="OPPOSans M" panose="00020600040101010101" charset="-122"/>
            </a:endParaRPr>
          </a:p>
        </p:txBody>
      </p:sp>
      <p:sp>
        <p:nvSpPr>
          <p:cNvPr id="5" name="textbox 220"/>
          <p:cNvSpPr/>
          <p:nvPr/>
        </p:nvSpPr>
        <p:spPr>
          <a:xfrm>
            <a:off x="5908414" y="6087366"/>
            <a:ext cx="2058744" cy="143989"/>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87000"/>
              </a:lnSpc>
            </a:pPr>
            <a:r>
              <a:rPr lang="zh-CN" altLang="en-US" sz="91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柔性组装设备</a:t>
            </a:r>
            <a:endParaRPr lang="zh-CN" altLang="en-US" sz="910" dirty="0">
              <a:latin typeface="OPPOSans M" panose="00020600040101010101" charset="-122"/>
              <a:ea typeface="OPPOSans M" panose="00020600040101010101" charset="-122"/>
              <a:cs typeface="OPPOSans R" panose="00020600040101010101" pitchFamily="18" charset="-122"/>
            </a:endParaRPr>
          </a:p>
        </p:txBody>
      </p:sp>
      <p:sp>
        <p:nvSpPr>
          <p:cNvPr id="25" name="textbox 220"/>
          <p:cNvSpPr/>
          <p:nvPr/>
        </p:nvSpPr>
        <p:spPr>
          <a:xfrm>
            <a:off x="8139519" y="6087366"/>
            <a:ext cx="2058744" cy="143989"/>
          </a:xfrm>
          <a:prstGeom prst="rect">
            <a:avLst/>
          </a:prstGeom>
          <a:noFill/>
          <a:ln w="0" cap="flat">
            <a:noFill/>
            <a:prstDash val="solid"/>
            <a:miter lim="0"/>
          </a:ln>
        </p:spPr>
        <p:txBody>
          <a:bodyPr vert="horz" wrap="square" lIns="0" tIns="0" rIns="0" bIns="0"/>
          <a:lstStyle/>
          <a:p>
            <a:pPr algn="ctr" rtl="0" eaLnBrk="0">
              <a:lnSpc>
                <a:spcPct val="84000"/>
              </a:lnSpc>
            </a:pPr>
            <a:endParaRPr sz="115" dirty="0">
              <a:latin typeface="Arial" panose="020B0604020202020204"/>
              <a:ea typeface="Arial" panose="020B0604020202020204"/>
              <a:cs typeface="Arial" panose="020B0604020202020204"/>
            </a:endParaRPr>
          </a:p>
          <a:p>
            <a:pPr marL="14605" algn="ctr" eaLnBrk="0">
              <a:lnSpc>
                <a:spcPct val="86000"/>
              </a:lnSpc>
            </a:pPr>
            <a:r>
              <a:rPr lang="zh-CN" altLang="en-US" sz="91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第三方自研设备</a:t>
            </a:r>
            <a:endParaRPr lang="zh-CN" altLang="en-US" sz="910" dirty="0">
              <a:latin typeface="OPPOSans M" panose="00020600040101010101" charset="-122"/>
              <a:ea typeface="OPPOSans M" panose="00020600040101010101" charset="-122"/>
              <a:cs typeface="OPPOSans R" panose="00020600040101010101" pitchFamily="18" charset="-122"/>
            </a:endParaRPr>
          </a:p>
        </p:txBody>
      </p:sp>
      <p:sp>
        <p:nvSpPr>
          <p:cNvPr id="27" name="右箭头 16"/>
          <p:cNvSpPr>
            <a:spLocks noChangeAspect="1"/>
          </p:cNvSpPr>
          <p:nvPr/>
        </p:nvSpPr>
        <p:spPr>
          <a:xfrm rot="5400000">
            <a:off x="6002382" y="2626706"/>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 </a:t>
            </a:r>
            <a:endParaRPr lang="zh-CN" altLang="en-US" dirty="0"/>
          </a:p>
        </p:txBody>
      </p:sp>
      <p:sp>
        <p:nvSpPr>
          <p:cNvPr id="30" name="右箭头 16"/>
          <p:cNvSpPr>
            <a:spLocks noChangeAspect="1"/>
          </p:cNvSpPr>
          <p:nvPr/>
        </p:nvSpPr>
        <p:spPr>
          <a:xfrm rot="5400000">
            <a:off x="6002382" y="3982667"/>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31" name="右箭头 16"/>
          <p:cNvSpPr>
            <a:spLocks noChangeAspect="1"/>
          </p:cNvSpPr>
          <p:nvPr/>
        </p:nvSpPr>
        <p:spPr>
          <a:xfrm rot="5400000">
            <a:off x="6002382" y="5351293"/>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33" name="右箭头 16"/>
          <p:cNvSpPr>
            <a:spLocks noChangeAspect="1"/>
          </p:cNvSpPr>
          <p:nvPr/>
        </p:nvSpPr>
        <p:spPr>
          <a:xfrm rot="10800000">
            <a:off x="10396586" y="1818751"/>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 </a:t>
            </a:r>
            <a:endParaRPr lang="zh-CN" altLang="en-US" dirty="0"/>
          </a:p>
        </p:txBody>
      </p:sp>
      <p:sp>
        <p:nvSpPr>
          <p:cNvPr id="34" name="右箭头 16"/>
          <p:cNvSpPr>
            <a:spLocks noChangeAspect="1"/>
          </p:cNvSpPr>
          <p:nvPr/>
        </p:nvSpPr>
        <p:spPr>
          <a:xfrm rot="10800000">
            <a:off x="10396586" y="3597260"/>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 </a:t>
            </a:r>
            <a:endParaRPr lang="zh-CN" altLang="en-US" dirty="0"/>
          </a:p>
        </p:txBody>
      </p:sp>
      <p:sp>
        <p:nvSpPr>
          <p:cNvPr id="35" name="右箭头 16"/>
          <p:cNvSpPr>
            <a:spLocks noChangeAspect="1"/>
          </p:cNvSpPr>
          <p:nvPr/>
        </p:nvSpPr>
        <p:spPr>
          <a:xfrm rot="10800000">
            <a:off x="10396586" y="4728413"/>
            <a:ext cx="187236" cy="187272"/>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 </a:t>
            </a:r>
            <a:endParaRPr lang="zh-CN" altLang="en-US" dirty="0"/>
          </a:p>
        </p:txBody>
      </p:sp>
      <p:sp>
        <p:nvSpPr>
          <p:cNvPr id="37" name="textbox 160"/>
          <p:cNvSpPr/>
          <p:nvPr/>
        </p:nvSpPr>
        <p:spPr>
          <a:xfrm>
            <a:off x="2280460" y="5655333"/>
            <a:ext cx="2166331" cy="166509"/>
          </a:xfrm>
          <a:prstGeom prst="rect">
            <a:avLst/>
          </a:prstGeom>
          <a:noFill/>
          <a:ln w="0" cap="flat">
            <a:noFill/>
            <a:prstDash val="solid"/>
            <a:miter lim="0"/>
          </a:ln>
        </p:spPr>
        <p:txBody>
          <a:bodyPr vert="horz" wrap="square" lIns="0" tIns="0" rIns="0" bIns="0"/>
          <a:lstStyle/>
          <a:p>
            <a:pPr algn="ctr" rtl="0" eaLnBrk="0">
              <a:lnSpc>
                <a:spcPct val="86000"/>
              </a:lnSpc>
            </a:pPr>
            <a:endParaRPr sz="115" dirty="0">
              <a:solidFill>
                <a:srgbClr val="101315"/>
              </a:solidFill>
              <a:latin typeface="+mn-ea"/>
              <a:cs typeface="Arial" panose="020B0604020202020204"/>
            </a:endParaRPr>
          </a:p>
          <a:p>
            <a:pPr marL="14605" algn="ctr" eaLnBrk="0">
              <a:lnSpc>
                <a:spcPct val="87000"/>
              </a:lnSpc>
            </a:pPr>
            <a:r>
              <a:rPr sz="685" kern="0" dirty="0" err="1">
                <a:solidFill>
                  <a:srgbClr val="101315"/>
                </a:solidFill>
                <a:latin typeface="+mn-ea"/>
                <a:cs typeface="OPPOSans M" panose="00020600040101010101" charset="-122"/>
              </a:rPr>
              <a:t>模块组合</a:t>
            </a:r>
            <a:r>
              <a:rPr sz="685" kern="0" dirty="0">
                <a:solidFill>
                  <a:srgbClr val="101315"/>
                </a:solidFill>
                <a:latin typeface="+mn-ea"/>
                <a:cs typeface="OPPOSans M" panose="00020600040101010101" charset="-122"/>
              </a:rPr>
              <a:t>: 控制与电气模块·移动底盘模块·操作</a:t>
            </a:r>
            <a:r>
              <a:rPr sz="685" kern="0" spc="-11" dirty="0">
                <a:solidFill>
                  <a:srgbClr val="101315"/>
                </a:solidFill>
                <a:latin typeface="+mn-ea"/>
                <a:cs typeface="OPPOSans M" panose="00020600040101010101" charset="-122"/>
              </a:rPr>
              <a:t>执行模块</a:t>
            </a:r>
            <a:endParaRPr sz="685" dirty="0">
              <a:solidFill>
                <a:srgbClr val="101315"/>
              </a:solidFill>
              <a:latin typeface="+mn-ea"/>
              <a:cs typeface="OPPOSans M" panose="00020600040101010101" charset="-122"/>
            </a:endParaRPr>
          </a:p>
        </p:txBody>
      </p:sp>
      <p:sp>
        <p:nvSpPr>
          <p:cNvPr id="38" name="flow-label-tg"/>
          <p:cNvSpPr>
            <a:spLocks noGrp="1"/>
          </p:cNvSpPr>
          <p:nvPr/>
        </p:nvSpPr>
        <p:spPr>
          <a:xfrm>
            <a:off x="6227403" y="2646319"/>
            <a:ext cx="2476500" cy="133350"/>
          </a:xfrm>
          <a:prstGeom prst="rect">
            <a:avLst/>
          </a:prstGeom>
          <a:noFill/>
          <a:ln w="0">
            <a:noFill/>
            <a:prstDash val="solid"/>
          </a:ln>
        </p:spPr>
        <p:txBody>
          <a:bodyPr lIns="57150" tIns="38100" rIns="57150" bIns="38100" anchor="ctr"/>
          <a:lstStyle/>
          <a:p>
            <a:pPr algn="l">
              <a:defRPr sz="625" b="1">
                <a:solidFill>
                  <a:srgbClr val="4A6B78"/>
                </a:solidFill>
              </a:defRPr>
            </a:pPr>
            <a:r>
              <a:rPr sz="700" b="1" spc="300" dirty="0" err="1">
                <a:solidFill>
                  <a:srgbClr val="C00000"/>
                </a:solidFill>
              </a:rPr>
              <a:t>设备、能力与运行数据</a:t>
            </a:r>
            <a:endParaRPr sz="700" b="1" spc="300" dirty="0">
              <a:solidFill>
                <a:srgbClr val="C00000"/>
              </a:solidFill>
            </a:endParaRPr>
          </a:p>
        </p:txBody>
      </p:sp>
      <p:sp>
        <p:nvSpPr>
          <p:cNvPr id="39" name="flow-label-hardware"/>
          <p:cNvSpPr>
            <a:spLocks noGrp="1"/>
          </p:cNvSpPr>
          <p:nvPr/>
        </p:nvSpPr>
        <p:spPr>
          <a:xfrm>
            <a:off x="6227403" y="4013965"/>
            <a:ext cx="3048000" cy="133350"/>
          </a:xfrm>
          <a:prstGeom prst="rect">
            <a:avLst/>
          </a:prstGeom>
          <a:noFill/>
          <a:ln w="0">
            <a:noFill/>
            <a:prstDash val="solid"/>
          </a:ln>
        </p:spPr>
        <p:txBody>
          <a:bodyPr lIns="57150" tIns="38100" rIns="57150" bIns="38100" anchor="ctr"/>
          <a:lstStyle/>
          <a:p>
            <a:pPr algn="l">
              <a:defRPr sz="625" b="1">
                <a:solidFill>
                  <a:srgbClr val="4A6B78"/>
                </a:solidFill>
              </a:defRPr>
            </a:pPr>
            <a:r>
              <a:rPr sz="700" b="1" spc="300" dirty="0" err="1">
                <a:solidFill>
                  <a:srgbClr val="C00000"/>
                </a:solidFill>
              </a:rPr>
              <a:t>标准接口·协议插件·设备能力</a:t>
            </a:r>
            <a:endParaRPr sz="700" b="1" spc="300" dirty="0">
              <a:solidFill>
                <a:srgbClr val="C00000"/>
              </a:solidFill>
            </a:endParaRPr>
          </a:p>
        </p:txBody>
      </p:sp>
      <p:sp>
        <p:nvSpPr>
          <p:cNvPr id="47" name="flow-label-device"/>
          <p:cNvSpPr>
            <a:spLocks noGrp="1"/>
          </p:cNvSpPr>
          <p:nvPr/>
        </p:nvSpPr>
        <p:spPr>
          <a:xfrm>
            <a:off x="6227403" y="5374589"/>
            <a:ext cx="2381250" cy="133350"/>
          </a:xfrm>
          <a:prstGeom prst="rect">
            <a:avLst/>
          </a:prstGeom>
          <a:noFill/>
          <a:ln w="0">
            <a:noFill/>
            <a:prstDash val="solid"/>
          </a:ln>
        </p:spPr>
        <p:txBody>
          <a:bodyPr lIns="57150" tIns="38100" rIns="57150" bIns="38100" anchor="ctr"/>
          <a:lstStyle/>
          <a:p>
            <a:pPr algn="l">
              <a:defRPr sz="625" b="1">
                <a:solidFill>
                  <a:srgbClr val="4A6B78"/>
                </a:solidFill>
              </a:defRPr>
            </a:pPr>
            <a:r>
              <a:rPr sz="700" b="1" spc="300" dirty="0" err="1">
                <a:solidFill>
                  <a:srgbClr val="C00000"/>
                </a:solidFill>
              </a:rPr>
              <a:t>模组组合与物理装配</a:t>
            </a:r>
            <a:endParaRPr sz="700" b="1" spc="300" dirty="0">
              <a:solidFill>
                <a:srgbClr val="C00000"/>
              </a:solidFill>
            </a:endParaRPr>
          </a:p>
        </p:txBody>
      </p:sp>
      <p:sp>
        <p:nvSpPr>
          <p:cNvPr id="154" name="textbox 160"/>
          <p:cNvSpPr/>
          <p:nvPr/>
        </p:nvSpPr>
        <p:spPr>
          <a:xfrm>
            <a:off x="2886371" y="4280335"/>
            <a:ext cx="3577897" cy="134404"/>
          </a:xfrm>
          <a:prstGeom prst="rect">
            <a:avLst/>
          </a:prstGeom>
          <a:noFill/>
          <a:ln w="0" cap="flat">
            <a:noFill/>
            <a:prstDash val="solid"/>
            <a:miter lim="0"/>
          </a:ln>
        </p:spPr>
        <p:txBody>
          <a:bodyPr vert="horz" wrap="square" lIns="0" tIns="0" rIns="0" bIns="0"/>
          <a:lstStyle/>
          <a:p>
            <a:pPr algn="ctr" rtl="0" eaLnBrk="0">
              <a:lnSpc>
                <a:spcPct val="86000"/>
              </a:lnSpc>
            </a:pPr>
            <a:endParaRPr sz="115" dirty="0">
              <a:solidFill>
                <a:srgbClr val="101315"/>
              </a:solidFill>
              <a:latin typeface="+mn-ea"/>
              <a:cs typeface="Arial" panose="020B0604020202020204"/>
            </a:endParaRPr>
          </a:p>
          <a:p>
            <a:pPr marL="14605" algn="ctr" eaLnBrk="0">
              <a:lnSpc>
                <a:spcPct val="87000"/>
              </a:lnSpc>
            </a:pPr>
            <a:r>
              <a:rPr lang="zh-CN" altLang="en-US" sz="685" kern="0" dirty="0">
                <a:solidFill>
                  <a:srgbClr val="101315"/>
                </a:solidFill>
                <a:latin typeface="+mn-ea"/>
                <a:cs typeface="OPPOSans M" panose="00020600040101010101" charset="-122"/>
              </a:rPr>
              <a:t>统一接口标准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机械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电气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通信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数据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身份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配置 </a:t>
            </a:r>
            <a:r>
              <a:rPr lang="en-US" altLang="zh-CN" sz="685" kern="0" dirty="0">
                <a:solidFill>
                  <a:srgbClr val="101315"/>
                </a:solidFill>
                <a:latin typeface="+mn-ea"/>
                <a:cs typeface="OPPOSans M" panose="00020600040101010101" charset="-122"/>
              </a:rPr>
              <a:t>· </a:t>
            </a:r>
            <a:r>
              <a:rPr lang="zh-CN" altLang="en-US" sz="685" kern="0" dirty="0">
                <a:solidFill>
                  <a:srgbClr val="101315"/>
                </a:solidFill>
                <a:latin typeface="+mn-ea"/>
                <a:cs typeface="OPPOSans M" panose="00020600040101010101" charset="-122"/>
              </a:rPr>
              <a:t>安全 </a:t>
            </a:r>
            <a:r>
              <a:rPr lang="zh-CN" altLang="en-US" sz="685" kern="0" dirty="0">
                <a:solidFill>
                  <a:srgbClr val="101315"/>
                </a:solidFill>
                <a:latin typeface="+mn-ea"/>
                <a:cs typeface="OPPOSans M" panose="00020600040101010101" charset="-122"/>
                <a:sym typeface="+mn-ea"/>
              </a:rPr>
              <a:t>→ </a:t>
            </a:r>
            <a:r>
              <a:rPr lang="zh-CN" altLang="en-US" sz="685" kern="0" dirty="0">
                <a:solidFill>
                  <a:srgbClr val="101315"/>
                </a:solidFill>
                <a:latin typeface="+mn-ea"/>
                <a:cs typeface="OPPOSans M" panose="00020600040101010101" charset="-122"/>
              </a:rPr>
              <a:t>模组设计、适配与认证</a:t>
            </a:r>
            <a:endParaRPr sz="685" kern="0" dirty="0">
              <a:solidFill>
                <a:srgbClr val="101315"/>
              </a:solidFill>
              <a:latin typeface="+mn-ea"/>
              <a:cs typeface="OPPOSans M" panose="00020600040101010101" charset="-122"/>
            </a:endParaRPr>
          </a:p>
        </p:txBody>
      </p:sp>
      <p:grpSp>
        <p:nvGrpSpPr>
          <p:cNvPr id="175" name="组合 174"/>
          <p:cNvGrpSpPr/>
          <p:nvPr/>
        </p:nvGrpSpPr>
        <p:grpSpPr>
          <a:xfrm>
            <a:off x="3307656" y="787156"/>
            <a:ext cx="2672464" cy="511346"/>
            <a:chOff x="3293141" y="787156"/>
            <a:chExt cx="2672464" cy="511346"/>
          </a:xfrm>
        </p:grpSpPr>
        <p:sp>
          <p:nvSpPr>
            <p:cNvPr id="130" name="矩形: 圆顶角 129"/>
            <p:cNvSpPr/>
            <p:nvPr/>
          </p:nvSpPr>
          <p:spPr>
            <a:xfrm rot="16200000">
              <a:off x="3281882" y="798415"/>
              <a:ext cx="511346" cy="488828"/>
            </a:xfrm>
            <a:prstGeom prst="round2SameRect">
              <a:avLst>
                <a:gd name="adj1" fmla="val 28556"/>
                <a:gd name="adj2" fmla="val 0"/>
              </a:avLst>
            </a:prstGeom>
            <a:solidFill>
              <a:srgbClr val="E6E6EA"/>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32" name="矩形: 圆顶角 131"/>
            <p:cNvSpPr/>
            <p:nvPr/>
          </p:nvSpPr>
          <p:spPr>
            <a:xfrm rot="16200000" flipV="1">
              <a:off x="4618113" y="-48990"/>
              <a:ext cx="511346" cy="2183638"/>
            </a:xfrm>
            <a:prstGeom prst="round2SameRect">
              <a:avLst>
                <a:gd name="adj1" fmla="val 21502"/>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nvGrpSpPr>
            <p:cNvPr id="133" name="组合 132"/>
            <p:cNvGrpSpPr/>
            <p:nvPr/>
          </p:nvGrpSpPr>
          <p:grpSpPr>
            <a:xfrm>
              <a:off x="3889601" y="904685"/>
              <a:ext cx="1192983" cy="337242"/>
              <a:chOff x="1702453" y="850613"/>
              <a:chExt cx="1192983" cy="337242"/>
            </a:xfrm>
          </p:grpSpPr>
          <p:sp>
            <p:nvSpPr>
              <p:cNvPr id="134" name="textbox 202"/>
              <p:cNvSpPr/>
              <p:nvPr/>
            </p:nvSpPr>
            <p:spPr>
              <a:xfrm>
                <a:off x="1711161" y="850613"/>
                <a:ext cx="875589" cy="141323"/>
              </a:xfrm>
              <a:prstGeom prst="rect">
                <a:avLst/>
              </a:prstGeom>
              <a:noFill/>
              <a:ln w="0" cap="flat">
                <a:noFill/>
                <a:prstDash val="solid"/>
                <a:miter lim="0"/>
              </a:ln>
            </p:spPr>
            <p:txBody>
              <a:bodyPr vert="horz" wrap="square" lIns="0" tIns="0" rIns="0" bIns="0"/>
              <a:lstStyle/>
              <a:p>
                <a:pPr rtl="0" eaLnBrk="0">
                  <a:lnSpc>
                    <a:spcPct val="84000"/>
                  </a:lnSpc>
                </a:pPr>
                <a:endParaRPr lang="zh-CN" altLang="en-US" sz="115" dirty="0">
                  <a:latin typeface="Arial" panose="020B0604020202020204"/>
                  <a:ea typeface="Arial" panose="020B0604020202020204"/>
                  <a:cs typeface="Arial" panose="020B0604020202020204"/>
                </a:endParaRPr>
              </a:p>
              <a:p>
                <a:pPr marL="15875"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基础系统</a:t>
                </a:r>
                <a:endParaRPr lang="zh-CN" altLang="en-US" sz="300" dirty="0">
                  <a:latin typeface="Arial" panose="020B0604020202020204"/>
                  <a:ea typeface="Arial" panose="020B0604020202020204"/>
                  <a:cs typeface="Arial" panose="020B0604020202020204"/>
                </a:endParaRPr>
              </a:p>
              <a:p>
                <a:pPr rtl="0" eaLnBrk="0">
                  <a:lnSpc>
                    <a:spcPct val="189000"/>
                  </a:lnSpc>
                </a:pPr>
                <a:endParaRPr lang="zh-CN" altLang="en-US" sz="115" dirty="0">
                  <a:latin typeface="Arial" panose="020B0604020202020204"/>
                  <a:ea typeface="Arial" panose="020B0604020202020204"/>
                  <a:cs typeface="Arial" panose="020B0604020202020204"/>
                </a:endParaRPr>
              </a:p>
            </p:txBody>
          </p:sp>
          <p:sp>
            <p:nvSpPr>
              <p:cNvPr id="135" name="textbox 202"/>
              <p:cNvSpPr/>
              <p:nvPr/>
            </p:nvSpPr>
            <p:spPr>
              <a:xfrm>
                <a:off x="1702453" y="940593"/>
                <a:ext cx="1192983" cy="247262"/>
              </a:xfrm>
              <a:prstGeom prst="rect">
                <a:avLst/>
              </a:prstGeom>
              <a:noFill/>
              <a:ln w="0" cap="flat">
                <a:noFill/>
                <a:prstDash val="solid"/>
                <a:miter lim="0"/>
              </a:ln>
            </p:spPr>
            <p:txBody>
              <a:bodyPr vert="horz" wrap="square" lIns="0" tIns="0" rIns="0" bIns="0"/>
              <a:lstStyle/>
              <a:p>
                <a:pPr rtl="0" eaLnBrk="0">
                  <a:lnSpc>
                    <a:spcPct val="84000"/>
                  </a:lnSpc>
                </a:pPr>
                <a:endParaRPr lang="zh-CN" altLang="en-US" sz="800" dirty="0">
                  <a:latin typeface="+mn-ea"/>
                  <a:cs typeface="Arial" panose="020B0604020202020204"/>
                </a:endParaRPr>
              </a:p>
              <a:p>
                <a:pPr marL="14605" eaLnBrk="0">
                  <a:lnSpc>
                    <a:spcPct val="87000"/>
                  </a:lnSpc>
                </a:pPr>
                <a:r>
                  <a:rPr lang="zh-CN" altLang="en-US" sz="700" kern="0" spc="-23" dirty="0">
                    <a:solidFill>
                      <a:srgbClr val="3E3A39">
                        <a:alpha val="100000"/>
                      </a:srgbClr>
                    </a:solidFill>
                    <a:latin typeface="+mn-ea"/>
                    <a:cs typeface="OPPOSans R" panose="00020600040101010101" pitchFamily="18" charset="-122"/>
                  </a:rPr>
                  <a:t>百川单机底座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天工数字工厂</a:t>
                </a:r>
                <a:endParaRPr lang="zh-CN" altLang="en-US" sz="700" kern="0" spc="-23" dirty="0">
                  <a:solidFill>
                    <a:srgbClr val="3E3A39">
                      <a:alpha val="100000"/>
                    </a:srgbClr>
                  </a:solidFill>
                  <a:latin typeface="+mn-ea"/>
                  <a:cs typeface="OPPOSans R" panose="00020600040101010101" pitchFamily="18" charset="-122"/>
                </a:endParaRPr>
              </a:p>
            </p:txBody>
          </p:sp>
        </p:grpSp>
        <p:pic>
          <p:nvPicPr>
            <p:cNvPr id="155" name="图片 15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43981" y="924572"/>
              <a:ext cx="187150" cy="236514"/>
            </a:xfrm>
            <a:prstGeom prst="rect">
              <a:avLst/>
            </a:prstGeom>
          </p:spPr>
        </p:pic>
      </p:grpSp>
      <p:grpSp>
        <p:nvGrpSpPr>
          <p:cNvPr id="171" name="组合 170"/>
          <p:cNvGrpSpPr/>
          <p:nvPr/>
        </p:nvGrpSpPr>
        <p:grpSpPr>
          <a:xfrm>
            <a:off x="6192363" y="788049"/>
            <a:ext cx="2672464" cy="511346"/>
            <a:chOff x="6163333" y="787156"/>
            <a:chExt cx="2672464" cy="511346"/>
          </a:xfrm>
        </p:grpSpPr>
        <p:sp>
          <p:nvSpPr>
            <p:cNvPr id="137" name="矩形: 圆顶角 136"/>
            <p:cNvSpPr/>
            <p:nvPr/>
          </p:nvSpPr>
          <p:spPr>
            <a:xfrm rot="16200000">
              <a:off x="6152074" y="798415"/>
              <a:ext cx="511346" cy="488828"/>
            </a:xfrm>
            <a:prstGeom prst="round2SameRect">
              <a:avLst>
                <a:gd name="adj1" fmla="val 28556"/>
                <a:gd name="adj2" fmla="val 0"/>
              </a:avLst>
            </a:prstGeom>
            <a:solidFill>
              <a:srgbClr val="E6E6EA"/>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39" name="矩形: 圆顶角 138"/>
            <p:cNvSpPr/>
            <p:nvPr/>
          </p:nvSpPr>
          <p:spPr>
            <a:xfrm rot="16200000" flipV="1">
              <a:off x="7488305" y="-48990"/>
              <a:ext cx="511346" cy="2183638"/>
            </a:xfrm>
            <a:prstGeom prst="round2SameRect">
              <a:avLst>
                <a:gd name="adj1" fmla="val 21502"/>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nvGrpSpPr>
            <p:cNvPr id="140" name="组合 139"/>
            <p:cNvGrpSpPr/>
            <p:nvPr/>
          </p:nvGrpSpPr>
          <p:grpSpPr>
            <a:xfrm>
              <a:off x="6759793" y="904685"/>
              <a:ext cx="1192983" cy="337242"/>
              <a:chOff x="1702453" y="850613"/>
              <a:chExt cx="1192983" cy="337242"/>
            </a:xfrm>
          </p:grpSpPr>
          <p:sp>
            <p:nvSpPr>
              <p:cNvPr id="141" name="textbox 202"/>
              <p:cNvSpPr/>
              <p:nvPr/>
            </p:nvSpPr>
            <p:spPr>
              <a:xfrm>
                <a:off x="1711161" y="850613"/>
                <a:ext cx="875589" cy="141323"/>
              </a:xfrm>
              <a:prstGeom prst="rect">
                <a:avLst/>
              </a:prstGeom>
              <a:noFill/>
              <a:ln w="0" cap="flat">
                <a:noFill/>
                <a:prstDash val="solid"/>
                <a:miter lim="0"/>
              </a:ln>
            </p:spPr>
            <p:txBody>
              <a:bodyPr vert="horz" wrap="square" lIns="0" tIns="0" rIns="0" bIns="0"/>
              <a:lstStyle/>
              <a:p>
                <a:pPr rtl="0" eaLnBrk="0">
                  <a:lnSpc>
                    <a:spcPct val="84000"/>
                  </a:lnSpc>
                </a:pPr>
                <a:endParaRPr lang="zh-CN" altLang="en-US" sz="115" dirty="0">
                  <a:latin typeface="Arial" panose="020B0604020202020204"/>
                  <a:ea typeface="Arial" panose="020B0604020202020204"/>
                  <a:cs typeface="Arial" panose="020B0604020202020204"/>
                </a:endParaRPr>
              </a:p>
              <a:p>
                <a:pPr marL="15875"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开发工具</a:t>
                </a:r>
                <a:endParaRPr sz="115" dirty="0">
                  <a:latin typeface="Arial" panose="020B0604020202020204"/>
                  <a:ea typeface="Arial" panose="020B0604020202020204"/>
                  <a:cs typeface="Arial" panose="020B0604020202020204"/>
                </a:endParaRPr>
              </a:p>
            </p:txBody>
          </p:sp>
          <p:sp>
            <p:nvSpPr>
              <p:cNvPr id="142" name="textbox 202"/>
              <p:cNvSpPr/>
              <p:nvPr/>
            </p:nvSpPr>
            <p:spPr>
              <a:xfrm>
                <a:off x="1702453" y="940593"/>
                <a:ext cx="1192983" cy="247262"/>
              </a:xfrm>
              <a:prstGeom prst="rect">
                <a:avLst/>
              </a:prstGeom>
              <a:noFill/>
              <a:ln w="0" cap="flat">
                <a:noFill/>
                <a:prstDash val="solid"/>
                <a:miter lim="0"/>
              </a:ln>
            </p:spPr>
            <p:txBody>
              <a:bodyPr vert="horz" wrap="square" lIns="0" tIns="0" rIns="0" bIns="0"/>
              <a:lstStyle/>
              <a:p>
                <a:pPr rtl="0" eaLnBrk="0">
                  <a:lnSpc>
                    <a:spcPct val="84000"/>
                  </a:lnSpc>
                </a:pPr>
                <a:endParaRPr lang="zh-CN" altLang="en-US" sz="800" dirty="0">
                  <a:latin typeface="+mn-ea"/>
                  <a:cs typeface="Arial" panose="020B0604020202020204"/>
                </a:endParaRPr>
              </a:p>
              <a:p>
                <a:pPr marL="14605" eaLnBrk="0">
                  <a:lnSpc>
                    <a:spcPct val="87000"/>
                  </a:lnSpc>
                </a:pPr>
                <a:r>
                  <a:rPr lang="en-US" altLang="zh-CN" sz="700" kern="0" spc="-23" dirty="0">
                    <a:solidFill>
                      <a:srgbClr val="3E3A39">
                        <a:alpha val="100000"/>
                      </a:srgbClr>
                    </a:solidFill>
                    <a:latin typeface="+mn-ea"/>
                    <a:cs typeface="OPPOSans R" panose="00020600040101010101" pitchFamily="18" charset="-122"/>
                  </a:rPr>
                  <a:t>SDK · </a:t>
                </a:r>
                <a:r>
                  <a:rPr lang="en-US" altLang="zh-CN" sz="700" kern="0" spc="-23" dirty="0" err="1">
                    <a:solidFill>
                      <a:srgbClr val="3E3A39">
                        <a:alpha val="100000"/>
                      </a:srgbClr>
                    </a:solidFill>
                    <a:latin typeface="+mn-ea"/>
                    <a:cs typeface="OPPOSans R" panose="00020600040101010101" pitchFamily="18" charset="-122"/>
                  </a:rPr>
                  <a:t>AIStudio</a:t>
                </a:r>
                <a:r>
                  <a:rPr lang="en-US" altLang="zh-CN" sz="700" kern="0" spc="-23" dirty="0">
                    <a:solidFill>
                      <a:srgbClr val="3E3A39">
                        <a:alpha val="100000"/>
                      </a:srgbClr>
                    </a:solidFill>
                    <a:latin typeface="+mn-ea"/>
                    <a:cs typeface="OPPOSans R" panose="00020600040101010101" pitchFamily="18" charset="-122"/>
                  </a:rPr>
                  <a:t> · </a:t>
                </a:r>
                <a:r>
                  <a:rPr lang="zh-CN" altLang="en-US" sz="700" kern="0" spc="-23" dirty="0">
                    <a:solidFill>
                      <a:srgbClr val="3E3A39">
                        <a:alpha val="100000"/>
                      </a:srgbClr>
                    </a:solidFill>
                    <a:latin typeface="+mn-ea"/>
                    <a:cs typeface="OPPOSans R" panose="00020600040101010101" pitchFamily="18" charset="-122"/>
                  </a:rPr>
                  <a:t>调试测试</a:t>
                </a:r>
                <a:endParaRPr lang="zh-CN" altLang="en-US" sz="700" kern="0" spc="-23" dirty="0">
                  <a:solidFill>
                    <a:srgbClr val="3E3A39">
                      <a:alpha val="100000"/>
                    </a:srgbClr>
                  </a:solidFill>
                  <a:latin typeface="+mn-ea"/>
                  <a:cs typeface="OPPOSans R" panose="00020600040101010101" pitchFamily="18" charset="-122"/>
                </a:endParaRPr>
              </a:p>
            </p:txBody>
          </p:sp>
        </p:grpSp>
        <p:pic>
          <p:nvPicPr>
            <p:cNvPr id="156" name="图片 15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279713" y="942183"/>
              <a:ext cx="256069" cy="201292"/>
            </a:xfrm>
            <a:prstGeom prst="rect">
              <a:avLst/>
            </a:prstGeom>
          </p:spPr>
        </p:pic>
      </p:grpSp>
      <p:grpSp>
        <p:nvGrpSpPr>
          <p:cNvPr id="165" name="组合 164"/>
          <p:cNvGrpSpPr/>
          <p:nvPr/>
        </p:nvGrpSpPr>
        <p:grpSpPr>
          <a:xfrm>
            <a:off x="9077069" y="788942"/>
            <a:ext cx="2672464" cy="511346"/>
            <a:chOff x="9033525" y="787156"/>
            <a:chExt cx="2672464" cy="511346"/>
          </a:xfrm>
        </p:grpSpPr>
        <p:sp>
          <p:nvSpPr>
            <p:cNvPr id="144" name="矩形: 圆顶角 143"/>
            <p:cNvSpPr/>
            <p:nvPr/>
          </p:nvSpPr>
          <p:spPr>
            <a:xfrm rot="16200000">
              <a:off x="9022266" y="798415"/>
              <a:ext cx="511346" cy="488828"/>
            </a:xfrm>
            <a:prstGeom prst="round2SameRect">
              <a:avLst>
                <a:gd name="adj1" fmla="val 28556"/>
                <a:gd name="adj2" fmla="val 0"/>
              </a:avLst>
            </a:prstGeom>
            <a:solidFill>
              <a:srgbClr val="E6E6EA"/>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46" name="矩形: 圆顶角 145"/>
            <p:cNvSpPr/>
            <p:nvPr/>
          </p:nvSpPr>
          <p:spPr>
            <a:xfrm rot="16200000" flipV="1">
              <a:off x="10358497" y="-48990"/>
              <a:ext cx="511346" cy="2183638"/>
            </a:xfrm>
            <a:prstGeom prst="round2SameRect">
              <a:avLst>
                <a:gd name="adj1" fmla="val 21502"/>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nvGrpSpPr>
            <p:cNvPr id="147" name="组合 146"/>
            <p:cNvGrpSpPr/>
            <p:nvPr/>
          </p:nvGrpSpPr>
          <p:grpSpPr>
            <a:xfrm>
              <a:off x="9629985" y="904685"/>
              <a:ext cx="1638906" cy="337242"/>
              <a:chOff x="1702453" y="850613"/>
              <a:chExt cx="1638906" cy="337242"/>
            </a:xfrm>
          </p:grpSpPr>
          <p:sp>
            <p:nvSpPr>
              <p:cNvPr id="151" name="textbox 202"/>
              <p:cNvSpPr/>
              <p:nvPr/>
            </p:nvSpPr>
            <p:spPr>
              <a:xfrm>
                <a:off x="1702453" y="940593"/>
                <a:ext cx="1638906" cy="247262"/>
              </a:xfrm>
              <a:prstGeom prst="rect">
                <a:avLst/>
              </a:prstGeom>
              <a:noFill/>
              <a:ln w="0" cap="flat">
                <a:noFill/>
                <a:prstDash val="solid"/>
                <a:miter lim="0"/>
              </a:ln>
            </p:spPr>
            <p:txBody>
              <a:bodyPr vert="horz" wrap="square" lIns="0" tIns="0" rIns="0" bIns="0"/>
              <a:lstStyle/>
              <a:p>
                <a:pPr rtl="0" eaLnBrk="0">
                  <a:lnSpc>
                    <a:spcPct val="84000"/>
                  </a:lnSpc>
                </a:pPr>
                <a:endParaRPr lang="zh-CN" altLang="en-US" sz="800" dirty="0">
                  <a:latin typeface="+mn-ea"/>
                  <a:cs typeface="Arial" panose="020B0604020202020204"/>
                </a:endParaRPr>
              </a:p>
              <a:p>
                <a:pPr marL="14605" eaLnBrk="0">
                  <a:lnSpc>
                    <a:spcPct val="87000"/>
                  </a:lnSpc>
                </a:pPr>
                <a:r>
                  <a:rPr lang="zh-CN" altLang="en-US" sz="700" kern="0" spc="-23" dirty="0">
                    <a:solidFill>
                      <a:srgbClr val="3E3A39">
                        <a:alpha val="100000"/>
                      </a:srgbClr>
                    </a:solidFill>
                    <a:latin typeface="+mn-ea"/>
                    <a:cs typeface="OPPOSans R" panose="00020600040101010101" pitchFamily="18" charset="-122"/>
                  </a:rPr>
                  <a:t>应用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插件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协议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算法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工艺 </a:t>
                </a:r>
                <a:r>
                  <a:rPr lang="en-US" altLang="zh-CN" sz="700" kern="0" spc="-23" dirty="0">
                    <a:solidFill>
                      <a:srgbClr val="3E3A39">
                        <a:alpha val="100000"/>
                      </a:srgbClr>
                    </a:solidFill>
                    <a:latin typeface="+mn-ea"/>
                    <a:cs typeface="OPPOSans R" panose="00020600040101010101" pitchFamily="18" charset="-122"/>
                  </a:rPr>
                  <a:t>· </a:t>
                </a:r>
                <a:r>
                  <a:rPr lang="zh-CN" altLang="en-US" sz="700" kern="0" spc="-23" dirty="0">
                    <a:solidFill>
                      <a:srgbClr val="3E3A39">
                        <a:alpha val="100000"/>
                      </a:srgbClr>
                    </a:solidFill>
                    <a:latin typeface="+mn-ea"/>
                    <a:cs typeface="OPPOSans R" panose="00020600040101010101" pitchFamily="18" charset="-122"/>
                  </a:rPr>
                  <a:t>商城</a:t>
                </a:r>
                <a:endParaRPr lang="zh-CN" altLang="en-US" sz="700" kern="0" spc="-23" dirty="0">
                  <a:solidFill>
                    <a:srgbClr val="3E3A39">
                      <a:alpha val="100000"/>
                    </a:srgbClr>
                  </a:solidFill>
                  <a:latin typeface="+mn-ea"/>
                  <a:cs typeface="OPPOSans R" panose="00020600040101010101" pitchFamily="18" charset="-122"/>
                </a:endParaRPr>
              </a:p>
            </p:txBody>
          </p:sp>
          <p:sp>
            <p:nvSpPr>
              <p:cNvPr id="149" name="textbox 202"/>
              <p:cNvSpPr/>
              <p:nvPr/>
            </p:nvSpPr>
            <p:spPr>
              <a:xfrm>
                <a:off x="1711161" y="850613"/>
                <a:ext cx="875589" cy="141323"/>
              </a:xfrm>
              <a:prstGeom prst="rect">
                <a:avLst/>
              </a:prstGeom>
              <a:noFill/>
              <a:ln w="0" cap="flat">
                <a:noFill/>
                <a:prstDash val="solid"/>
                <a:miter lim="0"/>
              </a:ln>
            </p:spPr>
            <p:txBody>
              <a:bodyPr vert="horz" wrap="square" lIns="0" tIns="0" rIns="0" bIns="0"/>
              <a:lstStyle/>
              <a:p>
                <a:pPr rtl="0" eaLnBrk="0">
                  <a:lnSpc>
                    <a:spcPct val="84000"/>
                  </a:lnSpc>
                </a:pPr>
                <a:endParaRPr lang="zh-CN" altLang="en-US" sz="115" dirty="0">
                  <a:latin typeface="Arial" panose="020B0604020202020204"/>
                  <a:ea typeface="Arial" panose="020B0604020202020204"/>
                  <a:cs typeface="Arial" panose="020B0604020202020204"/>
                </a:endParaRPr>
              </a:p>
              <a:p>
                <a:pPr marL="15875" eaLnBrk="0">
                  <a:lnSpc>
                    <a:spcPct val="86000"/>
                  </a:lnSpc>
                </a:pPr>
                <a:r>
                  <a:rPr lang="zh-CN" altLang="en-US" sz="10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生态能力</a:t>
                </a:r>
                <a:endParaRPr sz="115" dirty="0">
                  <a:latin typeface="Arial" panose="020B0604020202020204"/>
                  <a:ea typeface="Arial" panose="020B0604020202020204"/>
                  <a:cs typeface="Arial" panose="020B0604020202020204"/>
                </a:endParaRPr>
              </a:p>
            </p:txBody>
          </p:sp>
        </p:grpSp>
        <p:pic>
          <p:nvPicPr>
            <p:cNvPr id="157" name="图片 15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66110" y="928507"/>
              <a:ext cx="223658" cy="228644"/>
            </a:xfrm>
            <a:prstGeom prst="rect">
              <a:avLst/>
            </a:prstGeom>
          </p:spPr>
        </p:pic>
      </p:grpSp>
      <p:sp>
        <p:nvSpPr>
          <p:cNvPr id="2" name="文本框 1"/>
          <p:cNvSpPr txBox="1"/>
          <p:nvPr/>
        </p:nvSpPr>
        <p:spPr>
          <a:xfrm>
            <a:off x="5081516" y="227463"/>
            <a:ext cx="4390030" cy="215187"/>
          </a:xfrm>
          <a:prstGeom prst="rect">
            <a:avLst/>
          </a:prstGeom>
          <a:noFill/>
        </p:spPr>
        <p:txBody>
          <a:bodyPr wrap="square" rtlCol="0">
            <a:spAutoFit/>
          </a:bodyPr>
          <a:lstStyle/>
          <a:p>
            <a:pPr marL="15875" algn="ctr" eaLnBrk="0">
              <a:lnSpc>
                <a:spcPct val="86000"/>
              </a:lnSpc>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墨影学院，开发者中心，设备商城，生态商城，项目榜单，后台管理</a:t>
            </a:r>
            <a:endPar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grpSp>
        <p:nvGrpSpPr>
          <p:cNvPr id="4" name="组合 3"/>
          <p:cNvGrpSpPr/>
          <p:nvPr/>
        </p:nvGrpSpPr>
        <p:grpSpPr>
          <a:xfrm>
            <a:off x="10737656" y="5977994"/>
            <a:ext cx="1011877" cy="408163"/>
            <a:chOff x="10737656" y="6016704"/>
            <a:chExt cx="1011877" cy="408163"/>
          </a:xfrm>
        </p:grpSpPr>
        <p:sp>
          <p:nvSpPr>
            <p:cNvPr id="13" name="textbox 202"/>
            <p:cNvSpPr/>
            <p:nvPr/>
          </p:nvSpPr>
          <p:spPr>
            <a:xfrm>
              <a:off x="10737656" y="6016704"/>
              <a:ext cx="1011877" cy="141323"/>
            </a:xfrm>
            <a:prstGeom prst="rect">
              <a:avLst/>
            </a:prstGeom>
            <a:noFill/>
            <a:ln w="0" cap="flat">
              <a:noFill/>
              <a:prstDash val="solid"/>
              <a:miter lim="0"/>
            </a:ln>
          </p:spPr>
          <p:txBody>
            <a:bodyPr vert="horz" wrap="square" lIns="0" tIns="0" rIns="0" bIns="0"/>
            <a:lstStyle/>
            <a:p>
              <a:pPr marL="15875" algn="ctr" eaLnBrk="0">
                <a:lnSpc>
                  <a:spcPct val="86000"/>
                </a:lnSpc>
                <a:spcBef>
                  <a:spcPts val="250"/>
                </a:spcBef>
              </a:pPr>
              <a:r>
                <a:rPr lang="zh-CN" altLang="en-US"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rPr>
                <a:t>社区模块</a:t>
              </a:r>
              <a:endParaRPr sz="900" kern="0" spc="-11" dirty="0">
                <a:solidFill>
                  <a:srgbClr val="000000">
                    <a:alpha val="100000"/>
                  </a:srgbClr>
                </a:solidFill>
                <a:latin typeface="OPPOSans M" panose="00020600040101010101" charset="-122"/>
                <a:ea typeface="OPPOSans M" panose="00020600040101010101" charset="-122"/>
                <a:cs typeface="OPPOSans R" panose="00020600040101010101" pitchFamily="18" charset="-122"/>
              </a:endParaRPr>
            </a:p>
          </p:txBody>
        </p:sp>
        <p:sp>
          <p:nvSpPr>
            <p:cNvPr id="49" name="textbox 202"/>
            <p:cNvSpPr/>
            <p:nvPr/>
          </p:nvSpPr>
          <p:spPr>
            <a:xfrm>
              <a:off x="10737656" y="6177605"/>
              <a:ext cx="1011877" cy="247262"/>
            </a:xfrm>
            <a:prstGeom prst="rect">
              <a:avLst/>
            </a:prstGeom>
            <a:noFill/>
            <a:ln w="0" cap="flat">
              <a:noFill/>
              <a:prstDash val="solid"/>
              <a:miter lim="0"/>
            </a:ln>
          </p:spPr>
          <p:txBody>
            <a:bodyPr vert="horz" wrap="square" lIns="0" tIns="0" rIns="0" bIns="0"/>
            <a:lstStyle/>
            <a:p>
              <a:pPr marL="14605" algn="ctr" eaLnBrk="0">
                <a:lnSpc>
                  <a:spcPct val="87000"/>
                </a:lnSpc>
                <a:spcBef>
                  <a:spcPts val="315"/>
                </a:spcBef>
              </a:pPr>
              <a:r>
                <a:rPr lang="zh-CN" altLang="en-US" sz="650" dirty="0">
                  <a:latin typeface="+mn-ea"/>
                  <a:cs typeface="Arial" panose="020B0604020202020204"/>
                </a:rPr>
                <a:t>社区 </a:t>
              </a:r>
              <a:r>
                <a:rPr lang="en-US" altLang="zh-CN" sz="650" dirty="0">
                  <a:latin typeface="+mn-ea"/>
                  <a:cs typeface="Arial" panose="020B0604020202020204"/>
                </a:rPr>
                <a:t>· </a:t>
              </a:r>
              <a:r>
                <a:rPr lang="zh-CN" altLang="en-US" sz="650" dirty="0">
                  <a:latin typeface="+mn-ea"/>
                  <a:cs typeface="Arial" panose="020B0604020202020204"/>
                </a:rPr>
                <a:t>论坛 </a:t>
              </a:r>
              <a:r>
                <a:rPr lang="en-US" altLang="zh-CN" sz="650" dirty="0">
                  <a:latin typeface="+mn-ea"/>
                  <a:cs typeface="Arial" panose="020B0604020202020204"/>
                </a:rPr>
                <a:t>· </a:t>
              </a:r>
              <a:r>
                <a:rPr lang="zh-CN" altLang="en-US" sz="650" dirty="0">
                  <a:latin typeface="+mn-ea"/>
                  <a:cs typeface="Arial" panose="020B0604020202020204"/>
                </a:rPr>
                <a:t>经验</a:t>
              </a:r>
              <a:endParaRPr sz="650" dirty="0">
                <a:latin typeface="+mn-ea"/>
                <a:cs typeface="Arial" panose="020B0604020202020204"/>
              </a:endParaRPr>
            </a:p>
          </p:txBody>
        </p:sp>
      </p:gr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p:cNvSpPr>
            <a:spLocks noGrp="1"/>
          </p:cNvSpPr>
          <p:nvPr/>
        </p:nvSpPr>
        <p:spPr>
          <a:xfrm>
            <a:off x="0" y="4615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从数字设计和实体制造开始，经控制器承载、软件装机与现场交付，最终进入持续运维</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4" name="文本框 3"/>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百川</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单设备构建与运行架构</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8" name="callout-text"/>
          <p:cNvSpPr>
            <a:spLocks noGrp="1"/>
          </p:cNvSpPr>
          <p:nvPr/>
        </p:nvSpPr>
        <p:spPr>
          <a:xfrm>
            <a:off x="263525" y="6315917"/>
            <a:ext cx="11664950" cy="337214"/>
          </a:xfrm>
          <a:prstGeom prst="rect">
            <a:avLst/>
          </a:prstGeom>
          <a:noFill/>
          <a:ln w="0">
            <a:noFill/>
            <a:prstDash val="solid"/>
          </a:ln>
        </p:spPr>
        <p:txBody>
          <a:bodyPr anchor="ctr">
            <a:noAutofit/>
          </a:bodyPr>
          <a:lstStyle/>
          <a:p>
            <a:pPr algn="ctr"/>
            <a:r>
              <a:rPr lang="zh-CN" altLang="en-US" sz="900" dirty="0">
                <a:solidFill>
                  <a:srgbClr val="000000"/>
                </a:solidFill>
                <a:latin typeface="+mn-ea"/>
                <a:cs typeface="OPPOSans M" panose="00020600040101010101" charset="-122"/>
                <a:sym typeface="+mn-ea"/>
              </a:rPr>
              <a:t>开放平台持续向数字造机、装机与轻搭供给设备插件、算法、节点、页面和应用</a:t>
            </a:r>
            <a:endParaRPr lang="zh-CN" altLang="en-US" sz="900" b="0" dirty="0">
              <a:solidFill>
                <a:srgbClr val="000000"/>
              </a:solidFill>
              <a:latin typeface="+mn-ea"/>
              <a:cs typeface="OPPOSans M" panose="00020600040101010101" charset="-122"/>
              <a:sym typeface="+mn-ea"/>
            </a:endParaRPr>
          </a:p>
        </p:txBody>
      </p:sp>
      <p:sp>
        <p:nvSpPr>
          <p:cNvPr id="717" name="矩形: 圆顶角 716"/>
          <p:cNvSpPr/>
          <p:nvPr/>
        </p:nvSpPr>
        <p:spPr>
          <a:xfrm>
            <a:off x="565561" y="1016000"/>
            <a:ext cx="2471226" cy="368026"/>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718" name="矩形: 圆顶角 717"/>
          <p:cNvSpPr/>
          <p:nvPr/>
        </p:nvSpPr>
        <p:spPr>
          <a:xfrm flipV="1">
            <a:off x="565561" y="1321871"/>
            <a:ext cx="2471225" cy="1199112"/>
          </a:xfrm>
          <a:prstGeom prst="round2SameRect">
            <a:avLst>
              <a:gd name="adj1" fmla="val 9073"/>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grpSp>
        <p:nvGrpSpPr>
          <p:cNvPr id="719" name="组合 718"/>
          <p:cNvGrpSpPr/>
          <p:nvPr/>
        </p:nvGrpSpPr>
        <p:grpSpPr>
          <a:xfrm>
            <a:off x="2593775" y="1100282"/>
            <a:ext cx="336486" cy="80537"/>
            <a:chOff x="5298623" y="1396154"/>
            <a:chExt cx="507580" cy="121488"/>
          </a:xfrm>
        </p:grpSpPr>
        <p:sp>
          <p:nvSpPr>
            <p:cNvPr id="720" name="椭圆 719"/>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1" name="椭圆 720"/>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2" name="椭圆 721"/>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25" name="文本框 724"/>
          <p:cNvSpPr txBox="1"/>
          <p:nvPr/>
        </p:nvSpPr>
        <p:spPr>
          <a:xfrm>
            <a:off x="641347" y="1033537"/>
            <a:ext cx="1191985"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数字造机</a:t>
            </a:r>
            <a:endParaRPr lang="zh-CN" altLang="en-US" sz="1200" dirty="0">
              <a:latin typeface="OPPOSans M" panose="00020600040101010101" charset="-122"/>
              <a:ea typeface="OPPOSans M" panose="00020600040101010101" charset="-122"/>
              <a:cs typeface="OPPOSans M" panose="00020600040101010101" charset="-122"/>
            </a:endParaRPr>
          </a:p>
        </p:txBody>
      </p:sp>
      <p:sp>
        <p:nvSpPr>
          <p:cNvPr id="637" name="primary-fn-body-0"/>
          <p:cNvSpPr>
            <a:spLocks noGrp="1"/>
          </p:cNvSpPr>
          <p:nvPr/>
        </p:nvSpPr>
        <p:spPr>
          <a:xfrm>
            <a:off x="553851" y="1638592"/>
            <a:ext cx="2472052" cy="393761"/>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输出</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设备模板、</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BOM</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、物模型、仿真结果</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583" name="文本框 582"/>
          <p:cNvSpPr txBox="1"/>
          <p:nvPr/>
        </p:nvSpPr>
        <p:spPr>
          <a:xfrm>
            <a:off x="657674" y="1454771"/>
            <a:ext cx="2269343" cy="246221"/>
          </a:xfrm>
          <a:prstGeom prst="rect">
            <a:avLst/>
          </a:prstGeom>
          <a:noFill/>
        </p:spPr>
        <p:txBody>
          <a:bodyPr wrap="square" rtlCol="0">
            <a:spAutoFit/>
          </a:bodyPr>
          <a:lstStyle/>
          <a:p>
            <a:pPr algn="ctr"/>
            <a:r>
              <a:rPr lang="zh-CN" altLang="en-US" sz="1000" dirty="0">
                <a:solidFill>
                  <a:srgbClr val="000000"/>
                </a:solidFill>
                <a:latin typeface="OPPOSans B" panose="00020600040101010101" charset="-122"/>
                <a:ea typeface="OPPOSans B" panose="00020600040101010101" charset="-122"/>
                <a:cs typeface="OPPOSans B" panose="00020600040101010101" charset="-122"/>
              </a:rPr>
              <a:t>数字造设备</a:t>
            </a:r>
            <a:r>
              <a:rPr lang="zh-CN" altLang="en-US" sz="1000" dirty="0">
                <a:solidFill>
                  <a:srgbClr val="000000"/>
                </a:solidFill>
                <a:latin typeface="OPPOSans B" panose="00020600040101010101" charset="-122"/>
                <a:ea typeface="OPPOSans B" panose="00020600040101010101" charset="-122"/>
                <a:cs typeface="OPPOSans B" panose="00020600040101010101" charset="-122"/>
                <a:sym typeface="+mn-ea"/>
              </a:rPr>
              <a:t>→</a:t>
            </a:r>
            <a:r>
              <a:rPr lang="zh-CN" altLang="en-US" sz="1000" dirty="0">
                <a:solidFill>
                  <a:srgbClr val="000000"/>
                </a:solidFill>
                <a:latin typeface="OPPOSans B" panose="00020600040101010101" charset="-122"/>
                <a:ea typeface="OPPOSans B" panose="00020600040101010101" charset="-122"/>
                <a:cs typeface="OPPOSans B" panose="00020600040101010101" charset="-122"/>
              </a:rPr>
              <a:t>仿真验证</a:t>
            </a:r>
            <a:endParaRPr lang="zh-CN" altLang="en-US"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584" name="文本框 583"/>
          <p:cNvSpPr txBox="1"/>
          <p:nvPr/>
        </p:nvSpPr>
        <p:spPr>
          <a:xfrm>
            <a:off x="2515410" y="2059568"/>
            <a:ext cx="521376" cy="400110"/>
          </a:xfrm>
          <a:prstGeom prst="rect">
            <a:avLst/>
          </a:prstGeom>
          <a:noFill/>
        </p:spPr>
        <p:txBody>
          <a:bodyPr wrap="square" rtlCol="0">
            <a:spAutoFit/>
          </a:bodyPr>
          <a:lstStyle/>
          <a:p>
            <a:r>
              <a:rPr lang="en-US" altLang="zh-CN"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01</a:t>
            </a:r>
            <a:endParaRPr lang="zh-CN" altLang="en-US"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736" name="矩形: 圆顶角 735"/>
          <p:cNvSpPr/>
          <p:nvPr/>
        </p:nvSpPr>
        <p:spPr>
          <a:xfrm>
            <a:off x="3423061" y="1016000"/>
            <a:ext cx="2471226" cy="368026"/>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737" name="矩形: 圆顶角 736"/>
          <p:cNvSpPr/>
          <p:nvPr/>
        </p:nvSpPr>
        <p:spPr>
          <a:xfrm flipV="1">
            <a:off x="3423061" y="1321871"/>
            <a:ext cx="2471225" cy="1199112"/>
          </a:xfrm>
          <a:prstGeom prst="round2SameRect">
            <a:avLst>
              <a:gd name="adj1" fmla="val 9073"/>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grpSp>
        <p:nvGrpSpPr>
          <p:cNvPr id="738" name="组合 737"/>
          <p:cNvGrpSpPr/>
          <p:nvPr/>
        </p:nvGrpSpPr>
        <p:grpSpPr>
          <a:xfrm>
            <a:off x="5451275" y="1100282"/>
            <a:ext cx="336486" cy="80537"/>
            <a:chOff x="5298623" y="1396154"/>
            <a:chExt cx="507580" cy="121488"/>
          </a:xfrm>
        </p:grpSpPr>
        <p:sp>
          <p:nvSpPr>
            <p:cNvPr id="739" name="椭圆 73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椭圆 73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椭圆 74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2" name="文本框 741"/>
          <p:cNvSpPr txBox="1"/>
          <p:nvPr/>
        </p:nvSpPr>
        <p:spPr>
          <a:xfrm>
            <a:off x="3498847" y="1033537"/>
            <a:ext cx="1191985"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百川装机</a:t>
            </a:r>
            <a:endParaRPr lang="zh-CN" altLang="en-US" sz="1200" dirty="0">
              <a:latin typeface="OPPOSans M" panose="00020600040101010101" charset="-122"/>
              <a:ea typeface="OPPOSans M" panose="00020600040101010101" charset="-122"/>
              <a:cs typeface="OPPOSans M" panose="00020600040101010101" charset="-122"/>
            </a:endParaRPr>
          </a:p>
        </p:txBody>
      </p:sp>
      <p:sp>
        <p:nvSpPr>
          <p:cNvPr id="743" name="primary-fn-body-0"/>
          <p:cNvSpPr>
            <a:spLocks noGrp="1"/>
          </p:cNvSpPr>
          <p:nvPr/>
        </p:nvSpPr>
        <p:spPr>
          <a:xfrm>
            <a:off x="3412177" y="1638592"/>
            <a:ext cx="2551296" cy="393761"/>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装包、激活、自检并生成设备实例</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744" name="文本框 743"/>
          <p:cNvSpPr txBox="1"/>
          <p:nvPr/>
        </p:nvSpPr>
        <p:spPr>
          <a:xfrm>
            <a:off x="3515174" y="1454771"/>
            <a:ext cx="2269343" cy="246221"/>
          </a:xfrm>
          <a:prstGeom prst="rect">
            <a:avLst/>
          </a:prstGeom>
          <a:noFill/>
        </p:spPr>
        <p:txBody>
          <a:bodyPr wrap="square" rtlCol="0">
            <a:spAutoFit/>
          </a:bodyPr>
          <a:lstStyle/>
          <a:p>
            <a:pPr algn="ctr"/>
            <a:r>
              <a:rPr lang="zh-CN" altLang="en-US" sz="1000" dirty="0">
                <a:solidFill>
                  <a:srgbClr val="000000"/>
                </a:solidFill>
                <a:latin typeface="OPPOSans B" panose="00020600040101010101" charset="-122"/>
                <a:ea typeface="OPPOSans B" panose="00020600040101010101" charset="-122"/>
                <a:cs typeface="OPPOSans B" panose="00020600040101010101" charset="-122"/>
              </a:rPr>
              <a:t>为实体设备安装软件</a:t>
            </a:r>
            <a:endParaRPr lang="zh-CN" altLang="en-US"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745" name="文本框 744"/>
          <p:cNvSpPr txBox="1"/>
          <p:nvPr/>
        </p:nvSpPr>
        <p:spPr>
          <a:xfrm>
            <a:off x="5340025" y="2059568"/>
            <a:ext cx="554261" cy="400110"/>
          </a:xfrm>
          <a:prstGeom prst="rect">
            <a:avLst/>
          </a:prstGeom>
          <a:noFill/>
        </p:spPr>
        <p:txBody>
          <a:bodyPr wrap="square" rtlCol="0">
            <a:spAutoFit/>
          </a:bodyPr>
          <a:lstStyle/>
          <a:p>
            <a:r>
              <a:rPr lang="en-US" altLang="zh-CN"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02</a:t>
            </a:r>
            <a:endParaRPr lang="zh-CN" altLang="en-US"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756" name="矩形: 圆顶角 755"/>
          <p:cNvSpPr/>
          <p:nvPr/>
        </p:nvSpPr>
        <p:spPr>
          <a:xfrm>
            <a:off x="6302332" y="1016000"/>
            <a:ext cx="2471226" cy="368026"/>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757" name="矩形: 圆顶角 756"/>
          <p:cNvSpPr/>
          <p:nvPr/>
        </p:nvSpPr>
        <p:spPr>
          <a:xfrm flipV="1">
            <a:off x="6302332" y="1321871"/>
            <a:ext cx="2471225" cy="1199112"/>
          </a:xfrm>
          <a:prstGeom prst="round2SameRect">
            <a:avLst>
              <a:gd name="adj1" fmla="val 9073"/>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grpSp>
        <p:nvGrpSpPr>
          <p:cNvPr id="758" name="组合 757"/>
          <p:cNvGrpSpPr/>
          <p:nvPr/>
        </p:nvGrpSpPr>
        <p:grpSpPr>
          <a:xfrm>
            <a:off x="8330546" y="1100282"/>
            <a:ext cx="336486" cy="80537"/>
            <a:chOff x="5298623" y="1396154"/>
            <a:chExt cx="507580" cy="121488"/>
          </a:xfrm>
        </p:grpSpPr>
        <p:sp>
          <p:nvSpPr>
            <p:cNvPr id="759" name="椭圆 75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椭圆 75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椭圆 76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2" name="文本框 761"/>
          <p:cNvSpPr txBox="1"/>
          <p:nvPr/>
        </p:nvSpPr>
        <p:spPr>
          <a:xfrm>
            <a:off x="6378118" y="1033537"/>
            <a:ext cx="1191985"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百川轻搭</a:t>
            </a:r>
            <a:endParaRPr lang="zh-CN" altLang="en-US" sz="1200" dirty="0">
              <a:latin typeface="OPPOSans M" panose="00020600040101010101" charset="-122"/>
              <a:ea typeface="OPPOSans M" panose="00020600040101010101" charset="-122"/>
              <a:cs typeface="OPPOSans M" panose="00020600040101010101" charset="-122"/>
            </a:endParaRPr>
          </a:p>
        </p:txBody>
      </p:sp>
      <p:sp>
        <p:nvSpPr>
          <p:cNvPr id="763" name="primary-fn-body-0"/>
          <p:cNvSpPr>
            <a:spLocks noGrp="1"/>
          </p:cNvSpPr>
          <p:nvPr/>
        </p:nvSpPr>
        <p:spPr>
          <a:xfrm>
            <a:off x="6308930" y="1638592"/>
            <a:ext cx="2464627" cy="393761"/>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控制、标定、点位、行为树和工艺编排</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764" name="文本框 763"/>
          <p:cNvSpPr txBox="1"/>
          <p:nvPr/>
        </p:nvSpPr>
        <p:spPr>
          <a:xfrm>
            <a:off x="6394445" y="1454771"/>
            <a:ext cx="2269343" cy="246221"/>
          </a:xfrm>
          <a:prstGeom prst="rect">
            <a:avLst/>
          </a:prstGeom>
          <a:noFill/>
        </p:spPr>
        <p:txBody>
          <a:bodyPr wrap="square" rtlCol="0">
            <a:spAutoFit/>
          </a:bodyPr>
          <a:lstStyle/>
          <a:p>
            <a:pPr algn="ctr"/>
            <a:r>
              <a:rPr lang="zh-CN" altLang="en-US" sz="1000" dirty="0">
                <a:solidFill>
                  <a:srgbClr val="000000"/>
                </a:solidFill>
                <a:latin typeface="OPPOSans B" panose="00020600040101010101" charset="-122"/>
                <a:ea typeface="OPPOSans B" panose="00020600040101010101" charset="-122"/>
                <a:cs typeface="OPPOSans B" panose="00020600040101010101" charset="-122"/>
              </a:rPr>
              <a:t>部署与交付现场场景</a:t>
            </a:r>
            <a:endParaRPr lang="zh-CN" altLang="en-US"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765" name="文本框 764"/>
          <p:cNvSpPr txBox="1"/>
          <p:nvPr/>
        </p:nvSpPr>
        <p:spPr>
          <a:xfrm>
            <a:off x="8241197" y="2059568"/>
            <a:ext cx="532360" cy="400110"/>
          </a:xfrm>
          <a:prstGeom prst="rect">
            <a:avLst/>
          </a:prstGeom>
          <a:noFill/>
        </p:spPr>
        <p:txBody>
          <a:bodyPr wrap="square" rtlCol="0">
            <a:spAutoFit/>
          </a:bodyPr>
          <a:lstStyle/>
          <a:p>
            <a:r>
              <a:rPr lang="en-US" altLang="zh-CN"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03</a:t>
            </a:r>
            <a:endParaRPr lang="zh-CN" altLang="en-US"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766" name="矩形: 圆顶角 765"/>
          <p:cNvSpPr/>
          <p:nvPr/>
        </p:nvSpPr>
        <p:spPr>
          <a:xfrm>
            <a:off x="9159832" y="1016000"/>
            <a:ext cx="2471226" cy="368026"/>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767" name="矩形: 圆顶角 766"/>
          <p:cNvSpPr/>
          <p:nvPr/>
        </p:nvSpPr>
        <p:spPr>
          <a:xfrm flipV="1">
            <a:off x="9159832" y="1321871"/>
            <a:ext cx="2471225" cy="1199112"/>
          </a:xfrm>
          <a:prstGeom prst="round2SameRect">
            <a:avLst>
              <a:gd name="adj1" fmla="val 9073"/>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latin typeface="+mn-ea"/>
              </a:rPr>
              <a:t>V</a:t>
            </a:r>
            <a:endParaRPr lang="zh-CN" altLang="en-US" dirty="0">
              <a:noFill/>
              <a:latin typeface="+mn-ea"/>
            </a:endParaRPr>
          </a:p>
        </p:txBody>
      </p:sp>
      <p:grpSp>
        <p:nvGrpSpPr>
          <p:cNvPr id="768" name="组合 767"/>
          <p:cNvGrpSpPr/>
          <p:nvPr/>
        </p:nvGrpSpPr>
        <p:grpSpPr>
          <a:xfrm>
            <a:off x="11188046" y="1100282"/>
            <a:ext cx="336486" cy="80537"/>
            <a:chOff x="5298623" y="1396154"/>
            <a:chExt cx="507580" cy="121488"/>
          </a:xfrm>
        </p:grpSpPr>
        <p:sp>
          <p:nvSpPr>
            <p:cNvPr id="769" name="椭圆 76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0" name="椭圆 76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1" name="椭圆 77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2" name="文本框 771"/>
          <p:cNvSpPr txBox="1"/>
          <p:nvPr/>
        </p:nvSpPr>
        <p:spPr>
          <a:xfrm>
            <a:off x="9235618" y="1033537"/>
            <a:ext cx="1191985"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百川运维</a:t>
            </a:r>
            <a:endParaRPr lang="zh-CN" altLang="en-US" sz="1200" dirty="0">
              <a:latin typeface="OPPOSans M" panose="00020600040101010101" charset="-122"/>
              <a:ea typeface="OPPOSans M" panose="00020600040101010101" charset="-122"/>
              <a:cs typeface="OPPOSans M" panose="00020600040101010101" charset="-122"/>
            </a:endParaRPr>
          </a:p>
        </p:txBody>
      </p:sp>
      <p:sp>
        <p:nvSpPr>
          <p:cNvPr id="773" name="primary-fn-body-0"/>
          <p:cNvSpPr>
            <a:spLocks noGrp="1"/>
          </p:cNvSpPr>
          <p:nvPr/>
        </p:nvSpPr>
        <p:spPr>
          <a:xfrm>
            <a:off x="9169912" y="1638592"/>
            <a:ext cx="2471226" cy="393761"/>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异常</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日志</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回放</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维修</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774" name="文本框 773"/>
          <p:cNvSpPr txBox="1"/>
          <p:nvPr/>
        </p:nvSpPr>
        <p:spPr>
          <a:xfrm>
            <a:off x="9251945" y="1454771"/>
            <a:ext cx="2269343" cy="246221"/>
          </a:xfrm>
          <a:prstGeom prst="rect">
            <a:avLst/>
          </a:prstGeom>
          <a:noFill/>
        </p:spPr>
        <p:txBody>
          <a:bodyPr wrap="square" rtlCol="0">
            <a:spAutoFit/>
          </a:bodyPr>
          <a:lstStyle/>
          <a:p>
            <a:pPr algn="ctr"/>
            <a:r>
              <a:rPr lang="zh-CN" altLang="en-US" sz="1000" dirty="0">
                <a:solidFill>
                  <a:srgbClr val="000000"/>
                </a:solidFill>
                <a:latin typeface="OPPOSans B" panose="00020600040101010101" charset="-122"/>
                <a:ea typeface="OPPOSans B" panose="00020600040101010101" charset="-122"/>
                <a:cs typeface="OPPOSans B" panose="00020600040101010101" charset="-122"/>
              </a:rPr>
              <a:t>监控运行与持续改进</a:t>
            </a:r>
            <a:endParaRPr lang="zh-CN" altLang="en-US"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775" name="文本框 774"/>
          <p:cNvSpPr txBox="1"/>
          <p:nvPr/>
        </p:nvSpPr>
        <p:spPr>
          <a:xfrm>
            <a:off x="11098697" y="2059568"/>
            <a:ext cx="532360" cy="400110"/>
          </a:xfrm>
          <a:prstGeom prst="rect">
            <a:avLst/>
          </a:prstGeom>
          <a:noFill/>
        </p:spPr>
        <p:txBody>
          <a:bodyPr wrap="square" rtlCol="0">
            <a:spAutoFit/>
          </a:bodyPr>
          <a:lstStyle/>
          <a:p>
            <a:r>
              <a:rPr lang="en-US" altLang="zh-CN"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04</a:t>
            </a:r>
            <a:endParaRPr lang="zh-CN" altLang="en-US"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809" name="右箭头 16"/>
          <p:cNvSpPr>
            <a:spLocks noChangeAspect="1"/>
          </p:cNvSpPr>
          <p:nvPr/>
        </p:nvSpPr>
        <p:spPr>
          <a:xfrm>
            <a:off x="3103665" y="1800588"/>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10" name="右箭头 16"/>
          <p:cNvSpPr>
            <a:spLocks noChangeAspect="1"/>
          </p:cNvSpPr>
          <p:nvPr/>
        </p:nvSpPr>
        <p:spPr>
          <a:xfrm>
            <a:off x="5975184" y="1800588"/>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11" name="右箭头 16"/>
          <p:cNvSpPr>
            <a:spLocks noChangeAspect="1"/>
          </p:cNvSpPr>
          <p:nvPr/>
        </p:nvSpPr>
        <p:spPr>
          <a:xfrm>
            <a:off x="8849012" y="1800588"/>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12" name="右箭头 16"/>
          <p:cNvSpPr>
            <a:spLocks noChangeAspect="1"/>
          </p:cNvSpPr>
          <p:nvPr/>
        </p:nvSpPr>
        <p:spPr>
          <a:xfrm rot="5400000">
            <a:off x="10274628" y="2547672"/>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13" name="矩形: 圆角 812"/>
          <p:cNvSpPr/>
          <p:nvPr/>
        </p:nvSpPr>
        <p:spPr>
          <a:xfrm>
            <a:off x="545420" y="5564682"/>
            <a:ext cx="11107484" cy="571499"/>
          </a:xfrm>
          <a:prstGeom prst="roundRect">
            <a:avLst>
              <a:gd name="adj" fmla="val 25385"/>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814" name="shared-body"/>
          <p:cNvSpPr>
            <a:spLocks noGrp="1"/>
          </p:cNvSpPr>
          <p:nvPr/>
        </p:nvSpPr>
        <p:spPr>
          <a:xfrm>
            <a:off x="539096" y="5688506"/>
            <a:ext cx="11113808" cy="323850"/>
          </a:xfrm>
          <a:prstGeom prst="rect">
            <a:avLst/>
          </a:prstGeom>
          <a:noFill/>
          <a:ln w="0">
            <a:noFill/>
            <a:prstDash val="solid"/>
          </a:ln>
        </p:spPr>
        <p:txBody>
          <a:bodyPr anchor="ctr"/>
          <a:lstStyle/>
          <a:p>
            <a:pPr algn="ctr">
              <a:buNone/>
              <a:defRPr sz="1125" b="0">
                <a:solidFill>
                  <a:srgbClr val="5E6978"/>
                </a:solidFill>
              </a:defRPr>
            </a:pP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AMR · MCR ·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人形机器人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机械臂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PLC/CNC ·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工艺装备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组合设备</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15" name="文本框 814"/>
          <p:cNvSpPr txBox="1"/>
          <p:nvPr/>
        </p:nvSpPr>
        <p:spPr>
          <a:xfrm>
            <a:off x="620890" y="56965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工业设备层</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816" name="文本框 815"/>
          <p:cNvSpPr txBox="1"/>
          <p:nvPr/>
        </p:nvSpPr>
        <p:spPr>
          <a:xfrm>
            <a:off x="1622639" y="5727321"/>
            <a:ext cx="760670" cy="246221"/>
          </a:xfrm>
          <a:prstGeom prst="rect">
            <a:avLst/>
          </a:prstGeom>
          <a:noFill/>
        </p:spPr>
        <p:txBody>
          <a:bodyPr wrap="square" rtlCol="0">
            <a:spAutoFit/>
          </a:bodyPr>
          <a:lstStyle/>
          <a:p>
            <a:r>
              <a:rPr lang="zh-CN" altLang="en-US" sz="1000" dirty="0">
                <a:latin typeface="+mj-ea"/>
                <a:ea typeface="+mj-ea"/>
              </a:rPr>
              <a:t>物理设备</a:t>
            </a:r>
            <a:endParaRPr lang="zh-CN" altLang="en-US" sz="1000" dirty="0">
              <a:latin typeface="+mj-ea"/>
              <a:ea typeface="+mj-ea"/>
            </a:endParaRPr>
          </a:p>
        </p:txBody>
      </p:sp>
      <p:sp>
        <p:nvSpPr>
          <p:cNvPr id="817" name="矩形: 圆角 816"/>
          <p:cNvSpPr/>
          <p:nvPr/>
        </p:nvSpPr>
        <p:spPr>
          <a:xfrm>
            <a:off x="545420" y="4644840"/>
            <a:ext cx="11107484" cy="571499"/>
          </a:xfrm>
          <a:prstGeom prst="roundRect">
            <a:avLst>
              <a:gd name="adj" fmla="val 25385"/>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818" name="shared-body"/>
          <p:cNvSpPr>
            <a:spLocks noGrp="1"/>
          </p:cNvSpPr>
          <p:nvPr/>
        </p:nvSpPr>
        <p:spPr>
          <a:xfrm>
            <a:off x="553852" y="4768664"/>
            <a:ext cx="11087286" cy="323850"/>
          </a:xfrm>
          <a:prstGeom prst="rect">
            <a:avLst/>
          </a:prstGeom>
          <a:noFill/>
          <a:ln w="0">
            <a:noFill/>
            <a:prstDash val="solid"/>
          </a:ln>
        </p:spPr>
        <p:txBody>
          <a:bodyPr anchor="ctr"/>
          <a:lstStyle/>
          <a:p>
            <a:pPr algn="ctr">
              <a:buNone/>
              <a:defRPr sz="1125"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设备插件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驱动框架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协议适配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硬件抽象</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19" name="文本框 818"/>
          <p:cNvSpPr txBox="1"/>
          <p:nvPr/>
        </p:nvSpPr>
        <p:spPr>
          <a:xfrm>
            <a:off x="620890" y="4776701"/>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设备接入层</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820" name="文本框 819"/>
          <p:cNvSpPr txBox="1"/>
          <p:nvPr/>
        </p:nvSpPr>
        <p:spPr>
          <a:xfrm>
            <a:off x="1622639" y="4807479"/>
            <a:ext cx="760670" cy="246221"/>
          </a:xfrm>
          <a:prstGeom prst="rect">
            <a:avLst/>
          </a:prstGeom>
          <a:noFill/>
        </p:spPr>
        <p:txBody>
          <a:bodyPr wrap="square" rtlCol="0">
            <a:spAutoFit/>
          </a:bodyPr>
          <a:lstStyle/>
          <a:p>
            <a:r>
              <a:rPr lang="zh-CN" altLang="en-US" sz="1000" dirty="0">
                <a:latin typeface="+mj-ea"/>
                <a:ea typeface="+mj-ea"/>
              </a:rPr>
              <a:t>接入标准</a:t>
            </a:r>
            <a:endParaRPr lang="zh-CN" altLang="en-US" sz="1000" dirty="0">
              <a:latin typeface="+mj-ea"/>
              <a:ea typeface="+mj-ea"/>
            </a:endParaRPr>
          </a:p>
        </p:txBody>
      </p:sp>
      <p:sp>
        <p:nvSpPr>
          <p:cNvPr id="841" name="矩形: 圆角 840"/>
          <p:cNvSpPr/>
          <p:nvPr/>
        </p:nvSpPr>
        <p:spPr>
          <a:xfrm>
            <a:off x="545420" y="3735882"/>
            <a:ext cx="11107484" cy="571499"/>
          </a:xfrm>
          <a:prstGeom prst="roundRect">
            <a:avLst>
              <a:gd name="adj" fmla="val 25385"/>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842" name="shared-body"/>
          <p:cNvSpPr>
            <a:spLocks noGrp="1"/>
          </p:cNvSpPr>
          <p:nvPr/>
        </p:nvSpPr>
        <p:spPr>
          <a:xfrm>
            <a:off x="553851" y="3859706"/>
            <a:ext cx="11099053" cy="323850"/>
          </a:xfrm>
          <a:prstGeom prst="rect">
            <a:avLst/>
          </a:prstGeom>
          <a:noFill/>
          <a:ln w="0">
            <a:noFill/>
            <a:prstDash val="solid"/>
          </a:ln>
        </p:spPr>
        <p:txBody>
          <a:bodyPr anchor="ctr"/>
          <a:lstStyle/>
          <a:p>
            <a:pPr algn="ctr">
              <a:buNone/>
              <a:defRPr sz="1125"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设备模型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能力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插件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参数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数据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事件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日志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安全</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43" name="文本框 842"/>
          <p:cNvSpPr txBox="1"/>
          <p:nvPr/>
        </p:nvSpPr>
        <p:spPr>
          <a:xfrm>
            <a:off x="620890" y="38677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运行底座</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844" name="文本框 843"/>
          <p:cNvSpPr txBox="1"/>
          <p:nvPr/>
        </p:nvSpPr>
        <p:spPr>
          <a:xfrm>
            <a:off x="1622639" y="3898521"/>
            <a:ext cx="760670" cy="246221"/>
          </a:xfrm>
          <a:prstGeom prst="rect">
            <a:avLst/>
          </a:prstGeom>
          <a:noFill/>
        </p:spPr>
        <p:txBody>
          <a:bodyPr wrap="square" rtlCol="0">
            <a:spAutoFit/>
          </a:bodyPr>
          <a:lstStyle/>
          <a:p>
            <a:r>
              <a:rPr lang="zh-CN" altLang="en-US" sz="1000" dirty="0">
                <a:latin typeface="+mj-ea"/>
                <a:ea typeface="+mj-ea"/>
              </a:rPr>
              <a:t>基础服务</a:t>
            </a:r>
            <a:endParaRPr lang="zh-CN" altLang="en-US" sz="1000" dirty="0">
              <a:latin typeface="+mj-ea"/>
              <a:ea typeface="+mj-ea"/>
            </a:endParaRPr>
          </a:p>
        </p:txBody>
      </p:sp>
      <p:sp>
        <p:nvSpPr>
          <p:cNvPr id="845" name="矩形: 圆角 844"/>
          <p:cNvSpPr/>
          <p:nvPr/>
        </p:nvSpPr>
        <p:spPr>
          <a:xfrm>
            <a:off x="565561" y="2816040"/>
            <a:ext cx="11107484" cy="571499"/>
          </a:xfrm>
          <a:prstGeom prst="roundRect">
            <a:avLst>
              <a:gd name="adj" fmla="val 25385"/>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846" name="shared-body"/>
          <p:cNvSpPr>
            <a:spLocks noGrp="1"/>
          </p:cNvSpPr>
          <p:nvPr/>
        </p:nvSpPr>
        <p:spPr>
          <a:xfrm>
            <a:off x="6242959" y="2939864"/>
            <a:ext cx="5314561" cy="323850"/>
          </a:xfrm>
          <a:prstGeom prst="rect">
            <a:avLst/>
          </a:prstGeom>
          <a:noFill/>
          <a:ln w="0">
            <a:noFill/>
            <a:prstDash val="solid"/>
          </a:ln>
        </p:spPr>
        <p:txBody>
          <a:bodyPr anchor="ctr"/>
          <a:lstStyle/>
          <a:p>
            <a:pPr algn="l">
              <a:buNone/>
              <a:defRPr sz="1125"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设备实例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模组发现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驱动</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算法加载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参数同步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能力注册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服务调用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状态采集 </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数据流转</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47" name="文本框 846"/>
          <p:cNvSpPr txBox="1"/>
          <p:nvPr/>
        </p:nvSpPr>
        <p:spPr>
          <a:xfrm>
            <a:off x="620890" y="2947901"/>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百川集成</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848" name="文本框 847"/>
          <p:cNvSpPr txBox="1"/>
          <p:nvPr/>
        </p:nvSpPr>
        <p:spPr>
          <a:xfrm>
            <a:off x="1622639" y="2978679"/>
            <a:ext cx="760670" cy="246221"/>
          </a:xfrm>
          <a:prstGeom prst="rect">
            <a:avLst/>
          </a:prstGeom>
          <a:noFill/>
        </p:spPr>
        <p:txBody>
          <a:bodyPr wrap="square" rtlCol="0">
            <a:spAutoFit/>
          </a:bodyPr>
          <a:lstStyle/>
          <a:p>
            <a:r>
              <a:rPr lang="zh-CN" altLang="en-US" sz="1000" dirty="0">
                <a:latin typeface="+mj-ea"/>
                <a:ea typeface="+mj-ea"/>
              </a:rPr>
              <a:t>共享后台</a:t>
            </a:r>
            <a:endParaRPr lang="zh-CN" altLang="en-US" sz="1000" dirty="0">
              <a:latin typeface="+mj-ea"/>
              <a:ea typeface="+mj-ea"/>
            </a:endParaRPr>
          </a:p>
        </p:txBody>
      </p:sp>
      <p:sp>
        <p:nvSpPr>
          <p:cNvPr id="849" name="右箭头 16"/>
          <p:cNvSpPr>
            <a:spLocks noChangeAspect="1"/>
          </p:cNvSpPr>
          <p:nvPr/>
        </p:nvSpPr>
        <p:spPr>
          <a:xfrm rot="5400000">
            <a:off x="7417128" y="2547672"/>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50" name="右箭头 16"/>
          <p:cNvSpPr>
            <a:spLocks noChangeAspect="1"/>
          </p:cNvSpPr>
          <p:nvPr/>
        </p:nvSpPr>
        <p:spPr>
          <a:xfrm rot="5400000">
            <a:off x="4537857" y="2547672"/>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51" name="shared-body"/>
          <p:cNvSpPr>
            <a:spLocks noGrp="1"/>
          </p:cNvSpPr>
          <p:nvPr/>
        </p:nvSpPr>
        <p:spPr>
          <a:xfrm>
            <a:off x="3680819" y="2939864"/>
            <a:ext cx="2841754" cy="323850"/>
          </a:xfrm>
          <a:prstGeom prst="rect">
            <a:avLst/>
          </a:prstGeom>
          <a:noFill/>
          <a:ln w="0">
            <a:noFill/>
            <a:prstDash val="solid"/>
          </a:ln>
        </p:spPr>
        <p:txBody>
          <a:bodyPr anchor="ctr"/>
          <a:lstStyle/>
          <a:p>
            <a:pPr algn="l">
              <a:buNone/>
              <a:defRPr sz="1125" b="0">
                <a:solidFill>
                  <a:srgbClr val="5E6978"/>
                </a:solidFill>
              </a:defRPr>
            </a:pPr>
            <a:r>
              <a:rPr lang="zh-CN" altLang="en-US" sz="900" dirty="0">
                <a:solidFill>
                  <a:srgbClr val="101315"/>
                </a:solidFill>
                <a:latin typeface="OPPOSans M" panose="00020600040101010101" charset="-122"/>
                <a:ea typeface="OPPOSans M" panose="00020600040101010101" charset="-122"/>
                <a:cs typeface="OPPOSans M" panose="00020600040101010101" charset="-122"/>
              </a:rPr>
              <a:t>支撑百川装机、百川轻搭与百川运维</a:t>
            </a:r>
            <a:endParaRPr lang="zh-CN" altLang="en-US" sz="900" dirty="0">
              <a:solidFill>
                <a:srgbClr val="101315"/>
              </a:solidFill>
              <a:latin typeface="OPPOSans M" panose="00020600040101010101" charset="-122"/>
              <a:ea typeface="OPPOSans M" panose="00020600040101010101" charset="-122"/>
              <a:cs typeface="OPPOSans M" panose="00020600040101010101" charset="-122"/>
            </a:endParaRPr>
          </a:p>
        </p:txBody>
      </p:sp>
      <p:sp>
        <p:nvSpPr>
          <p:cNvPr id="852" name="右箭头 16"/>
          <p:cNvSpPr>
            <a:spLocks noChangeAspect="1"/>
          </p:cNvSpPr>
          <p:nvPr/>
        </p:nvSpPr>
        <p:spPr>
          <a:xfrm rot="5400000">
            <a:off x="5978346" y="3440300"/>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53" name="右箭头 16"/>
          <p:cNvSpPr>
            <a:spLocks noChangeAspect="1"/>
          </p:cNvSpPr>
          <p:nvPr/>
        </p:nvSpPr>
        <p:spPr>
          <a:xfrm rot="5400000">
            <a:off x="5978346" y="4354700"/>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854" name="右箭头 16"/>
          <p:cNvSpPr>
            <a:spLocks noChangeAspect="1"/>
          </p:cNvSpPr>
          <p:nvPr/>
        </p:nvSpPr>
        <p:spPr>
          <a:xfrm rot="5400000">
            <a:off x="5978346" y="5282748"/>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263525" y="1039032"/>
            <a:ext cx="11664950" cy="55586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p:cNvSpPr/>
          <p:nvPr/>
        </p:nvSpPr>
        <p:spPr>
          <a:xfrm>
            <a:off x="545420" y="1307650"/>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39" name="矩形: 圆角 38"/>
          <p:cNvSpPr/>
          <p:nvPr/>
        </p:nvSpPr>
        <p:spPr>
          <a:xfrm>
            <a:off x="4341813" y="1307650"/>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45" name="矩形: 圆角 44"/>
          <p:cNvSpPr/>
          <p:nvPr/>
        </p:nvSpPr>
        <p:spPr>
          <a:xfrm>
            <a:off x="8138206" y="1307650"/>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708" name="矩形: 圆角 707"/>
          <p:cNvSpPr/>
          <p:nvPr/>
        </p:nvSpPr>
        <p:spPr>
          <a:xfrm>
            <a:off x="545420" y="5695315"/>
            <a:ext cx="11107484" cy="482444"/>
          </a:xfrm>
          <a:prstGeom prst="roundRect">
            <a:avLst>
              <a:gd name="adj" fmla="val 25385"/>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圆角 50"/>
          <p:cNvSpPr/>
          <p:nvPr/>
        </p:nvSpPr>
        <p:spPr>
          <a:xfrm>
            <a:off x="545420" y="3012823"/>
            <a:ext cx="2571750" cy="2498706"/>
          </a:xfrm>
          <a:prstGeom prst="roundRect">
            <a:avLst>
              <a:gd name="adj" fmla="val 5861"/>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subtitle"/>
          <p:cNvSpPr>
            <a:spLocks noGrp="1"/>
          </p:cNvSpPr>
          <p:nvPr/>
        </p:nvSpPr>
        <p:spPr>
          <a:xfrm>
            <a:off x="0" y="4615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硬件协议抽象解决接入，产品插件化解决供给，场景模板化解决复制交付</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4" name="文本框 3"/>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百川</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三项核心能力与四大产品系统</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612" name="core-cap-num-0"/>
          <p:cNvSpPr>
            <a:spLocks noGrp="1"/>
          </p:cNvSpPr>
          <p:nvPr/>
        </p:nvSpPr>
        <p:spPr>
          <a:xfrm>
            <a:off x="656562" y="1398962"/>
            <a:ext cx="1227656"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615" name="core-cap-body-0"/>
          <p:cNvSpPr>
            <a:spLocks noGrp="1"/>
          </p:cNvSpPr>
          <p:nvPr/>
        </p:nvSpPr>
        <p:spPr>
          <a:xfrm>
            <a:off x="552450" y="1753878"/>
            <a:ext cx="3508375" cy="476250"/>
          </a:xfrm>
          <a:prstGeom prst="rect">
            <a:avLst/>
          </a:prstGeom>
          <a:noFill/>
          <a:ln w="0">
            <a:noFill/>
            <a:prstDash val="solid"/>
          </a:ln>
        </p:spPr>
        <p:txBody>
          <a:bodyPr anchor="ctr"/>
          <a:lstStyle/>
          <a:p>
            <a:pPr algn="ctr">
              <a:buNone/>
              <a:defRPr sz="1050" b="0">
                <a:solidFill>
                  <a:srgbClr val="5E6978"/>
                </a:solidFill>
              </a:defRPr>
            </a:pPr>
            <a:r>
              <a:rPr sz="1000" dirty="0" err="1">
                <a:solidFill>
                  <a:srgbClr val="000000"/>
                </a:solidFill>
                <a:latin typeface="OPPOSans B" panose="00020600040101010101" charset="-122"/>
                <a:ea typeface="OPPOSans B" panose="00020600040101010101" charset="-122"/>
                <a:cs typeface="OPPOSans B" panose="00020600040101010101" charset="-122"/>
              </a:rPr>
              <a:t>将不同厂商、协议和控制方式映射为统一设备能力</a:t>
            </a:r>
            <a:endParaRPr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637" name="primary-fn-body-0"/>
          <p:cNvSpPr>
            <a:spLocks noGrp="1"/>
          </p:cNvSpPr>
          <p:nvPr/>
        </p:nvSpPr>
        <p:spPr>
          <a:xfrm>
            <a:off x="624489" y="3714855"/>
            <a:ext cx="1420203" cy="684955"/>
          </a:xfrm>
          <a:prstGeom prst="rect">
            <a:avLst/>
          </a:prstGeom>
          <a:noFill/>
          <a:ln w="0">
            <a:noFill/>
            <a:prstDash val="solid"/>
          </a:ln>
        </p:spPr>
        <p:txBody>
          <a:bodyPr anchor="ctr"/>
          <a:lstStyle/>
          <a:p>
            <a:pPr algn="l">
              <a:lnSpc>
                <a:spcPct val="150000"/>
              </a:lnSpc>
              <a:buNone/>
              <a:defRPr sz="1050" b="0">
                <a:solidFill>
                  <a:srgbClr val="5E6978"/>
                </a:solidFill>
              </a:defRPr>
            </a:pP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定义型号、部件、物模型、能力、依赖、规则并完成仿</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真</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60" name="shared-body"/>
          <p:cNvSpPr>
            <a:spLocks noGrp="1"/>
          </p:cNvSpPr>
          <p:nvPr/>
        </p:nvSpPr>
        <p:spPr>
          <a:xfrm>
            <a:off x="4697186" y="5774612"/>
            <a:ext cx="5314561" cy="323850"/>
          </a:xfrm>
          <a:prstGeom prst="rect">
            <a:avLst/>
          </a:prstGeom>
          <a:noFill/>
          <a:ln w="0">
            <a:noFill/>
            <a:prstDash val="solid"/>
          </a:ln>
        </p:spPr>
        <p:txBody>
          <a:bodyPr anchor="ctr"/>
          <a:lstStyle/>
          <a:p>
            <a:pPr algn="l">
              <a:buNone/>
              <a:defRPr sz="1125" b="0">
                <a:solidFill>
                  <a:srgbClr val="5E6978"/>
                </a:solidFill>
              </a:defRPr>
            </a:pP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设备实例</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模组发现</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驱动加载</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参数同步</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能力注册</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状态采集</a:t>
            </a:r>
            <a:r>
              <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 · </a:t>
            </a:r>
            <a:r>
              <a:rPr sz="900" dirty="0" err="1">
                <a:solidFill>
                  <a:srgbClr val="000000"/>
                </a:solidFill>
                <a:latin typeface="OPPOSans R" panose="00020600040101010101" pitchFamily="18" charset="-122"/>
                <a:ea typeface="OPPOSans R" panose="00020600040101010101" pitchFamily="18" charset="-122"/>
                <a:cs typeface="OPPOSans R" panose="00020600040101010101" pitchFamily="18" charset="-122"/>
              </a:rPr>
              <a:t>服务调用</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 name="callout-text"/>
          <p:cNvSpPr>
            <a:spLocks noGrp="1"/>
          </p:cNvSpPr>
          <p:nvPr/>
        </p:nvSpPr>
        <p:spPr>
          <a:xfrm>
            <a:off x="263525" y="6200981"/>
            <a:ext cx="11664950" cy="413552"/>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开放平台连接生态参与者</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汇聚设备插件、算法、节点、页面与应用，为百川四个系统补充生态能力</a:t>
            </a:r>
            <a:endParaRPr lang="zh-CN" altLang="en-US" sz="900" dirty="0">
              <a:solidFill>
                <a:schemeClr val="bg1">
                  <a:lumMod val="65000"/>
                </a:schemeClr>
              </a:solidFill>
              <a:latin typeface="+mn-ea"/>
              <a:cs typeface="OPPOSans M" panose="00020600040101010101" charset="-122"/>
              <a:sym typeface="+mn-ea"/>
            </a:endParaRPr>
          </a:p>
        </p:txBody>
      </p:sp>
      <p:sp>
        <p:nvSpPr>
          <p:cNvPr id="18" name="文本框 17"/>
          <p:cNvSpPr txBox="1"/>
          <p:nvPr/>
        </p:nvSpPr>
        <p:spPr>
          <a:xfrm>
            <a:off x="3607077" y="1391874"/>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01</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19" name="core-cap-body-0"/>
          <p:cNvSpPr>
            <a:spLocks noGrp="1"/>
          </p:cNvSpPr>
          <p:nvPr/>
        </p:nvSpPr>
        <p:spPr>
          <a:xfrm>
            <a:off x="545674" y="2180327"/>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结果</a:t>
            </a:r>
            <a:r>
              <a:rPr lang="en-US" altLang="zh-CN"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更换品牌或构型上层业务仍可复用</a:t>
            </a:r>
            <a:endParaRPr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21" name="文本框 20"/>
          <p:cNvSpPr txBox="1"/>
          <p:nvPr/>
        </p:nvSpPr>
        <p:spPr>
          <a:xfrm>
            <a:off x="656562" y="1435150"/>
            <a:ext cx="1195329"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硬件协议抽象</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
        <p:nvSpPr>
          <p:cNvPr id="41" name="core-cap-body-0"/>
          <p:cNvSpPr>
            <a:spLocks noGrp="1"/>
          </p:cNvSpPr>
          <p:nvPr/>
        </p:nvSpPr>
        <p:spPr>
          <a:xfrm>
            <a:off x="4329793" y="1753878"/>
            <a:ext cx="3508375" cy="476250"/>
          </a:xfrm>
          <a:prstGeom prst="rect">
            <a:avLst/>
          </a:prstGeom>
          <a:noFill/>
          <a:ln w="0">
            <a:noFill/>
            <a:prstDash val="solid"/>
          </a:ln>
        </p:spPr>
        <p:txBody>
          <a:bodyPr anchor="ctr"/>
          <a:lstStyle/>
          <a:p>
            <a:pPr algn="ctr">
              <a:buNone/>
              <a:defRPr sz="1050" b="0">
                <a:solidFill>
                  <a:srgbClr val="5E6978"/>
                </a:solidFill>
              </a:defRPr>
            </a:pPr>
            <a:r>
              <a:rPr lang="zh-CN" altLang="en-US" sz="1000" dirty="0">
                <a:solidFill>
                  <a:srgbClr val="000000"/>
                </a:solidFill>
                <a:latin typeface="OPPOSans B" panose="00020600040101010101" charset="-122"/>
                <a:ea typeface="OPPOSans B" panose="00020600040101010101" charset="-122"/>
                <a:cs typeface="OPPOSans B" panose="00020600040101010101" charset="-122"/>
              </a:rPr>
              <a:t>设备、算法、节点、页面和应用可独立开发、安装与升级</a:t>
            </a:r>
            <a:endParaRPr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42" name="文本框 41"/>
          <p:cNvSpPr txBox="1"/>
          <p:nvPr/>
        </p:nvSpPr>
        <p:spPr>
          <a:xfrm>
            <a:off x="7384420" y="1391874"/>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02</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43" name="core-cap-body-0"/>
          <p:cNvSpPr>
            <a:spLocks noGrp="1"/>
          </p:cNvSpPr>
          <p:nvPr/>
        </p:nvSpPr>
        <p:spPr>
          <a:xfrm>
            <a:off x="4323017" y="2180327"/>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结果</a:t>
            </a:r>
            <a:r>
              <a:rPr lang="en-US" altLang="zh-CN"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把项目代码转化为可分发的软件产品</a:t>
            </a:r>
            <a:endParaRPr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47" name="core-cap-body-0"/>
          <p:cNvSpPr>
            <a:spLocks noGrp="1"/>
          </p:cNvSpPr>
          <p:nvPr/>
        </p:nvSpPr>
        <p:spPr>
          <a:xfrm>
            <a:off x="8145236" y="1753878"/>
            <a:ext cx="3508375" cy="476250"/>
          </a:xfrm>
          <a:prstGeom prst="rect">
            <a:avLst/>
          </a:prstGeom>
          <a:noFill/>
          <a:ln w="0">
            <a:noFill/>
            <a:prstDash val="solid"/>
          </a:ln>
        </p:spPr>
        <p:txBody>
          <a:bodyPr anchor="ctr"/>
          <a:lstStyle/>
          <a:p>
            <a:pPr algn="ctr">
              <a:buNone/>
              <a:defRPr sz="1050" b="0">
                <a:solidFill>
                  <a:srgbClr val="5E6978"/>
                </a:solidFill>
              </a:defRPr>
            </a:pPr>
            <a:r>
              <a:rPr lang="zh-CN" altLang="en-US" sz="1000" dirty="0">
                <a:solidFill>
                  <a:srgbClr val="000000"/>
                </a:solidFill>
                <a:latin typeface="OPPOSans B" panose="00020600040101010101" charset="-122"/>
                <a:ea typeface="OPPOSans B" panose="00020600040101010101" charset="-122"/>
                <a:cs typeface="OPPOSans B" panose="00020600040101010101" charset="-122"/>
              </a:rPr>
              <a:t>设备构型、能力组合、行为流程和工艺经验可持续复用</a:t>
            </a:r>
            <a:endParaRPr lang="zh-CN" altLang="en-US" sz="10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48" name="文本框 47"/>
          <p:cNvSpPr txBox="1"/>
          <p:nvPr/>
        </p:nvSpPr>
        <p:spPr>
          <a:xfrm>
            <a:off x="11199863" y="1391874"/>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03</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49" name="core-cap-body-0"/>
          <p:cNvSpPr>
            <a:spLocks noGrp="1"/>
          </p:cNvSpPr>
          <p:nvPr/>
        </p:nvSpPr>
        <p:spPr>
          <a:xfrm>
            <a:off x="8138460" y="2180327"/>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结果</a:t>
            </a:r>
            <a:r>
              <a:rPr lang="en-US" altLang="zh-CN"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同类设备和项目可快速复制交付</a:t>
            </a:r>
            <a:endParaRPr sz="9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pic>
        <p:nvPicPr>
          <p:cNvPr id="62" name="图片 6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84809" y="3063214"/>
            <a:ext cx="799274" cy="2397821"/>
          </a:xfrm>
          <a:prstGeom prst="rect">
            <a:avLst/>
          </a:prstGeom>
        </p:spPr>
      </p:pic>
      <p:sp>
        <p:nvSpPr>
          <p:cNvPr id="581" name="文本框 580"/>
          <p:cNvSpPr txBox="1"/>
          <p:nvPr/>
        </p:nvSpPr>
        <p:spPr>
          <a:xfrm>
            <a:off x="620890" y="31209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数字造机</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583" name="文本框 582"/>
          <p:cNvSpPr txBox="1"/>
          <p:nvPr/>
        </p:nvSpPr>
        <p:spPr>
          <a:xfrm>
            <a:off x="647109" y="3428720"/>
            <a:ext cx="760670" cy="246221"/>
          </a:xfrm>
          <a:prstGeom prst="rect">
            <a:avLst/>
          </a:prstGeom>
          <a:noFill/>
        </p:spPr>
        <p:txBody>
          <a:bodyPr wrap="square" rtlCol="0">
            <a:spAutoFit/>
          </a:bodyPr>
          <a:lstStyle/>
          <a:p>
            <a:r>
              <a:rPr lang="zh-CN" altLang="en-US" sz="1000" dirty="0">
                <a:latin typeface="+mj-ea"/>
                <a:ea typeface="+mj-ea"/>
              </a:rPr>
              <a:t>数字定义</a:t>
            </a:r>
            <a:endParaRPr lang="zh-CN" altLang="en-US" sz="1000" dirty="0">
              <a:latin typeface="+mj-ea"/>
              <a:ea typeface="+mj-ea"/>
            </a:endParaRPr>
          </a:p>
        </p:txBody>
      </p:sp>
      <p:sp>
        <p:nvSpPr>
          <p:cNvPr id="584" name="文本框 583"/>
          <p:cNvSpPr txBox="1"/>
          <p:nvPr/>
        </p:nvSpPr>
        <p:spPr>
          <a:xfrm>
            <a:off x="647109" y="4915787"/>
            <a:ext cx="1477560" cy="584775"/>
          </a:xfrm>
          <a:prstGeom prst="rect">
            <a:avLst/>
          </a:prstGeom>
          <a:noFill/>
        </p:spPr>
        <p:txBody>
          <a:bodyPr wrap="square" rtlCol="0">
            <a:spAutoFit/>
          </a:bodyPr>
          <a:lstStyle/>
          <a:p>
            <a:r>
              <a:rPr lang="en-US" altLang="zh-CN"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1</a:t>
            </a:r>
            <a:endParaRPr lang="zh-CN" altLang="en-US"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687" name="矩形: 圆角 686"/>
          <p:cNvSpPr/>
          <p:nvPr/>
        </p:nvSpPr>
        <p:spPr>
          <a:xfrm>
            <a:off x="3388557" y="3012823"/>
            <a:ext cx="2571750" cy="2498706"/>
          </a:xfrm>
          <a:prstGeom prst="roundRect">
            <a:avLst>
              <a:gd name="adj" fmla="val 5861"/>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8" name="primary-fn-body-0"/>
          <p:cNvSpPr>
            <a:spLocks noGrp="1"/>
          </p:cNvSpPr>
          <p:nvPr/>
        </p:nvSpPr>
        <p:spPr>
          <a:xfrm>
            <a:off x="3460218" y="3714855"/>
            <a:ext cx="1420203" cy="684955"/>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按型号装包、激活、自检，把实体设备转为运行实例</a:t>
            </a:r>
            <a:endParaRPr sz="900" b="0" dirty="0">
              <a:solidFill>
                <a:srgbClr val="5E6978"/>
              </a:solidFill>
            </a:endParaRPr>
          </a:p>
        </p:txBody>
      </p:sp>
      <p:sp>
        <p:nvSpPr>
          <p:cNvPr id="690" name="文本框 689"/>
          <p:cNvSpPr txBox="1"/>
          <p:nvPr/>
        </p:nvSpPr>
        <p:spPr>
          <a:xfrm>
            <a:off x="3456619" y="31209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百川装机</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691" name="文本框 690"/>
          <p:cNvSpPr txBox="1"/>
          <p:nvPr/>
        </p:nvSpPr>
        <p:spPr>
          <a:xfrm>
            <a:off x="3482837" y="3428720"/>
            <a:ext cx="846955" cy="246221"/>
          </a:xfrm>
          <a:prstGeom prst="rect">
            <a:avLst/>
          </a:prstGeom>
          <a:noFill/>
        </p:spPr>
        <p:txBody>
          <a:bodyPr wrap="square" rtlCol="0">
            <a:spAutoFit/>
          </a:bodyPr>
          <a:lstStyle/>
          <a:p>
            <a:r>
              <a:rPr lang="zh-CN" altLang="en-US" sz="1000" dirty="0">
                <a:latin typeface="+mj-ea"/>
                <a:ea typeface="+mj-ea"/>
              </a:rPr>
              <a:t>软件初始化</a:t>
            </a:r>
            <a:endParaRPr lang="zh-CN" altLang="en-US" sz="1000" dirty="0">
              <a:latin typeface="+mj-ea"/>
              <a:ea typeface="+mj-ea"/>
            </a:endParaRPr>
          </a:p>
        </p:txBody>
      </p:sp>
      <p:sp>
        <p:nvSpPr>
          <p:cNvPr id="692" name="文本框 691"/>
          <p:cNvSpPr txBox="1"/>
          <p:nvPr/>
        </p:nvSpPr>
        <p:spPr>
          <a:xfrm>
            <a:off x="3482838" y="4915787"/>
            <a:ext cx="1477560" cy="584775"/>
          </a:xfrm>
          <a:prstGeom prst="rect">
            <a:avLst/>
          </a:prstGeom>
          <a:noFill/>
        </p:spPr>
        <p:txBody>
          <a:bodyPr wrap="square" rtlCol="0">
            <a:spAutoFit/>
          </a:bodyPr>
          <a:lstStyle/>
          <a:p>
            <a:r>
              <a:rPr lang="en-US" altLang="zh-CN"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2</a:t>
            </a:r>
            <a:endParaRPr lang="zh-CN" altLang="en-US"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693" name="矩形: 圆角 692"/>
          <p:cNvSpPr/>
          <p:nvPr/>
        </p:nvSpPr>
        <p:spPr>
          <a:xfrm>
            <a:off x="6231694" y="3012823"/>
            <a:ext cx="2571750" cy="2498706"/>
          </a:xfrm>
          <a:prstGeom prst="roundRect">
            <a:avLst>
              <a:gd name="adj" fmla="val 5861"/>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4" name="primary-fn-body-0"/>
          <p:cNvSpPr>
            <a:spLocks noGrp="1"/>
          </p:cNvSpPr>
          <p:nvPr/>
        </p:nvSpPr>
        <p:spPr>
          <a:xfrm>
            <a:off x="6323160" y="3714855"/>
            <a:ext cx="1420203" cy="684955"/>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完成控制、标定、行为编排、视觉流程和现场部署</a:t>
            </a:r>
            <a:endPar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96" name="文本框 695"/>
          <p:cNvSpPr txBox="1"/>
          <p:nvPr/>
        </p:nvSpPr>
        <p:spPr>
          <a:xfrm>
            <a:off x="6319561" y="31209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百川轻搭</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697" name="文本框 696"/>
          <p:cNvSpPr txBox="1"/>
          <p:nvPr/>
        </p:nvSpPr>
        <p:spPr>
          <a:xfrm>
            <a:off x="6345780" y="3428720"/>
            <a:ext cx="760670" cy="246221"/>
          </a:xfrm>
          <a:prstGeom prst="rect">
            <a:avLst/>
          </a:prstGeom>
          <a:noFill/>
        </p:spPr>
        <p:txBody>
          <a:bodyPr wrap="square" rtlCol="0">
            <a:spAutoFit/>
          </a:bodyPr>
          <a:lstStyle/>
          <a:p>
            <a:r>
              <a:rPr lang="zh-CN" altLang="en-US" sz="1000" dirty="0">
                <a:latin typeface="+mj-ea"/>
                <a:ea typeface="+mj-ea"/>
              </a:rPr>
              <a:t>场景交付</a:t>
            </a:r>
            <a:endParaRPr lang="zh-CN" altLang="en-US" sz="1000" dirty="0">
              <a:latin typeface="+mj-ea"/>
              <a:ea typeface="+mj-ea"/>
            </a:endParaRPr>
          </a:p>
        </p:txBody>
      </p:sp>
      <p:sp>
        <p:nvSpPr>
          <p:cNvPr id="698" name="文本框 697"/>
          <p:cNvSpPr txBox="1"/>
          <p:nvPr/>
        </p:nvSpPr>
        <p:spPr>
          <a:xfrm>
            <a:off x="6345780" y="4915787"/>
            <a:ext cx="1477560" cy="584775"/>
          </a:xfrm>
          <a:prstGeom prst="rect">
            <a:avLst/>
          </a:prstGeom>
          <a:noFill/>
        </p:spPr>
        <p:txBody>
          <a:bodyPr wrap="square" rtlCol="0">
            <a:spAutoFit/>
          </a:bodyPr>
          <a:lstStyle/>
          <a:p>
            <a:r>
              <a:rPr lang="en-US" altLang="zh-CN"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3</a:t>
            </a:r>
            <a:endParaRPr lang="zh-CN" altLang="en-US"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699" name="矩形: 圆角 698"/>
          <p:cNvSpPr/>
          <p:nvPr/>
        </p:nvSpPr>
        <p:spPr>
          <a:xfrm>
            <a:off x="9074831" y="3012823"/>
            <a:ext cx="2571750" cy="2498706"/>
          </a:xfrm>
          <a:prstGeom prst="roundRect">
            <a:avLst>
              <a:gd name="adj" fmla="val 5861"/>
            </a:avLst>
          </a:prstGeom>
          <a:solidFill>
            <a:schemeClr val="bg1"/>
          </a:solidFill>
          <a:ln>
            <a:noFill/>
          </a:ln>
          <a:effectLst>
            <a:outerShdw blurRad="63500" algn="ctr" rotWithShape="0">
              <a:schemeClr val="bg2">
                <a:lumMod val="90000"/>
                <a:alpha val="8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0" name="primary-fn-body-0"/>
          <p:cNvSpPr>
            <a:spLocks noGrp="1"/>
          </p:cNvSpPr>
          <p:nvPr/>
        </p:nvSpPr>
        <p:spPr>
          <a:xfrm>
            <a:off x="9153446" y="3714855"/>
            <a:ext cx="1420203" cy="684955"/>
          </a:xfrm>
          <a:prstGeom prst="rect">
            <a:avLst/>
          </a:prstGeom>
          <a:noFill/>
          <a:ln w="0">
            <a:noFill/>
            <a:prstDash val="solid"/>
          </a:ln>
        </p:spPr>
        <p:txBody>
          <a:bodyPr anchor="ctr"/>
          <a:lstStyle/>
          <a:p>
            <a:pPr>
              <a:lnSpc>
                <a:spcPct val="150000"/>
              </a:lnSpc>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异常、日志、回放、维修和生命周期反馈持续沉淀</a:t>
            </a:r>
            <a:endPar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702" name="文本框 701"/>
          <p:cNvSpPr txBox="1"/>
          <p:nvPr/>
        </p:nvSpPr>
        <p:spPr>
          <a:xfrm>
            <a:off x="9149847" y="31209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百川运维</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703" name="文本框 702"/>
          <p:cNvSpPr txBox="1"/>
          <p:nvPr/>
        </p:nvSpPr>
        <p:spPr>
          <a:xfrm>
            <a:off x="9176066" y="3428720"/>
            <a:ext cx="760670" cy="246221"/>
          </a:xfrm>
          <a:prstGeom prst="rect">
            <a:avLst/>
          </a:prstGeom>
          <a:noFill/>
        </p:spPr>
        <p:txBody>
          <a:bodyPr wrap="square" rtlCol="0">
            <a:spAutoFit/>
          </a:bodyPr>
          <a:lstStyle/>
          <a:p>
            <a:r>
              <a:rPr lang="zh-CN" altLang="en-US" sz="1000" dirty="0">
                <a:latin typeface="+mj-ea"/>
                <a:ea typeface="+mj-ea"/>
              </a:rPr>
              <a:t>持续运营</a:t>
            </a:r>
            <a:endParaRPr lang="zh-CN" altLang="en-US" sz="1000" dirty="0">
              <a:latin typeface="+mj-ea"/>
              <a:ea typeface="+mj-ea"/>
            </a:endParaRPr>
          </a:p>
        </p:txBody>
      </p:sp>
      <p:sp>
        <p:nvSpPr>
          <p:cNvPr id="704" name="文本框 703"/>
          <p:cNvSpPr txBox="1"/>
          <p:nvPr/>
        </p:nvSpPr>
        <p:spPr>
          <a:xfrm>
            <a:off x="9176066" y="4915787"/>
            <a:ext cx="1477560" cy="584775"/>
          </a:xfrm>
          <a:prstGeom prst="rect">
            <a:avLst/>
          </a:prstGeom>
          <a:noFill/>
        </p:spPr>
        <p:txBody>
          <a:bodyPr wrap="square" rtlCol="0">
            <a:spAutoFit/>
          </a:bodyPr>
          <a:lstStyle/>
          <a:p>
            <a:r>
              <a:rPr lang="en-US" altLang="zh-CN"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4</a:t>
            </a:r>
            <a:endParaRPr lang="zh-CN" altLang="en-US" sz="32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pic>
        <p:nvPicPr>
          <p:cNvPr id="705" name="图片 70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47603" y="3004899"/>
            <a:ext cx="791716" cy="2375149"/>
          </a:xfrm>
          <a:prstGeom prst="rect">
            <a:avLst/>
          </a:prstGeom>
        </p:spPr>
      </p:pic>
      <p:pic>
        <p:nvPicPr>
          <p:cNvPr id="706" name="图片 70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7923" y="3063328"/>
            <a:ext cx="791952" cy="2375855"/>
          </a:xfrm>
          <a:prstGeom prst="rect">
            <a:avLst/>
          </a:prstGeom>
        </p:spPr>
      </p:pic>
      <p:pic>
        <p:nvPicPr>
          <p:cNvPr id="707" name="图片 70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94368" y="3046885"/>
            <a:ext cx="799274" cy="2397821"/>
          </a:xfrm>
          <a:prstGeom prst="rect">
            <a:avLst/>
          </a:prstGeom>
        </p:spPr>
      </p:pic>
      <p:sp>
        <p:nvSpPr>
          <p:cNvPr id="709" name="文本框 708"/>
          <p:cNvSpPr txBox="1"/>
          <p:nvPr/>
        </p:nvSpPr>
        <p:spPr>
          <a:xfrm>
            <a:off x="620890" y="5782649"/>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百川集成</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710" name="文本框 709"/>
          <p:cNvSpPr txBox="1"/>
          <p:nvPr/>
        </p:nvSpPr>
        <p:spPr>
          <a:xfrm>
            <a:off x="1622639" y="5813427"/>
            <a:ext cx="760670" cy="246221"/>
          </a:xfrm>
          <a:prstGeom prst="rect">
            <a:avLst/>
          </a:prstGeom>
          <a:noFill/>
        </p:spPr>
        <p:txBody>
          <a:bodyPr wrap="square" rtlCol="0">
            <a:spAutoFit/>
          </a:bodyPr>
          <a:lstStyle/>
          <a:p>
            <a:r>
              <a:rPr lang="zh-CN" altLang="en-US" sz="1000" dirty="0">
                <a:latin typeface="+mj-ea"/>
                <a:ea typeface="+mj-ea"/>
              </a:rPr>
              <a:t>共享后台</a:t>
            </a:r>
            <a:endParaRPr lang="zh-CN" altLang="en-US" sz="1000" dirty="0">
              <a:latin typeface="+mj-ea"/>
              <a:ea typeface="+mj-ea"/>
            </a:endParaRPr>
          </a:p>
        </p:txBody>
      </p:sp>
      <p:sp>
        <p:nvSpPr>
          <p:cNvPr id="713" name="文本框 712"/>
          <p:cNvSpPr txBox="1"/>
          <p:nvPr/>
        </p:nvSpPr>
        <p:spPr>
          <a:xfrm>
            <a:off x="5439121" y="2610204"/>
            <a:ext cx="1313759" cy="307777"/>
          </a:xfrm>
          <a:prstGeom prst="rect">
            <a:avLst/>
          </a:prstGeom>
          <a:noFill/>
        </p:spPr>
        <p:txBody>
          <a:bodyPr wrap="square" rtlCol="0">
            <a:spAutoFit/>
          </a:bodyPr>
          <a:lstStyle/>
          <a:p>
            <a:r>
              <a:rPr lang="zh-CN" altLang="en-US" sz="1400" dirty="0">
                <a:solidFill>
                  <a:srgbClr val="BF1920"/>
                </a:solidFill>
                <a:latin typeface="OPPOSans B" panose="00020600040101010101" charset="-122"/>
                <a:ea typeface="OPPOSans B" panose="00020600040101010101" charset="-122"/>
                <a:cs typeface="OPPOSans B" panose="00020600040101010101" charset="-122"/>
              </a:rPr>
              <a:t>四个产品系统</a:t>
            </a:r>
            <a:endParaRPr lang="zh-CN" altLang="en-US" sz="1400" dirty="0">
              <a:solidFill>
                <a:srgbClr val="BF1920"/>
              </a:solidFill>
              <a:latin typeface="OPPOSans B" panose="00020600040101010101" charset="-122"/>
              <a:ea typeface="OPPOSans B" panose="00020600040101010101" charset="-122"/>
              <a:cs typeface="OPPOSans B" panose="00020600040101010101" charset="-122"/>
            </a:endParaRPr>
          </a:p>
        </p:txBody>
      </p:sp>
      <p:sp>
        <p:nvSpPr>
          <p:cNvPr id="2" name="core-cap-num-0"/>
          <p:cNvSpPr>
            <a:spLocks noGrp="1"/>
          </p:cNvSpPr>
          <p:nvPr/>
        </p:nvSpPr>
        <p:spPr>
          <a:xfrm>
            <a:off x="4449938" y="1398962"/>
            <a:ext cx="1227656"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6" name="文本框 5"/>
          <p:cNvSpPr txBox="1"/>
          <p:nvPr/>
        </p:nvSpPr>
        <p:spPr>
          <a:xfrm>
            <a:off x="4449938" y="1435150"/>
            <a:ext cx="1195329"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产品插件化</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
        <p:nvSpPr>
          <p:cNvPr id="7" name="core-cap-num-0"/>
          <p:cNvSpPr>
            <a:spLocks noGrp="1"/>
          </p:cNvSpPr>
          <p:nvPr/>
        </p:nvSpPr>
        <p:spPr>
          <a:xfrm>
            <a:off x="8245682" y="1398962"/>
            <a:ext cx="1227656"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9" name="文本框 8"/>
          <p:cNvSpPr txBox="1"/>
          <p:nvPr/>
        </p:nvSpPr>
        <p:spPr>
          <a:xfrm>
            <a:off x="8245682" y="1435150"/>
            <a:ext cx="1195329"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场景模板化</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11150600" y="215900"/>
          <a:chExt cx="419100" cy="419100"/>
        </a:xfrm>
      </p:grpSpPr>
      <p:sp>
        <p:nvSpPr>
          <p:cNvPr id="6" name="矩形: 圆角 5"/>
          <p:cNvSpPr/>
          <p:nvPr/>
        </p:nvSpPr>
        <p:spPr>
          <a:xfrm>
            <a:off x="263525" y="1016000"/>
            <a:ext cx="11664950" cy="5581650"/>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顶角 22"/>
          <p:cNvSpPr/>
          <p:nvPr/>
        </p:nvSpPr>
        <p:spPr>
          <a:xfrm flipV="1">
            <a:off x="6387612" y="1572361"/>
            <a:ext cx="5346105" cy="4449025"/>
          </a:xfrm>
          <a:prstGeom prst="round2SameRect">
            <a:avLst>
              <a:gd name="adj1" fmla="val 3948"/>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673" name="矩形 672"/>
          <p:cNvSpPr/>
          <p:nvPr/>
        </p:nvSpPr>
        <p:spPr>
          <a:xfrm>
            <a:off x="555137" y="2521863"/>
            <a:ext cx="2073763" cy="406400"/>
          </a:xfrm>
          <a:prstGeom prst="rect">
            <a:avLst/>
          </a:prstGeom>
          <a:noFill/>
          <a:ln>
            <a:noFill/>
          </a:ln>
        </p:spPr>
        <p:txBody>
          <a:bodyPr/>
          <a:lstStyle/>
          <a:p>
            <a:r>
              <a:rPr lang="zh-CN" sz="1400" dirty="0">
                <a:solidFill>
                  <a:srgbClr val="111827"/>
                </a:solidFill>
                <a:latin typeface="OPPOSans B" panose="00020600040101010101" charset="-122"/>
                <a:ea typeface="OPPOSans B" panose="00020600040101010101" charset="-122"/>
                <a:cs typeface="OPPOSans B" panose="00020600040101010101" charset="-122"/>
              </a:rPr>
              <a:t>从设备定义到数据供给</a:t>
            </a:r>
            <a:endParaRPr lang="zh-CN"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2" name="矩形: 圆顶角 21"/>
          <p:cNvSpPr/>
          <p:nvPr/>
        </p:nvSpPr>
        <p:spPr>
          <a:xfrm>
            <a:off x="6387610" y="1219937"/>
            <a:ext cx="5346107" cy="342987"/>
          </a:xfrm>
          <a:prstGeom prst="round2SameRect">
            <a:avLst>
              <a:gd name="adj1" fmla="val 42035"/>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74" name="矩形 673"/>
          <p:cNvSpPr/>
          <p:nvPr/>
        </p:nvSpPr>
        <p:spPr>
          <a:xfrm>
            <a:off x="576909" y="3030233"/>
            <a:ext cx="5181634" cy="2362531"/>
          </a:xfrm>
          <a:prstGeom prst="rect">
            <a:avLst/>
          </a:prstGeom>
          <a:noFill/>
          <a:ln w="0">
            <a:noFill/>
            <a:prstDash val="solid"/>
          </a:ln>
        </p:spPr>
        <p:txBody>
          <a:bodyPr wrap="square" anchor="ctr"/>
          <a:lstStyle/>
          <a:p>
            <a:pPr marL="0" indent="0" algn="l" defTabSz="0" rtl="0" eaLnBrk="1" latinLnBrk="0" hangingPunct="1">
              <a:lnSpc>
                <a:spcPct val="170000"/>
              </a:lnSpc>
              <a:spcBef>
                <a:spcPct val="0"/>
              </a:spcBef>
              <a:spcAft>
                <a:spcPct val="0"/>
              </a:spcAft>
              <a:buNone/>
            </a:pPr>
            <a:r>
              <a:rPr lang="zh-CN" altLang="en-US" sz="1000" dirty="0">
                <a:solidFill>
                  <a:schemeClr val="tx1">
                    <a:lumMod val="75000"/>
                    <a:lumOff val="25000"/>
                  </a:schemeClr>
                </a:solidFill>
                <a:latin typeface="+mn-ea"/>
                <a:cs typeface="OPPOSans M" panose="00020600040101010101" charset="-122"/>
              </a:rPr>
              <a:t>数字造机是百川产品线面向产品与方案的数字化定义平台。它将机器人的组成结构、基础属性、配置参数和软件清单抽象为统一的数据模型，让原本散落在图纸、文档和代码中的设备信息变成可管理、可复用、可追溯的数字资产。
平台统一管理型号信息、组件与外设、URDF 与 3D 模型、参数与软件清单四类原始数据，通过标准化的数据接口输送给下游的百川装机、百川轻搭、集成系统和仿真平台，确保从设计到交付的每一个环节都使用一致、准确的数据源</a:t>
            </a:r>
            <a:r>
              <a:rPr lang="zh-CN" altLang="en-US" sz="10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1200" dirty="0">
                <a:solidFill>
                  <a:srgbClr val="5E6978"/>
                </a:solidFill>
                <a:latin typeface="OPPOSans M" panose="00020600040101010101" charset="-122"/>
                <a:ea typeface="OPPOSans M" panose="00020600040101010101" charset="-122"/>
                <a:cs typeface="OPPOSans M" panose="00020600040101010101" charset="-122"/>
              </a:rPr>
              <a:t>
</a:t>
            </a:r>
            <a:endParaRPr lang="zh-CN" altLang="en-US" sz="1200" dirty="0">
              <a:solidFill>
                <a:srgbClr val="5E6978"/>
              </a:solidFill>
              <a:latin typeface="OPPOSans M" panose="00020600040101010101" charset="-122"/>
              <a:ea typeface="OPPOSans M" panose="00020600040101010101" charset="-122"/>
              <a:cs typeface="OPPOSans M" panose="00020600040101010101" charset="-122"/>
            </a:endParaRPr>
          </a:p>
        </p:txBody>
      </p:sp>
      <p:grpSp>
        <p:nvGrpSpPr>
          <p:cNvPr id="24" name="组合 23"/>
          <p:cNvGrpSpPr/>
          <p:nvPr/>
        </p:nvGrpSpPr>
        <p:grpSpPr>
          <a:xfrm>
            <a:off x="11106948" y="1339178"/>
            <a:ext cx="476057" cy="113943"/>
            <a:chOff x="5298623" y="1396154"/>
            <a:chExt cx="507580" cy="121488"/>
          </a:xfrm>
        </p:grpSpPr>
        <p:sp>
          <p:nvSpPr>
            <p:cNvPr id="25" name="椭圆 24"/>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5" name="矩形 674"/>
          <p:cNvSpPr/>
          <p:nvPr/>
        </p:nvSpPr>
        <p:spPr>
          <a:xfrm>
            <a:off x="263525" y="6217914"/>
            <a:ext cx="11664950" cy="342900"/>
          </a:xfrm>
          <a:prstGeom prst="rect">
            <a:avLst/>
          </a:prstGeom>
          <a:noFill/>
          <a:ln>
            <a:noFill/>
          </a:ln>
        </p:spPr>
        <p:txBody>
          <a:bodyPr/>
          <a:lstStyle/>
          <a:p>
            <a:pPr algn="ctr"/>
            <a:r>
              <a:rPr lang="zh-CN" altLang="en-US" sz="900" dirty="0">
                <a:solidFill>
                  <a:schemeClr val="bg1">
                    <a:lumMod val="65000"/>
                  </a:schemeClr>
                </a:solidFill>
                <a:latin typeface="+mn-ea"/>
                <a:cs typeface="OPPOSans M" panose="00020600040101010101" charset="-122"/>
              </a:rPr>
              <a:t>机器人由什么组成、长什么样、怎么动、装什么软件</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数字造机一次定义，全链路统一供给</a:t>
            </a:r>
            <a:endParaRPr lang="zh-CN" altLang="en-US" sz="900" dirty="0">
              <a:solidFill>
                <a:schemeClr val="bg1">
                  <a:lumMod val="65000"/>
                </a:schemeClr>
              </a:solidFill>
              <a:latin typeface="+mn-ea"/>
              <a:cs typeface="OPPOSans M" panose="00020600040101010101" charset="-122"/>
            </a:endParaRPr>
          </a:p>
        </p:txBody>
      </p:sp>
      <p:sp>
        <p:nvSpPr>
          <p:cNvPr id="7" name="文本框 6"/>
          <p:cNvSpPr txBox="1"/>
          <p:nvPr/>
        </p:nvSpPr>
        <p:spPr>
          <a:xfrm>
            <a:off x="511720" y="1237465"/>
            <a:ext cx="1619703" cy="554479"/>
          </a:xfrm>
          <a:prstGeom prst="rect">
            <a:avLst/>
          </a:prstGeom>
        </p:spPr>
        <p:txBody>
          <a:bodyPr wrap="none" rtlCol="0">
            <a:noAutofit/>
          </a:bodyPr>
          <a:lstStyle/>
          <a:p>
            <a:pPr algn="ctr"/>
            <a:r>
              <a:rPr lang="zh-CN" altLang="en-US" sz="2800" dirty="0">
                <a:latin typeface="OPPOSans B" panose="00020600040101010101" charset="-122"/>
                <a:ea typeface="OPPOSans B" panose="00020600040101010101" charset="-122"/>
                <a:cs typeface="OPPOSans B" panose="00020600040101010101" charset="-122"/>
              </a:rPr>
              <a:t>数字造机</a:t>
            </a:r>
            <a:endParaRPr lang="zh-CN" altLang="en-US" sz="2800" dirty="0">
              <a:latin typeface="OPPOSans B" panose="00020600040101010101" charset="-122"/>
              <a:ea typeface="OPPOSans B" panose="00020600040101010101" charset="-122"/>
              <a:cs typeface="OPPOSans B" panose="00020600040101010101" charset="-122"/>
            </a:endParaRPr>
          </a:p>
        </p:txBody>
      </p:sp>
      <p:sp>
        <p:nvSpPr>
          <p:cNvPr id="8"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定义机器人的组成、属性与配置，一次定义、全链路复用</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4" name="文本框 13"/>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数字造机</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机器人型号与原始数据的数字化定义平台</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0" name="文本框 19"/>
          <p:cNvSpPr txBox="1"/>
          <p:nvPr/>
        </p:nvSpPr>
        <p:spPr>
          <a:xfrm>
            <a:off x="3219994" y="1237465"/>
            <a:ext cx="2727235" cy="769441"/>
          </a:xfrm>
          <a:prstGeom prst="rect">
            <a:avLst/>
          </a:prstGeom>
          <a:noFill/>
        </p:spPr>
        <p:txBody>
          <a:bodyPr wrap="square" rtlCol="0">
            <a:spAutoFit/>
          </a:bodyPr>
          <a:lstStyle/>
          <a:p>
            <a:pPr algn="r"/>
            <a:r>
              <a:rPr lang="en-US" altLang="zh-CN" sz="1400" dirty="0">
                <a:solidFill>
                  <a:srgbClr val="C00000"/>
                </a:solidFill>
                <a:latin typeface="OPPOSans B" panose="00020600040101010101" charset="-122"/>
                <a:ea typeface="OPPOSans B" panose="00020600040101010101" charset="-122"/>
                <a:cs typeface="OPPOSans B" panose="00020600040101010101" charset="-122"/>
              </a:rPr>
              <a:t>DIGITAL BUILDER · POSITIONING</a:t>
            </a:r>
            <a:endParaRPr lang="en-US" altLang="zh-CN" sz="1400" dirty="0">
              <a:solidFill>
                <a:srgbClr val="C00000"/>
              </a:solidFill>
              <a:latin typeface="OPPOSans B" panose="00020600040101010101" charset="-122"/>
              <a:ea typeface="OPPOSans B" panose="00020600040101010101" charset="-122"/>
              <a:cs typeface="OPPOSans B" panose="00020600040101010101" charset="-122"/>
            </a:endParaRPr>
          </a:p>
          <a:p>
            <a:pPr algn="r"/>
            <a:endParaRPr lang="zh-CN" altLang="en-US" sz="1600" dirty="0">
              <a:solidFill>
                <a:srgbClr val="C00000"/>
              </a:solidFill>
            </a:endParaRPr>
          </a:p>
        </p:txBody>
      </p:sp>
      <p:grpSp>
        <p:nvGrpSpPr>
          <p:cNvPr id="35" name="组合 34"/>
          <p:cNvGrpSpPr/>
          <p:nvPr/>
        </p:nvGrpSpPr>
        <p:grpSpPr>
          <a:xfrm>
            <a:off x="8385830" y="2195385"/>
            <a:ext cx="672237" cy="3202976"/>
            <a:chOff x="8115300" y="2169513"/>
            <a:chExt cx="1018969" cy="3202976"/>
          </a:xfrm>
          <a:solidFill>
            <a:schemeClr val="bg1">
              <a:lumMod val="95000"/>
            </a:schemeClr>
          </a:solidFill>
        </p:grpSpPr>
        <p:sp>
          <p:nvSpPr>
            <p:cNvPr id="31" name="箭头: 圆角右 30"/>
            <p:cNvSpPr/>
            <p:nvPr/>
          </p:nvSpPr>
          <p:spPr>
            <a:xfrm>
              <a:off x="8115300" y="216951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圆角右 32"/>
            <p:cNvSpPr/>
            <p:nvPr/>
          </p:nvSpPr>
          <p:spPr>
            <a:xfrm flipV="1">
              <a:off x="8115300" y="369737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4" name="箭头: 右 33"/>
          <p:cNvSpPr/>
          <p:nvPr/>
        </p:nvSpPr>
        <p:spPr>
          <a:xfrm>
            <a:off x="8539273" y="3635524"/>
            <a:ext cx="518794" cy="322698"/>
          </a:xfrm>
          <a:prstGeom prst="rightArrow">
            <a:avLst>
              <a:gd name="adj1" fmla="val 50000"/>
              <a:gd name="adj2" fmla="val 4235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upload_post_object_v2_1344056992"/>
          <p:cNvPicPr>
            <a:picLocks noChangeAspect="1"/>
          </p:cNvPicPr>
          <p:nvPr/>
        </p:nvPicPr>
        <p:blipFill>
          <a:blip r:embed="rId1"/>
          <a:stretch>
            <a:fillRect/>
          </a:stretch>
        </p:blipFill>
        <p:spPr>
          <a:xfrm>
            <a:off x="6669754" y="3096104"/>
            <a:ext cx="1401542" cy="1401540"/>
          </a:xfrm>
          <a:prstGeom prst="rect">
            <a:avLst/>
          </a:prstGeom>
        </p:spPr>
      </p:pic>
      <p:sp>
        <p:nvSpPr>
          <p:cNvPr id="9" name="文本框 8"/>
          <p:cNvSpPr txBox="1"/>
          <p:nvPr/>
        </p:nvSpPr>
        <p:spPr>
          <a:xfrm>
            <a:off x="6883022" y="4514021"/>
            <a:ext cx="1137313" cy="338554"/>
          </a:xfrm>
          <a:prstGeom prst="rect">
            <a:avLst/>
          </a:prstGeom>
          <a:noFill/>
        </p:spPr>
        <p:txBody>
          <a:bodyPr wrap="square" rtlCol="0">
            <a:spAutoFit/>
          </a:bodyPr>
          <a:lstStyle/>
          <a:p>
            <a:r>
              <a:rPr lang="zh-CN" altLang="en-US" sz="1600" dirty="0">
                <a:solidFill>
                  <a:schemeClr val="bg1">
                    <a:lumMod val="65000"/>
                  </a:schemeClr>
                </a:solidFill>
              </a:rPr>
              <a:t>数字造机</a:t>
            </a:r>
            <a:endParaRPr lang="zh-CN" altLang="en-US" sz="1600" dirty="0">
              <a:solidFill>
                <a:schemeClr val="bg1">
                  <a:lumMod val="65000"/>
                </a:schemeClr>
              </a:solidFill>
            </a:endParaRPr>
          </a:p>
        </p:txBody>
      </p:sp>
      <p:pic>
        <p:nvPicPr>
          <p:cNvPr id="10" name="图片 9" descr="upload_post_object_v2_3496784387"/>
          <p:cNvPicPr>
            <a:picLocks noChangeAspect="1"/>
          </p:cNvPicPr>
          <p:nvPr/>
        </p:nvPicPr>
        <p:blipFill>
          <a:blip r:embed="rId2"/>
          <a:stretch>
            <a:fillRect/>
          </a:stretch>
        </p:blipFill>
        <p:spPr>
          <a:xfrm>
            <a:off x="9252874" y="1877460"/>
            <a:ext cx="2238999" cy="1184221"/>
          </a:xfrm>
          <a:prstGeom prst="rect">
            <a:avLst/>
          </a:prstGeom>
          <a:noFill/>
          <a:ln w="12700" cmpd="sng">
            <a:noFill/>
            <a:prstDash val="solid"/>
            <a:miter lim="800000"/>
            <a:headEnd/>
            <a:tailEnd/>
          </a:ln>
          <a:effectLst>
            <a:outerShdw blurRad="63500" sx="102000" sy="102000" algn="ctr" rotWithShape="0">
              <a:schemeClr val="bg2">
                <a:lumMod val="90000"/>
                <a:alpha val="40000"/>
              </a:schemeClr>
            </a:outerShdw>
          </a:effectLst>
        </p:spPr>
      </p:pic>
      <p:pic>
        <p:nvPicPr>
          <p:cNvPr id="11" name="图片 10" descr="upload_post_object_v2_79578653"/>
          <p:cNvPicPr>
            <a:picLocks noChangeAspect="1"/>
          </p:cNvPicPr>
          <p:nvPr/>
        </p:nvPicPr>
        <p:blipFill>
          <a:blip r:embed="rId3"/>
          <a:stretch>
            <a:fillRect/>
          </a:stretch>
        </p:blipFill>
        <p:spPr>
          <a:xfrm>
            <a:off x="9252874" y="3207731"/>
            <a:ext cx="2238770" cy="1182350"/>
          </a:xfrm>
          <a:prstGeom prst="rect">
            <a:avLst/>
          </a:prstGeom>
          <a:noFill/>
          <a:ln>
            <a:noFill/>
          </a:ln>
          <a:effectLst>
            <a:outerShdw blurRad="63500" sx="102000" sy="102000" algn="ctr" rotWithShape="0">
              <a:schemeClr val="bg2">
                <a:lumMod val="90000"/>
                <a:alpha val="40000"/>
              </a:schemeClr>
            </a:outerShdw>
          </a:effectLst>
        </p:spPr>
      </p:pic>
      <p:pic>
        <p:nvPicPr>
          <p:cNvPr id="12" name="图片 11" descr="upload_post_object_v2_1548837142"/>
          <p:cNvPicPr>
            <a:picLocks noChangeAspect="1"/>
          </p:cNvPicPr>
          <p:nvPr/>
        </p:nvPicPr>
        <p:blipFill>
          <a:blip r:embed="rId4"/>
          <a:stretch>
            <a:fillRect/>
          </a:stretch>
        </p:blipFill>
        <p:spPr>
          <a:xfrm>
            <a:off x="9252874" y="4531966"/>
            <a:ext cx="2238999" cy="1191218"/>
          </a:xfrm>
          <a:prstGeom prst="rect">
            <a:avLst/>
          </a:prstGeom>
          <a:noFill/>
          <a:ln>
            <a:noFill/>
          </a:ln>
          <a:effectLst>
            <a:outerShdw blurRad="63500" sx="102000" sy="102000" algn="ctr" rotWithShape="0">
              <a:schemeClr val="bg2">
                <a:lumMod val="90000"/>
                <a:alpha val="40000"/>
              </a:scheme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28700"/>
            <a:ext cx="11664950" cy="55586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8" name="矩形: 圆顶角 197"/>
          <p:cNvSpPr/>
          <p:nvPr/>
        </p:nvSpPr>
        <p:spPr>
          <a:xfrm>
            <a:off x="6250874" y="3757109"/>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99" name="矩形: 圆顶角 198"/>
          <p:cNvSpPr/>
          <p:nvPr/>
        </p:nvSpPr>
        <p:spPr>
          <a:xfrm flipV="1">
            <a:off x="6250874" y="4037863"/>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200" name="function-model-title"/>
          <p:cNvSpPr>
            <a:spLocks noGrp="1"/>
          </p:cNvSpPr>
          <p:nvPr/>
        </p:nvSpPr>
        <p:spPr>
          <a:xfrm>
            <a:off x="6351918" y="3736632"/>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数据管理与下游供给</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201" name="矩形 200"/>
          <p:cNvSpPr/>
          <p:nvPr/>
        </p:nvSpPr>
        <p:spPr>
          <a:xfrm>
            <a:off x="6374653" y="4129896"/>
            <a:ext cx="2177164" cy="1524000"/>
          </a:xfrm>
          <a:prstGeom prst="rect">
            <a:avLst/>
          </a:prstGeom>
          <a:noFill/>
          <a:ln>
            <a:noFill/>
          </a:ln>
        </p:spPr>
        <p:txBody>
          <a:bodyPr/>
          <a:lstStyle/>
          <a:p>
            <a:pPr>
              <a:lnSpc>
                <a:spcPct val="150000"/>
              </a:lnSpc>
            </a:pPr>
            <a:r>
              <a:rPr lang="zh-CN" altLang="en-US" sz="800" dirty="0">
                <a:solidFill>
                  <a:schemeClr val="tx1">
                    <a:lumMod val="75000"/>
                    <a:lumOff val="25000"/>
                  </a:schemeClr>
                </a:solidFill>
                <a:latin typeface="+mn-ea"/>
                <a:cs typeface="OPPOSans M" panose="00020600040101010101" charset="-122"/>
              </a:rPr>
              <a:t>字段字典、构型模板、参数定义统一维护数据口径，支持枚举字段级联与启禁用。</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已发布型号的参数配置供百川装机、百川轻搭直接拉取。</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数据口径由造机统一维护，下游只读取数。</a:t>
            </a:r>
            <a:endParaRPr lang="zh-CN" altLang="en-US" sz="800" dirty="0">
              <a:solidFill>
                <a:schemeClr val="tx1">
                  <a:lumMod val="75000"/>
                  <a:lumOff val="25000"/>
                </a:schemeClr>
              </a:solidFill>
              <a:latin typeface="+mn-ea"/>
              <a:cs typeface="OPPOSans M" panose="00020600040101010101" charset="-122"/>
            </a:endParaRPr>
          </a:p>
        </p:txBody>
      </p:sp>
      <p:sp>
        <p:nvSpPr>
          <p:cNvPr id="202" name="矩形: 圆顶角 201"/>
          <p:cNvSpPr/>
          <p:nvPr/>
        </p:nvSpPr>
        <p:spPr>
          <a:xfrm>
            <a:off x="483382" y="3740320"/>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4" name="function-model-title"/>
          <p:cNvSpPr>
            <a:spLocks noGrp="1"/>
          </p:cNvSpPr>
          <p:nvPr/>
        </p:nvSpPr>
        <p:spPr>
          <a:xfrm>
            <a:off x="584426" y="3719843"/>
            <a:ext cx="2245179" cy="352424"/>
          </a:xfrm>
          <a:prstGeom prst="rect">
            <a:avLst/>
          </a:prstGeom>
          <a:noFill/>
          <a:ln w="0">
            <a:noFill/>
            <a:prstDash val="solid"/>
          </a:ln>
        </p:spPr>
        <p:txBody>
          <a:bodyPr anchor="ctr"/>
          <a:lstStyle/>
          <a:p>
            <a:r>
              <a:rPr lang="en-US" altLang="zh-CN" sz="1100" dirty="0">
                <a:solidFill>
                  <a:srgbClr val="111827"/>
                </a:solidFill>
                <a:latin typeface="OPPOSans M" panose="00020600040101010101" charset="-122"/>
                <a:ea typeface="OPPOSans M" panose="00020600040101010101" charset="-122"/>
                <a:cs typeface="OPPOSans B" panose="00020600040101010101" charset="-122"/>
              </a:rPr>
              <a:t>3D </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运动学编辑器</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5" name="矩形: 圆顶角 4"/>
          <p:cNvSpPr/>
          <p:nvPr/>
        </p:nvSpPr>
        <p:spPr>
          <a:xfrm flipV="1">
            <a:off x="483382" y="4037863"/>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205" name="矩形 204"/>
          <p:cNvSpPr/>
          <p:nvPr/>
        </p:nvSpPr>
        <p:spPr>
          <a:xfrm>
            <a:off x="612590" y="4129896"/>
            <a:ext cx="2017400" cy="1524000"/>
          </a:xfrm>
          <a:prstGeom prst="rect">
            <a:avLst/>
          </a:prstGeom>
          <a:noFill/>
          <a:ln>
            <a:noFill/>
          </a:ln>
        </p:spPr>
        <p:txBody>
          <a:bodyPr/>
          <a:lstStyle/>
          <a:p>
            <a:pPr>
              <a:lnSpc>
                <a:spcPct val="150000"/>
              </a:lnSpc>
            </a:pPr>
            <a:r>
              <a:rPr lang="zh-CN" altLang="en-US" sz="800" dirty="0">
                <a:solidFill>
                  <a:schemeClr val="tx1">
                    <a:lumMod val="75000"/>
                    <a:lumOff val="25000"/>
                  </a:schemeClr>
                </a:solidFill>
                <a:latin typeface="+mn-ea"/>
                <a:cs typeface="OPPOSans M" panose="00020600040101010101" charset="-122"/>
              </a:rPr>
              <a:t>内嵌开源三维编辑器，结构树、素材库、属性面板齐备。</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支持底盘与整臂多组件吸附对齐拼接整机，几何、限位、质量惯量、电机配置全字段编辑。</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en-US" altLang="zh-CN" sz="800" dirty="0">
                <a:solidFill>
                  <a:schemeClr val="tx1">
                    <a:lumMod val="75000"/>
                    <a:lumOff val="25000"/>
                  </a:schemeClr>
                </a:solidFill>
                <a:latin typeface="+mn-ea"/>
                <a:cs typeface="OPPOSans M" panose="00020600040101010101" charset="-122"/>
              </a:rPr>
              <a:t>URDF </a:t>
            </a:r>
            <a:r>
              <a:rPr lang="zh-CN" altLang="en-US" sz="800" dirty="0">
                <a:solidFill>
                  <a:schemeClr val="tx1">
                    <a:lumMod val="75000"/>
                    <a:lumOff val="25000"/>
                  </a:schemeClr>
                </a:solidFill>
                <a:latin typeface="+mn-ea"/>
                <a:cs typeface="OPPOSans M" panose="00020600040101010101" charset="-122"/>
              </a:rPr>
              <a:t>一键导入导出，三维视图截图可设为组件与型号卡片封面，模型在平台内做完整，无需在外部工具与平台之间来回拷贝文件。</a:t>
            </a:r>
            <a:endParaRPr lang="zh-CN" altLang="en-US" sz="800" dirty="0">
              <a:solidFill>
                <a:schemeClr val="tx1">
                  <a:lumMod val="75000"/>
                  <a:lumOff val="25000"/>
                </a:schemeClr>
              </a:solidFill>
              <a:latin typeface="+mn-ea"/>
              <a:cs typeface="OPPOSans M" panose="00020600040101010101" charset="-122"/>
            </a:endParaRPr>
          </a:p>
        </p:txBody>
      </p:sp>
      <p:sp>
        <p:nvSpPr>
          <p:cNvPr id="195" name="callout-text"/>
          <p:cNvSpPr>
            <a:spLocks noGrp="1"/>
          </p:cNvSpPr>
          <p:nvPr/>
        </p:nvSpPr>
        <p:spPr>
          <a:xfrm>
            <a:off x="263525" y="6021388"/>
            <a:ext cx="11664950" cy="56593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组件库沉淀部件</a:t>
            </a:r>
            <a:r>
              <a:rPr lang="zh-CN"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sym typeface="+mn-ea"/>
              </a:rPr>
              <a:t>型号模板组装整机</a:t>
            </a:r>
            <a:r>
              <a:rPr lang="zh-CN" altLang="zh-CN" sz="900" dirty="0">
                <a:solidFill>
                  <a:schemeClr val="bg1">
                    <a:lumMod val="65000"/>
                  </a:schemeClr>
                </a:solidFill>
                <a:latin typeface="+mn-ea"/>
                <a:cs typeface="OPPOSans M" panose="00020600040101010101" charset="-122"/>
              </a:rPr>
              <a:t>→ </a:t>
            </a:r>
            <a:r>
              <a:rPr lang="en-US" altLang="zh-CN" sz="900" dirty="0">
                <a:solidFill>
                  <a:schemeClr val="bg1">
                    <a:lumMod val="65000"/>
                  </a:schemeClr>
                </a:solidFill>
                <a:latin typeface="+mn-ea"/>
                <a:cs typeface="OPPOSans M" panose="00020600040101010101" charset="-122"/>
                <a:sym typeface="+mn-ea"/>
              </a:rPr>
              <a:t>3D</a:t>
            </a:r>
            <a:r>
              <a:rPr lang="zh-CN" altLang="en-US" sz="900" dirty="0">
                <a:solidFill>
                  <a:schemeClr val="bg1">
                    <a:lumMod val="65000"/>
                  </a:schemeClr>
                </a:solidFill>
                <a:latin typeface="+mn-ea"/>
                <a:cs typeface="OPPOSans M" panose="00020600040101010101" charset="-122"/>
                <a:sym typeface="+mn-ea"/>
              </a:rPr>
              <a:t>编辑器定义运动学</a:t>
            </a:r>
            <a:r>
              <a:rPr lang="zh-CN"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sym typeface="+mn-ea"/>
              </a:rPr>
              <a:t>发布即下游标准数据源</a:t>
            </a:r>
            <a:endParaRPr lang="zh-CN" altLang="en-US" sz="900" b="0" dirty="0">
              <a:solidFill>
                <a:schemeClr val="bg1">
                  <a:lumMod val="65000"/>
                </a:schemeClr>
              </a:solidFill>
              <a:latin typeface="+mn-ea"/>
              <a:cs typeface="OPPOSans M" panose="00020600040101010101" charset="-122"/>
              <a:sym typeface="+mn-ea"/>
            </a:endParaRPr>
          </a:p>
        </p:txBody>
      </p:sp>
      <p:sp>
        <p:nvSpPr>
          <p:cNvPr id="40" name="矩形: 圆顶角 39"/>
          <p:cNvSpPr/>
          <p:nvPr/>
        </p:nvSpPr>
        <p:spPr>
          <a:xfrm>
            <a:off x="6250874" y="1241370"/>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46" name="矩形: 圆顶角 45"/>
          <p:cNvSpPr/>
          <p:nvPr/>
        </p:nvSpPr>
        <p:spPr>
          <a:xfrm flipV="1">
            <a:off x="6250874" y="1522124"/>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42" name="function-model-title"/>
          <p:cNvSpPr>
            <a:spLocks noGrp="1"/>
          </p:cNvSpPr>
          <p:nvPr/>
        </p:nvSpPr>
        <p:spPr>
          <a:xfrm>
            <a:off x="6351918" y="1220893"/>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型号模板 </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 </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整机组装与发布</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43" name="矩形 42"/>
          <p:cNvSpPr/>
          <p:nvPr/>
        </p:nvSpPr>
        <p:spPr>
          <a:xfrm>
            <a:off x="6374654" y="1626671"/>
            <a:ext cx="2222443" cy="1524000"/>
          </a:xfrm>
          <a:prstGeom prst="rect">
            <a:avLst/>
          </a:prstGeom>
          <a:noFill/>
          <a:ln>
            <a:noFill/>
          </a:ln>
        </p:spPr>
        <p:txBody>
          <a:bodyPr/>
          <a:lstStyle/>
          <a:p>
            <a:pPr>
              <a:lnSpc>
                <a:spcPct val="150000"/>
              </a:lnSpc>
            </a:pPr>
            <a:r>
              <a:rPr lang="zh-CN" altLang="en-US" sz="800" dirty="0">
                <a:solidFill>
                  <a:schemeClr val="tx1">
                    <a:lumMod val="75000"/>
                    <a:lumOff val="25000"/>
                  </a:schemeClr>
                </a:solidFill>
                <a:latin typeface="+mn-ea"/>
                <a:cs typeface="OPPOSans M" panose="00020600040101010101" charset="-122"/>
              </a:rPr>
              <a:t>从组件库中选择底盘与整臂组件，按自由度自动过滤选配，三维实时预览装配效果。</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发布后的型号成为下游统一数据源，支持软件版本勾选随型号下发，取消发布可修改、发布即锁定防止误改。</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型号模板让整机定义从「图纸拼装」变为「平台组装」，发布后装机、轻搭、仿真直接取数。</a:t>
            </a:r>
            <a:endParaRPr lang="zh-CN" altLang="en-US" sz="800" dirty="0">
              <a:solidFill>
                <a:schemeClr val="tx1">
                  <a:lumMod val="75000"/>
                  <a:lumOff val="25000"/>
                </a:schemeClr>
              </a:solidFill>
              <a:latin typeface="+mn-ea"/>
              <a:cs typeface="OPPOSans M" panose="00020600040101010101" charset="-122"/>
            </a:endParaRPr>
          </a:p>
        </p:txBody>
      </p:sp>
      <p:sp>
        <p:nvSpPr>
          <p:cNvPr id="31" name="矩形: 圆顶角 30"/>
          <p:cNvSpPr/>
          <p:nvPr/>
        </p:nvSpPr>
        <p:spPr>
          <a:xfrm>
            <a:off x="483382" y="1224581"/>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2" name="矩形: 圆顶角 31"/>
          <p:cNvSpPr/>
          <p:nvPr/>
        </p:nvSpPr>
        <p:spPr>
          <a:xfrm flipV="1">
            <a:off x="483382" y="1522124"/>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33" name="function-model-title"/>
          <p:cNvSpPr>
            <a:spLocks noGrp="1"/>
          </p:cNvSpPr>
          <p:nvPr/>
        </p:nvSpPr>
        <p:spPr>
          <a:xfrm>
            <a:off x="584426" y="1204104"/>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组件库 </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 </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部件资产化</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组件库沉淀部件资产，型号模板拼出整机，</a:t>
            </a:r>
            <a:r>
              <a:rPr lang="en-US" altLang="zh-CN" sz="1400" dirty="0">
                <a:solidFill>
                  <a:schemeClr val="tx1">
                    <a:lumMod val="95000"/>
                    <a:lumOff val="5000"/>
                  </a:schemeClr>
                </a:solidFill>
                <a:latin typeface="OPPOSans M" panose="00020600040101010101" charset="-122"/>
                <a:ea typeface="OPPOSans M" panose="00020600040101010101" charset="-122"/>
              </a:rPr>
              <a:t>3D </a:t>
            </a:r>
            <a:r>
              <a:rPr lang="zh-CN" altLang="en-US" sz="1400" dirty="0">
                <a:solidFill>
                  <a:schemeClr val="tx1">
                    <a:lumMod val="95000"/>
                    <a:lumOff val="5000"/>
                  </a:schemeClr>
                </a:solidFill>
                <a:latin typeface="OPPOSans M" panose="00020600040101010101" charset="-122"/>
                <a:ea typeface="OPPOSans M" panose="00020600040101010101" charset="-122"/>
              </a:rPr>
              <a:t>编辑器定义运动学，数据管理统一口径</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数字造机：从组件到整机的一体化定义四大能力</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24" name="矩形 23"/>
          <p:cNvSpPr/>
          <p:nvPr/>
        </p:nvSpPr>
        <p:spPr>
          <a:xfrm>
            <a:off x="612589" y="1626671"/>
            <a:ext cx="2148028" cy="1744272"/>
          </a:xfrm>
          <a:prstGeom prst="rect">
            <a:avLst/>
          </a:prstGeom>
          <a:noFill/>
          <a:ln>
            <a:noFill/>
          </a:ln>
        </p:spPr>
        <p:txBody>
          <a:bodyPr/>
          <a:lstStyle/>
          <a:p>
            <a:pPr>
              <a:lnSpc>
                <a:spcPct val="150000"/>
              </a:lnSpc>
            </a:pPr>
            <a:r>
              <a:rPr lang="zh-CN" altLang="en-US" sz="800" dirty="0">
                <a:solidFill>
                  <a:schemeClr val="tx1">
                    <a:lumMod val="75000"/>
                    <a:lumOff val="25000"/>
                  </a:schemeClr>
                </a:solidFill>
                <a:latin typeface="+mn-ea"/>
                <a:cs typeface="OPPOSans M" panose="00020600040101010101" charset="-122"/>
              </a:rPr>
              <a:t>将底盘、机械臂模块、整臂、升降机构等部件统一建模入库，形成企业级数字资产。</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支持按内置组件类型筛选与搜索，机械臂模块可拆分为底座、关节、连杆、末端四类规格，通过构型模板快捷拼装成整臂。</a:t>
            </a:r>
            <a:endParaRPr lang="zh-CN" altLang="en-US" sz="800" dirty="0">
              <a:solidFill>
                <a:schemeClr val="tx1">
                  <a:lumMod val="75000"/>
                  <a:lumOff val="25000"/>
                </a:schemeClr>
              </a:solidFill>
              <a:latin typeface="+mn-ea"/>
              <a:cs typeface="OPPOSans M" panose="00020600040101010101" charset="-122"/>
            </a:endParaRPr>
          </a:p>
          <a:p>
            <a:pPr>
              <a:lnSpc>
                <a:spcPct val="150000"/>
              </a:lnSpc>
            </a:pPr>
            <a:r>
              <a:rPr lang="zh-CN" altLang="en-US" sz="800" dirty="0">
                <a:solidFill>
                  <a:schemeClr val="tx1">
                    <a:lumMod val="75000"/>
                    <a:lumOff val="25000"/>
                  </a:schemeClr>
                </a:solidFill>
                <a:latin typeface="+mn-ea"/>
                <a:cs typeface="OPPOSans M" panose="00020600040101010101" charset="-122"/>
              </a:rPr>
              <a:t>参数配置按参数字典统一维护，整臂槽位支持实例化覆盖，已被型号引用的组件自动保护不可删除，确保资产安全可追溯。</a:t>
            </a:r>
            <a:endParaRPr lang="zh-CN" altLang="en-US" sz="800" dirty="0">
              <a:solidFill>
                <a:schemeClr val="tx1">
                  <a:lumMod val="75000"/>
                  <a:lumOff val="25000"/>
                </a:schemeClr>
              </a:solidFill>
              <a:latin typeface="+mn-ea"/>
              <a:cs typeface="OPPOSans M" panose="00020600040101010101" charset="-122"/>
            </a:endParaRPr>
          </a:p>
        </p:txBody>
      </p:sp>
      <p:sp>
        <p:nvSpPr>
          <p:cNvPr id="206" name="文本框 205"/>
          <p:cNvSpPr txBox="1"/>
          <p:nvPr/>
        </p:nvSpPr>
        <p:spPr>
          <a:xfrm>
            <a:off x="5439229" y="1197848"/>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01</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6" name="文本框 5"/>
          <p:cNvSpPr txBox="1"/>
          <p:nvPr/>
        </p:nvSpPr>
        <p:spPr>
          <a:xfrm>
            <a:off x="11206720" y="1197848"/>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02</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8" name="文本框 7"/>
          <p:cNvSpPr txBox="1"/>
          <p:nvPr/>
        </p:nvSpPr>
        <p:spPr>
          <a:xfrm>
            <a:off x="5439229" y="3721493"/>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03</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9" name="文本框 8"/>
          <p:cNvSpPr txBox="1"/>
          <p:nvPr/>
        </p:nvSpPr>
        <p:spPr>
          <a:xfrm>
            <a:off x="11206720" y="3721493"/>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04</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pic>
        <p:nvPicPr>
          <p:cNvPr id="2" name="图片 1" descr="upload_post_object_v2_3511100921"/>
          <p:cNvPicPr>
            <a:picLocks noChangeAspect="1"/>
          </p:cNvPicPr>
          <p:nvPr/>
        </p:nvPicPr>
        <p:blipFill>
          <a:blip r:embed="rId1"/>
          <a:stretch>
            <a:fillRect/>
          </a:stretch>
        </p:blipFill>
        <p:spPr>
          <a:xfrm>
            <a:off x="2812649" y="4197838"/>
            <a:ext cx="2911798" cy="1546265"/>
          </a:xfrm>
          <a:prstGeom prst="rect">
            <a:avLst/>
          </a:prstGeom>
        </p:spPr>
      </p:pic>
      <p:pic>
        <p:nvPicPr>
          <p:cNvPr id="10" name="图片 9" descr="upload_post_object_v2_141959604"/>
          <p:cNvPicPr>
            <a:picLocks noChangeAspect="1"/>
          </p:cNvPicPr>
          <p:nvPr/>
        </p:nvPicPr>
        <p:blipFill>
          <a:blip r:embed="rId2"/>
          <a:stretch>
            <a:fillRect/>
          </a:stretch>
        </p:blipFill>
        <p:spPr>
          <a:xfrm>
            <a:off x="8619821" y="1699903"/>
            <a:ext cx="2911696" cy="1546211"/>
          </a:xfrm>
          <a:prstGeom prst="rect">
            <a:avLst/>
          </a:prstGeom>
        </p:spPr>
      </p:pic>
      <p:pic>
        <p:nvPicPr>
          <p:cNvPr id="11" name="图片 10" descr="upload_post_object_v2_4221249077"/>
          <p:cNvPicPr>
            <a:picLocks noChangeAspect="1"/>
          </p:cNvPicPr>
          <p:nvPr/>
        </p:nvPicPr>
        <p:blipFill>
          <a:blip r:embed="rId3"/>
          <a:stretch>
            <a:fillRect/>
          </a:stretch>
        </p:blipFill>
        <p:spPr>
          <a:xfrm>
            <a:off x="2812699" y="1699865"/>
            <a:ext cx="2911696" cy="1546211"/>
          </a:xfrm>
          <a:prstGeom prst="rect">
            <a:avLst/>
          </a:prstGeom>
        </p:spPr>
      </p:pic>
      <p:pic>
        <p:nvPicPr>
          <p:cNvPr id="12" name="图片 11" descr="upload_post_object_v2_1986486904"/>
          <p:cNvPicPr>
            <a:picLocks noChangeAspect="1"/>
          </p:cNvPicPr>
          <p:nvPr/>
        </p:nvPicPr>
        <p:blipFill>
          <a:blip r:embed="rId4"/>
          <a:stretch>
            <a:fillRect/>
          </a:stretch>
        </p:blipFill>
        <p:spPr>
          <a:xfrm>
            <a:off x="8619821" y="4257052"/>
            <a:ext cx="2911696" cy="15462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1600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pPr lvl="0" algn="l">
              <a:buClrTx/>
              <a:buSzTx/>
              <a:buFontTx/>
              <a:defRPr sz="1500" b="1">
                <a:solidFill>
                  <a:srgbClr val="111827"/>
                </a:solidFill>
              </a:defRPr>
            </a:pPr>
            <a:r>
              <a:rPr lang="zh-CN" altLang="en-US" sz="1100" b="0" dirty="0">
                <a:latin typeface="OPPOSans M" panose="00020600040101010101" charset="-122"/>
                <a:ea typeface="OPPOSans M" panose="00020600040101010101" charset="-122"/>
                <a:cs typeface="OPPOSans B" panose="00020600040101010101" charset="-122"/>
                <a:sym typeface="+mn-ea"/>
              </a:rPr>
              <a:t>组件</a:t>
            </a:r>
            <a:r>
              <a:rPr lang="en-US" altLang="zh-CN" sz="1100" b="0" dirty="0">
                <a:latin typeface="OPPOSans M" panose="00020600040101010101" charset="-122"/>
                <a:ea typeface="OPPOSans M" panose="00020600040101010101" charset="-122"/>
                <a:cs typeface="OPPOSans B" panose="00020600040101010101" charset="-122"/>
                <a:sym typeface="+mn-ea"/>
              </a:rPr>
              <a:t>/</a:t>
            </a:r>
            <a:r>
              <a:rPr lang="zh-CN" altLang="en-US" sz="1100" b="0" dirty="0">
                <a:latin typeface="OPPOSans M" panose="00020600040101010101" charset="-122"/>
                <a:ea typeface="OPPOSans M" panose="00020600040101010101" charset="-122"/>
                <a:cs typeface="OPPOSans B" panose="00020600040101010101" charset="-122"/>
                <a:sym typeface="+mn-ea"/>
              </a:rPr>
              <a:t>型号编辑</a:t>
            </a:r>
            <a:endParaRPr lang="zh-CN" altLang="en-US" sz="1100" b="0" dirty="0">
              <a:solidFill>
                <a:srgbClr val="111827"/>
              </a:solidFill>
              <a:latin typeface="OPPOSans M" panose="00020600040101010101" charset="-122"/>
              <a:ea typeface="OPPOSans M" panose="00020600040101010101" charset="-122"/>
              <a:cs typeface="OPPOSans B" panose="00020600040101010101" charset="-122"/>
              <a:sym typeface="+mn-ea"/>
            </a:endParaRPr>
          </a:p>
        </p:txBody>
      </p:sp>
      <p:sp>
        <p:nvSpPr>
          <p:cNvPr id="32" name="function-model-guidance"/>
          <p:cNvSpPr>
            <a:spLocks noGrp="1"/>
          </p:cNvSpPr>
          <p:nvPr/>
        </p:nvSpPr>
        <p:spPr>
          <a:xfrm>
            <a:off x="6332786" y="4653921"/>
            <a:ext cx="3520277" cy="1022573"/>
          </a:xfrm>
          <a:prstGeom prst="rect">
            <a:avLst/>
          </a:prstGeom>
          <a:noFill/>
          <a:ln w="0">
            <a:noFill/>
            <a:prstDash val="solid"/>
          </a:ln>
        </p:spPr>
        <p:txBody>
          <a:bodyPr anchor="ctr"/>
          <a:lstStyle/>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zh-CN" altLang="en-US" sz="900" dirty="0">
                <a:solidFill>
                  <a:schemeClr val="tx1">
                    <a:lumMod val="75000"/>
                    <a:lumOff val="25000"/>
                  </a:schemeClr>
                </a:solidFill>
                <a:latin typeface="+mn-ea"/>
                <a:cs typeface="OPPOSans M" panose="00020600040101010101" charset="-122"/>
              </a:rPr>
              <a:t>默认参数配置——每个组件都有参数配置，统一在字典管理</a:t>
            </a:r>
            <a:endParaRPr lang="zh-CN" altLang="en-US" sz="900" dirty="0">
              <a:solidFill>
                <a:schemeClr val="tx1">
                  <a:lumMod val="75000"/>
                  <a:lumOff val="25000"/>
                </a:schemeClr>
              </a:solidFill>
              <a:latin typeface="+mn-ea"/>
              <a:cs typeface="OPPOSans M" panose="00020600040101010101" charset="-122"/>
            </a:endParaRPr>
          </a:p>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en-US" altLang="zh-CN" sz="900" dirty="0">
                <a:solidFill>
                  <a:schemeClr val="tx1">
                    <a:lumMod val="75000"/>
                    <a:lumOff val="25000"/>
                  </a:schemeClr>
                </a:solidFill>
                <a:latin typeface="+mn-ea"/>
                <a:cs typeface="OPPOSans M" panose="00020600040101010101" charset="-122"/>
              </a:rPr>
              <a:t>3D</a:t>
            </a:r>
            <a:r>
              <a:rPr lang="zh-CN" altLang="en-US" sz="900" dirty="0">
                <a:solidFill>
                  <a:schemeClr val="tx1">
                    <a:lumMod val="75000"/>
                    <a:lumOff val="25000"/>
                  </a:schemeClr>
                </a:solidFill>
                <a:latin typeface="+mn-ea"/>
                <a:cs typeface="OPPOSans M" panose="00020600040101010101" charset="-122"/>
              </a:rPr>
              <a:t>编辑器——编辑运动学模型</a:t>
            </a:r>
            <a:endParaRPr lang="zh-CN" altLang="en-US" sz="900" dirty="0">
              <a:solidFill>
                <a:schemeClr val="tx1">
                  <a:lumMod val="75000"/>
                  <a:lumOff val="25000"/>
                </a:schemeClr>
              </a:solidFill>
              <a:latin typeface="+mn-ea"/>
              <a:cs typeface="OPPOSans M" panose="00020600040101010101" charset="-122"/>
            </a:endParaRPr>
          </a:p>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zh-CN" altLang="en-US" sz="900" dirty="0">
                <a:solidFill>
                  <a:schemeClr val="tx1">
                    <a:lumMod val="75000"/>
                    <a:lumOff val="25000"/>
                  </a:schemeClr>
                </a:solidFill>
                <a:latin typeface="+mn-ea"/>
                <a:cs typeface="OPPOSans M" panose="00020600040101010101" charset="-122"/>
              </a:rPr>
              <a:t>软件目录配置——定义机器人型号应该安装哪些软件</a:t>
            </a:r>
            <a:endParaRPr lang="zh-CN" altLang="en-US" sz="900" dirty="0">
              <a:solidFill>
                <a:schemeClr val="tx1">
                  <a:lumMod val="75000"/>
                  <a:lumOff val="25000"/>
                </a:schemeClr>
              </a:solidFill>
              <a:latin typeface="+mn-ea"/>
              <a:cs typeface="OPPOSans M" panose="00020600040101010101" charset="-122"/>
            </a:endParaRPr>
          </a:p>
          <a:p>
            <a:pPr marL="171450" indent="-171450" algn="l">
              <a:lnSpc>
                <a:spcPct val="150000"/>
              </a:lnSpc>
              <a:buFont typeface="Arial" panose="020B0604020202020204" pitchFamily="34" charset="0"/>
              <a:buChar char="•"/>
              <a:defRPr sz="900" b="0">
                <a:solidFill>
                  <a:srgbClr val="5E6978"/>
                </a:solidFill>
              </a:defRPr>
            </a:pPr>
            <a:endParaRPr lang="zh-CN" altLang="en-US" sz="1200" dirty="0">
              <a:solidFill>
                <a:schemeClr val="tx1">
                  <a:lumMod val="75000"/>
                  <a:lumOff val="25000"/>
                </a:schemeClr>
              </a:solidFill>
              <a:latin typeface="+mn-ea"/>
              <a:cs typeface="OPPOSans M"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组件资产化，数字化定义机器人型号由哪些组件组成</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数字造机：组件库与型号模板</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pPr lvl="0" algn="l">
              <a:buClrTx/>
              <a:buSzTx/>
              <a:buFontTx/>
              <a:defRPr sz="1500" b="1">
                <a:solidFill>
                  <a:srgbClr val="111827"/>
                </a:solidFill>
              </a:defRPr>
            </a:pPr>
            <a:r>
              <a:rPr lang="zh-CN" altLang="en-US" sz="1100" b="0" dirty="0">
                <a:latin typeface="OPPOSans M" panose="00020600040101010101" charset="-122"/>
                <a:ea typeface="OPPOSans M" panose="00020600040101010101" charset="-122"/>
                <a:cs typeface="OPPOSans B" panose="00020600040101010101" charset="-122"/>
                <a:sym typeface="+mn-ea"/>
              </a:rPr>
              <a:t>组件库/型号模板创建</a:t>
            </a:r>
            <a:endParaRPr lang="zh-CN" altLang="en-US" sz="1100" b="0" dirty="0">
              <a:solidFill>
                <a:srgbClr val="111827"/>
              </a:solidFill>
              <a:latin typeface="OPPOSans M" panose="00020600040101010101" charset="-122"/>
              <a:ea typeface="OPPOSans M" panose="00020600040101010101" charset="-122"/>
              <a:cs typeface="OPPOSans B" panose="00020600040101010101" charset="-122"/>
              <a:sym typeface="+mn-ea"/>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9" name="function-model-guidance"/>
          <p:cNvSpPr>
            <a:spLocks noGrp="1"/>
          </p:cNvSpPr>
          <p:nvPr/>
        </p:nvSpPr>
        <p:spPr>
          <a:xfrm>
            <a:off x="632571" y="4653921"/>
            <a:ext cx="3520277" cy="1022573"/>
          </a:xfrm>
          <a:prstGeom prst="rect">
            <a:avLst/>
          </a:prstGeom>
          <a:noFill/>
          <a:ln w="0">
            <a:noFill/>
            <a:prstDash val="solid"/>
          </a:ln>
        </p:spPr>
        <p:txBody>
          <a:bodyPr anchor="ctr"/>
          <a:lstStyle/>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zh-CN" altLang="en-US" sz="900" dirty="0">
                <a:solidFill>
                  <a:schemeClr val="tx1">
                    <a:lumMod val="75000"/>
                    <a:lumOff val="25000"/>
                  </a:schemeClr>
                </a:solidFill>
                <a:latin typeface="+mn-ea"/>
                <a:cs typeface="OPPOSans M" panose="00020600040101010101" charset="-122"/>
              </a:rPr>
              <a:t>模块化创建组件——定义机械臂最小单元</a:t>
            </a:r>
            <a:endParaRPr lang="zh-CN" altLang="en-US" sz="900" dirty="0">
              <a:solidFill>
                <a:schemeClr val="tx1">
                  <a:lumMod val="75000"/>
                  <a:lumOff val="25000"/>
                </a:schemeClr>
              </a:solidFill>
              <a:latin typeface="+mn-ea"/>
              <a:cs typeface="OPPOSans M" panose="00020600040101010101" charset="-122"/>
            </a:endParaRPr>
          </a:p>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zh-CN" altLang="en-US" sz="900" dirty="0">
                <a:solidFill>
                  <a:schemeClr val="tx1">
                    <a:lumMod val="75000"/>
                    <a:lumOff val="25000"/>
                  </a:schemeClr>
                </a:solidFill>
                <a:latin typeface="+mn-ea"/>
                <a:cs typeface="OPPOSans M" panose="00020600040101010101" charset="-122"/>
              </a:rPr>
              <a:t>通过构型模板创建整臂机械臂——快捷拼装模块化机械臂</a:t>
            </a:r>
            <a:endParaRPr lang="zh-CN" altLang="en-US" sz="900" dirty="0">
              <a:solidFill>
                <a:schemeClr val="tx1">
                  <a:lumMod val="75000"/>
                  <a:lumOff val="25000"/>
                </a:schemeClr>
              </a:solidFill>
              <a:latin typeface="+mn-ea"/>
              <a:cs typeface="OPPOSans M" panose="00020600040101010101" charset="-122"/>
            </a:endParaRPr>
          </a:p>
          <a:p>
            <a:pPr algn="l">
              <a:lnSpc>
                <a:spcPct val="200000"/>
              </a:lnSpc>
              <a:defRPr sz="900" b="0">
                <a:solidFill>
                  <a:srgbClr val="5E6978"/>
                </a:solidFill>
              </a:defRPr>
            </a:pPr>
            <a:r>
              <a:rPr lang="zh-CN" altLang="en-US" sz="900" dirty="0">
                <a:solidFill>
                  <a:srgbClr val="DCDCDC"/>
                </a:solidFill>
                <a:latin typeface="+mn-ea"/>
                <a:cs typeface="OPPOSans M" panose="00020600040101010101" charset="-122"/>
              </a:rPr>
              <a:t>● </a:t>
            </a:r>
            <a:r>
              <a:rPr lang="zh-CN" altLang="en-US" sz="900" dirty="0">
                <a:solidFill>
                  <a:schemeClr val="tx1">
                    <a:lumMod val="75000"/>
                    <a:lumOff val="25000"/>
                  </a:schemeClr>
                </a:solidFill>
                <a:latin typeface="+mn-ea"/>
                <a:cs typeface="OPPOSans M" panose="00020600040101010101" charset="-122"/>
              </a:rPr>
              <a:t>机器人型号搭建——多组件拼装生成型号</a:t>
            </a:r>
            <a:endParaRPr lang="zh-CN" altLang="en-US" sz="900" dirty="0">
              <a:solidFill>
                <a:schemeClr val="tx1">
                  <a:lumMod val="75000"/>
                  <a:lumOff val="25000"/>
                </a:schemeClr>
              </a:solidFill>
              <a:latin typeface="+mn-ea"/>
              <a:cs typeface="OPPOSans M" panose="00020600040101010101" charset="-122"/>
            </a:endParaRPr>
          </a:p>
          <a:p>
            <a:pPr marL="171450" indent="-171450" algn="l">
              <a:lnSpc>
                <a:spcPct val="150000"/>
              </a:lnSpc>
              <a:buFont typeface="Arial" panose="020B0604020202020204" pitchFamily="34" charset="0"/>
              <a:buChar char="•"/>
              <a:defRPr sz="900" b="0">
                <a:solidFill>
                  <a:srgbClr val="5E6978"/>
                </a:solidFill>
              </a:defRPr>
            </a:pPr>
            <a:endParaRPr lang="zh-CN" altLang="en-US" sz="1200" dirty="0">
              <a:solidFill>
                <a:schemeClr val="tx1">
                  <a:lumMod val="75000"/>
                  <a:lumOff val="25000"/>
                </a:schemeClr>
              </a:solidFill>
              <a:latin typeface="+mn-ea"/>
              <a:cs typeface="OPPOSans M" panose="00020600040101010101" charset="-122"/>
            </a:endParaRPr>
          </a:p>
        </p:txBody>
      </p:sp>
      <p:sp>
        <p:nvSpPr>
          <p:cNvPr id="23" name="callout-text"/>
          <p:cNvSpPr>
            <a:spLocks noGrp="1"/>
          </p:cNvSpPr>
          <p:nvPr/>
        </p:nvSpPr>
        <p:spPr>
          <a:xfrm>
            <a:off x="263525" y="6244418"/>
            <a:ext cx="11664950" cy="34290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组件库作为数字资产基本单元，用户可根据实际需求使用组件库拼装出完整的机器人型号</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模块化组件拼成大组件，大组件拼装成完整机器人型号</a:t>
            </a:r>
            <a:endParaRPr lang="zh-CN" altLang="en-US" sz="900" dirty="0">
              <a:solidFill>
                <a:schemeClr val="bg1">
                  <a:lumMod val="65000"/>
                </a:schemeClr>
              </a:solidFill>
              <a:latin typeface="+mn-ea"/>
              <a:cs typeface="OPPOSans M" panose="00020600040101010101" charset="-122"/>
              <a:sym typeface="+mn-ea"/>
            </a:endParaRPr>
          </a:p>
          <a:p>
            <a:pPr lvl="0" algn="ctr">
              <a:buClrTx/>
              <a:buSzTx/>
              <a:buFontTx/>
              <a:defRPr sz="1125" b="1">
                <a:solidFill>
                  <a:srgbClr val="FFFFFF"/>
                </a:solidFill>
              </a:defRPr>
            </a:pPr>
            <a:endParaRPr lang="zh-CN" altLang="en-US" sz="900"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descr="upload_post_object_v2_3496784387"/>
          <p:cNvPicPr>
            <a:picLocks noChangeAspect="1"/>
          </p:cNvPicPr>
          <p:nvPr/>
        </p:nvPicPr>
        <p:blipFill>
          <a:blip r:embed="rId1"/>
          <a:stretch>
            <a:fillRect/>
          </a:stretch>
        </p:blipFill>
        <p:spPr>
          <a:xfrm>
            <a:off x="852159" y="1853785"/>
            <a:ext cx="4802468" cy="2540055"/>
          </a:xfrm>
          <a:prstGeom prst="rect">
            <a:avLst/>
          </a:prstGeom>
          <a:noFill/>
          <a:ln>
            <a:noFill/>
          </a:ln>
          <a:effectLst>
            <a:outerShdw blurRad="63500" sx="102000" sy="102000" algn="ctr" rotWithShape="0">
              <a:schemeClr val="bg2">
                <a:lumMod val="90000"/>
                <a:alpha val="40000"/>
              </a:schemeClr>
            </a:outerShdw>
          </a:effectLst>
        </p:spPr>
      </p:pic>
      <p:pic>
        <p:nvPicPr>
          <p:cNvPr id="4" name="图片 3" descr="upload_post_object_v2_79578653"/>
          <p:cNvPicPr>
            <a:picLocks noChangeAspect="1"/>
          </p:cNvPicPr>
          <p:nvPr/>
        </p:nvPicPr>
        <p:blipFill>
          <a:blip r:embed="rId2"/>
          <a:stretch>
            <a:fillRect/>
          </a:stretch>
        </p:blipFill>
        <p:spPr>
          <a:xfrm>
            <a:off x="6552434" y="1853778"/>
            <a:ext cx="4802468" cy="2536303"/>
          </a:xfrm>
          <a:prstGeom prst="rect">
            <a:avLst/>
          </a:prstGeom>
          <a:noFill/>
          <a:ln>
            <a:noFill/>
          </a:ln>
          <a:effectLst>
            <a:outerShdw blurRad="63500" sx="102000" sy="102000" algn="ctr" rotWithShape="0">
              <a:schemeClr val="bg2">
                <a:lumMod val="90000"/>
                <a:alpha val="40000"/>
              </a:scheme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1600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数据管理</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内嵌开源三维编辑器，多组件拼接整机并导出标准 </a:t>
            </a:r>
            <a:r>
              <a:rPr lang="en-US" altLang="zh-CN" sz="1400" dirty="0">
                <a:solidFill>
                  <a:schemeClr val="tx1">
                    <a:lumMod val="95000"/>
                    <a:lumOff val="5000"/>
                  </a:schemeClr>
                </a:solidFill>
                <a:latin typeface="OPPOSans M" panose="00020600040101010101" charset="-122"/>
                <a:ea typeface="OPPOSans M" panose="00020600040101010101" charset="-122"/>
                <a:sym typeface="+mn-ea"/>
              </a:rPr>
              <a:t>URDF</a:t>
            </a:r>
            <a:r>
              <a:rPr lang="zh-CN" altLang="en-US" sz="1400" dirty="0">
                <a:solidFill>
                  <a:schemeClr val="tx1">
                    <a:lumMod val="95000"/>
                    <a:lumOff val="5000"/>
                  </a:schemeClr>
                </a:solidFill>
                <a:latin typeface="OPPOSans M" panose="00020600040101010101" charset="-122"/>
                <a:ea typeface="OPPOSans M" panose="00020600040101010101" charset="-122"/>
                <a:sym typeface="+mn-ea"/>
              </a:rPr>
              <a:t>；拥有字段字典系统，统一维护字段和参数值</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3D运动学编辑器与数据管理</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en-US" altLang="zh-CN" sz="1100" dirty="0">
                <a:solidFill>
                  <a:srgbClr val="111827"/>
                </a:solidFill>
                <a:latin typeface="OPPOSans M" panose="00020600040101010101" charset="-122"/>
                <a:ea typeface="OPPOSans M" panose="00020600040101010101" charset="-122"/>
                <a:cs typeface="OPPOSans B" panose="00020600040101010101" charset="-122"/>
              </a:rPr>
              <a:t>3D </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运动学编辑器</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244418"/>
            <a:ext cx="11664950" cy="34290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rPr>
              <a:t>数据口径由造机统一维护，下游只读取数据</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数据来源明确，简化下游操作步骤</a:t>
            </a:r>
            <a:endParaRPr lang="zh-CN" altLang="en-US" sz="900" dirty="0">
              <a:solidFill>
                <a:schemeClr val="bg1">
                  <a:lumMod val="65000"/>
                </a:schemeClr>
              </a:solidFill>
              <a:latin typeface="+mn-ea"/>
              <a:cs typeface="OPPOSans M" panose="00020600040101010101" charset="-122"/>
            </a:endParaRPr>
          </a:p>
          <a:p>
            <a:pPr lvl="0" algn="ctr">
              <a:buClrTx/>
              <a:buSzTx/>
              <a:buFontTx/>
              <a:defRPr sz="1125" b="1">
                <a:solidFill>
                  <a:srgbClr val="FFFFFF"/>
                </a:solidFill>
              </a:defRPr>
            </a:pP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6" name="图片 25"/>
          <p:cNvPicPr/>
          <p:nvPr/>
        </p:nvPicPr>
        <p:blipFill>
          <a:blip r:embed="rId1"/>
          <a:stretch>
            <a:fillRect/>
          </a:stretch>
        </p:blipFill>
        <p:spPr>
          <a:xfrm>
            <a:off x="6533482" y="1885374"/>
            <a:ext cx="4866498" cy="2519981"/>
          </a:xfrm>
          <a:prstGeom prst="rect">
            <a:avLst/>
          </a:prstGeom>
          <a:ln>
            <a:noFill/>
          </a:ln>
          <a:effectLst>
            <a:outerShdw blurRad="63500" sx="102000" sy="102000" algn="ctr" rotWithShape="0">
              <a:schemeClr val="bg2">
                <a:lumMod val="90000"/>
                <a:alpha val="40000"/>
              </a:schemeClr>
            </a:outerShdw>
          </a:effectLst>
        </p:spPr>
      </p:pic>
      <p:sp>
        <p:nvSpPr>
          <p:cNvPr id="27" name="矩形 26"/>
          <p:cNvSpPr/>
          <p:nvPr/>
        </p:nvSpPr>
        <p:spPr>
          <a:xfrm>
            <a:off x="655575" y="4595608"/>
            <a:ext cx="4800600" cy="1181943"/>
          </a:xfrm>
          <a:prstGeom prst="rect">
            <a:avLst/>
          </a:prstGeom>
          <a:noFill/>
          <a:ln>
            <a:noFill/>
          </a:ln>
        </p:spPr>
        <p:txBody>
          <a:bodyPr/>
          <a:lstStyle/>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1. </a:t>
            </a:r>
            <a:r>
              <a:rPr lang="zh-CN" altLang="en-US" sz="1000" dirty="0">
                <a:solidFill>
                  <a:schemeClr val="tx1">
                    <a:lumMod val="75000"/>
                    <a:lumOff val="25000"/>
                  </a:schemeClr>
                </a:solidFill>
                <a:latin typeface="+mn-ea"/>
                <a:cs typeface="OPPOSans M" panose="00020600040101010101" charset="-122"/>
              </a:rPr>
              <a:t>结构树编辑</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可视化方式描述运动学 </a:t>
            </a:r>
            <a:r>
              <a:rPr lang="en-US" altLang="zh-CN" sz="1000" dirty="0">
                <a:solidFill>
                  <a:schemeClr val="tx1">
                    <a:lumMod val="75000"/>
                    <a:lumOff val="25000"/>
                  </a:schemeClr>
                </a:solidFill>
                <a:latin typeface="+mn-ea"/>
                <a:cs typeface="OPPOSans M" panose="00020600040101010101" charset="-122"/>
              </a:rPr>
              <a:t>URDF </a:t>
            </a:r>
            <a:r>
              <a:rPr lang="zh-CN" altLang="en-US" sz="1000" dirty="0">
                <a:solidFill>
                  <a:schemeClr val="tx1">
                    <a:lumMod val="75000"/>
                    <a:lumOff val="25000"/>
                  </a:schemeClr>
                </a:solidFill>
                <a:latin typeface="+mn-ea"/>
                <a:cs typeface="OPPOSans M" panose="00020600040101010101" charset="-122"/>
              </a:rPr>
              <a:t>文件结构</a:t>
            </a:r>
            <a:endParaRPr lang="zh-CN" altLang="en-US" sz="1000" dirty="0">
              <a:solidFill>
                <a:schemeClr val="tx1">
                  <a:lumMod val="75000"/>
                  <a:lumOff val="25000"/>
                </a:schemeClr>
              </a:solidFill>
              <a:latin typeface="+mn-ea"/>
              <a:cs typeface="OPPOSans M" panose="00020600040101010101" charset="-122"/>
            </a:endParaRPr>
          </a:p>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2. </a:t>
            </a:r>
            <a:r>
              <a:rPr lang="zh-CN" altLang="en-US" sz="1000" dirty="0">
                <a:solidFill>
                  <a:schemeClr val="tx1">
                    <a:lumMod val="75000"/>
                    <a:lumOff val="25000"/>
                  </a:schemeClr>
                </a:solidFill>
                <a:latin typeface="+mn-ea"/>
                <a:cs typeface="OPPOSans M" panose="00020600040101010101" charset="-122"/>
              </a:rPr>
              <a:t>多组件拼接</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可直接引用已有组件库进行相互拼装</a:t>
            </a:r>
            <a:endParaRPr lang="zh-CN" altLang="en-US" sz="1000" dirty="0">
              <a:solidFill>
                <a:schemeClr val="tx1">
                  <a:lumMod val="75000"/>
                  <a:lumOff val="25000"/>
                </a:schemeClr>
              </a:solidFill>
              <a:latin typeface="+mn-ea"/>
              <a:cs typeface="OPPOSans M" panose="00020600040101010101" charset="-122"/>
            </a:endParaRPr>
          </a:p>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3.  URDF </a:t>
            </a:r>
            <a:r>
              <a:rPr lang="zh-CN" altLang="en-US" sz="1000" dirty="0">
                <a:solidFill>
                  <a:schemeClr val="tx1">
                    <a:lumMod val="75000"/>
                    <a:lumOff val="25000"/>
                  </a:schemeClr>
                </a:solidFill>
                <a:latin typeface="+mn-ea"/>
                <a:cs typeface="OPPOSans M" panose="00020600040101010101" charset="-122"/>
              </a:rPr>
              <a:t>导入导出</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一键导入导出标准 </a:t>
            </a:r>
            <a:r>
              <a:rPr lang="en-US" altLang="zh-CN" sz="1000" dirty="0">
                <a:solidFill>
                  <a:schemeClr val="tx1">
                    <a:lumMod val="75000"/>
                    <a:lumOff val="25000"/>
                  </a:schemeClr>
                </a:solidFill>
                <a:latin typeface="+mn-ea"/>
                <a:cs typeface="OPPOSans M" panose="00020600040101010101" charset="-122"/>
              </a:rPr>
              <a:t>URDF </a:t>
            </a:r>
            <a:r>
              <a:rPr lang="zh-CN" altLang="en-US" sz="1000" dirty="0">
                <a:solidFill>
                  <a:schemeClr val="tx1">
                    <a:lumMod val="75000"/>
                    <a:lumOff val="25000"/>
                  </a:schemeClr>
                </a:solidFill>
                <a:latin typeface="+mn-ea"/>
                <a:cs typeface="OPPOSans M" panose="00020600040101010101" charset="-122"/>
              </a:rPr>
              <a:t>文件</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355531" y="4595608"/>
            <a:ext cx="4800600" cy="1123630"/>
          </a:xfrm>
          <a:prstGeom prst="rect">
            <a:avLst/>
          </a:prstGeom>
          <a:noFill/>
          <a:ln>
            <a:noFill/>
          </a:ln>
        </p:spPr>
        <p:txBody>
          <a:bodyPr/>
          <a:lstStyle/>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1. </a:t>
            </a:r>
            <a:r>
              <a:rPr lang="zh-CN" altLang="en-US" sz="1000" dirty="0">
                <a:solidFill>
                  <a:schemeClr val="tx1">
                    <a:lumMod val="75000"/>
                    <a:lumOff val="25000"/>
                  </a:schemeClr>
                </a:solidFill>
                <a:latin typeface="+mn-ea"/>
                <a:cs typeface="OPPOSans M" panose="00020600040101010101" charset="-122"/>
              </a:rPr>
              <a:t>字段字典</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定义组件或型号的类型等字段</a:t>
            </a:r>
            <a:endParaRPr lang="zh-CN" altLang="en-US" sz="1000" dirty="0">
              <a:solidFill>
                <a:schemeClr val="tx1">
                  <a:lumMod val="75000"/>
                  <a:lumOff val="25000"/>
                </a:schemeClr>
              </a:solidFill>
              <a:latin typeface="+mn-ea"/>
              <a:cs typeface="OPPOSans M" panose="00020600040101010101" charset="-122"/>
            </a:endParaRPr>
          </a:p>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2. </a:t>
            </a:r>
            <a:r>
              <a:rPr lang="zh-CN" altLang="en-US" sz="1000" dirty="0">
                <a:solidFill>
                  <a:schemeClr val="tx1">
                    <a:lumMod val="75000"/>
                    <a:lumOff val="25000"/>
                  </a:schemeClr>
                </a:solidFill>
                <a:latin typeface="+mn-ea"/>
                <a:cs typeface="OPPOSans M" panose="00020600040101010101" charset="-122"/>
              </a:rPr>
              <a:t>构型模板</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定义机械臂的自由度和规格组成</a:t>
            </a:r>
            <a:endParaRPr lang="zh-CN" altLang="en-US" sz="1000" dirty="0">
              <a:solidFill>
                <a:schemeClr val="tx1">
                  <a:lumMod val="75000"/>
                  <a:lumOff val="25000"/>
                </a:schemeClr>
              </a:solidFill>
              <a:latin typeface="+mn-ea"/>
              <a:cs typeface="OPPOSans M" panose="00020600040101010101" charset="-122"/>
            </a:endParaRPr>
          </a:p>
          <a:p>
            <a:pPr>
              <a:lnSpc>
                <a:spcPct val="200000"/>
              </a:lnSpc>
              <a:defRPr sz="900" b="0">
                <a:solidFill>
                  <a:srgbClr val="5E6978"/>
                </a:solidFill>
              </a:defRPr>
            </a:pPr>
            <a:r>
              <a:rPr lang="en-US" altLang="zh-CN" sz="1000" dirty="0">
                <a:solidFill>
                  <a:schemeClr val="tx1">
                    <a:lumMod val="75000"/>
                    <a:lumOff val="25000"/>
                  </a:schemeClr>
                </a:solidFill>
                <a:latin typeface="+mn-ea"/>
                <a:cs typeface="OPPOSans M" panose="00020600040101010101" charset="-122"/>
              </a:rPr>
              <a:t>3. </a:t>
            </a:r>
            <a:r>
              <a:rPr lang="zh-CN" altLang="en-US" sz="1000" dirty="0">
                <a:solidFill>
                  <a:schemeClr val="tx1">
                    <a:lumMod val="75000"/>
                    <a:lumOff val="25000"/>
                  </a:schemeClr>
                </a:solidFill>
                <a:latin typeface="+mn-ea"/>
                <a:cs typeface="OPPOSans M" panose="00020600040101010101" charset="-122"/>
              </a:rPr>
              <a:t>参数定义</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定义每种组件自带的参数模板和默认值</a:t>
            </a:r>
            <a:endParaRPr lang="zh-CN" altLang="en-US" sz="1000" dirty="0">
              <a:solidFill>
                <a:schemeClr val="tx1">
                  <a:lumMod val="75000"/>
                  <a:lumOff val="25000"/>
                </a:schemeClr>
              </a:solidFill>
              <a:latin typeface="+mn-ea"/>
              <a:cs typeface="OPPOSans M" panose="00020600040101010101" charset="-122"/>
            </a:endParaRPr>
          </a:p>
        </p:txBody>
      </p:sp>
      <p:pic>
        <p:nvPicPr>
          <p:cNvPr id="2" name="图片 1" descr="upload_post_object_v2_1548837142"/>
          <p:cNvPicPr>
            <a:picLocks noChangeAspect="1"/>
          </p:cNvPicPr>
          <p:nvPr/>
        </p:nvPicPr>
        <p:blipFill>
          <a:blip r:embed="rId2"/>
          <a:stretch>
            <a:fillRect/>
          </a:stretch>
        </p:blipFill>
        <p:spPr>
          <a:xfrm>
            <a:off x="853106" y="1851308"/>
            <a:ext cx="4800575" cy="2554056"/>
          </a:xfrm>
          <a:prstGeom prst="rect">
            <a:avLst/>
          </a:prstGeom>
          <a:noFill/>
          <a:ln>
            <a:noFill/>
          </a:ln>
          <a:effectLst>
            <a:outerShdw blurRad="63500" sx="102000" sy="102000" algn="ctr" rotWithShape="0">
              <a:schemeClr val="bg2">
                <a:lumMod val="90000"/>
                <a:alpha val="40000"/>
              </a:scheme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11150600" y="215900"/>
          <a:chExt cx="419100" cy="419100"/>
        </a:xfrm>
      </p:grpSpPr>
      <p:sp>
        <p:nvSpPr>
          <p:cNvPr id="6" name="矩形: 圆角 5"/>
          <p:cNvSpPr/>
          <p:nvPr/>
        </p:nvSpPr>
        <p:spPr>
          <a:xfrm>
            <a:off x="263207" y="1016000"/>
            <a:ext cx="11664950" cy="5581650"/>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顶角 22"/>
          <p:cNvSpPr/>
          <p:nvPr/>
        </p:nvSpPr>
        <p:spPr>
          <a:xfrm flipV="1">
            <a:off x="6387612" y="1572361"/>
            <a:ext cx="5346105" cy="4449025"/>
          </a:xfrm>
          <a:prstGeom prst="round2SameRect">
            <a:avLst>
              <a:gd name="adj1" fmla="val 3948"/>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673" name="矩形 672"/>
          <p:cNvSpPr/>
          <p:nvPr/>
        </p:nvSpPr>
        <p:spPr>
          <a:xfrm>
            <a:off x="555137" y="2521863"/>
            <a:ext cx="2073763" cy="406400"/>
          </a:xfrm>
          <a:prstGeom prst="rect">
            <a:avLst/>
          </a:prstGeom>
          <a:noFill/>
          <a:ln>
            <a:noFill/>
          </a:ln>
        </p:spPr>
        <p:txBody>
          <a:bodyPr/>
          <a:lstStyle/>
          <a:p>
            <a:pPr marL="0" indent="0" algn="l" defTabSz="0" rtl="0" eaLnBrk="1" latinLnBrk="0" hangingPunct="1">
              <a:spcBef>
                <a:spcPct val="0"/>
              </a:spcBef>
              <a:spcAft>
                <a:spcPct val="0"/>
              </a:spcAft>
              <a:buNone/>
            </a:pPr>
            <a:r>
              <a:rPr lang="zh-CN" altLang="en-US" sz="1400" dirty="0">
                <a:solidFill>
                  <a:srgbClr val="111827"/>
                </a:solidFill>
                <a:latin typeface="OPPOSans B" panose="00020600040101010101" charset="-122"/>
                <a:ea typeface="OPPOSans B" panose="00020600040101010101" charset="-122"/>
                <a:cs typeface="OPPOSans B" panose="00020600040101010101" charset="-122"/>
              </a:rPr>
              <a:t>从出厂激活到日常升级</a:t>
            </a:r>
            <a:endParaRPr lang="zh-CN" altLang="en-US"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2" name="矩形: 圆顶角 21"/>
          <p:cNvSpPr/>
          <p:nvPr/>
        </p:nvSpPr>
        <p:spPr>
          <a:xfrm>
            <a:off x="6387610" y="1219937"/>
            <a:ext cx="5346107" cy="342987"/>
          </a:xfrm>
          <a:prstGeom prst="round2SameRect">
            <a:avLst>
              <a:gd name="adj1" fmla="val 42035"/>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74" name="矩形 673"/>
          <p:cNvSpPr/>
          <p:nvPr/>
        </p:nvSpPr>
        <p:spPr>
          <a:xfrm>
            <a:off x="576909" y="3030233"/>
            <a:ext cx="5181634" cy="2362531"/>
          </a:xfrm>
          <a:prstGeom prst="rect">
            <a:avLst/>
          </a:prstGeom>
          <a:noFill/>
          <a:ln w="0">
            <a:noFill/>
            <a:prstDash val="solid"/>
          </a:ln>
        </p:spPr>
        <p:txBody>
          <a:bodyPr wrap="square" anchor="ctr"/>
          <a:lstStyle/>
          <a:p>
            <a:pPr defTabSz="0">
              <a:lnSpc>
                <a:spcPct val="170000"/>
              </a:lnSpc>
              <a:spcBef>
                <a:spcPct val="0"/>
              </a:spcBef>
              <a:spcAft>
                <a:spcPct val="0"/>
              </a:spcAft>
            </a:pPr>
            <a:r>
              <a:rPr lang="zh-CN" altLang="en-US" sz="1000" dirty="0">
                <a:solidFill>
                  <a:schemeClr val="tx1">
                    <a:lumMod val="75000"/>
                    <a:lumOff val="25000"/>
                  </a:schemeClr>
                </a:solidFill>
                <a:latin typeface="+mn-ea"/>
                <a:cs typeface="OPPOSans M" panose="00020600040101010101" charset="-122"/>
              </a:rPr>
              <a:t>百川装机是部署在机器人控制器上的本地管理软件，作为数字造机的消费端，负责将已发布的型号模板和软件版本配置落地到真机。
出厂时，组装线工人通过 OOBE 首次引导完成网络配置、型号选择和软件批量安装，三步即可完成机器人激活；日常升级，工程师通过版本管理功能随时刷新软件清单、安装新版本、回退到历史版本或卸载不需要的软件包，操作记录全程可追溯。</a:t>
            </a:r>
            <a:endParaRPr lang="zh-CN" altLang="en-US" sz="1000" dirty="0">
              <a:solidFill>
                <a:schemeClr val="tx1">
                  <a:lumMod val="75000"/>
                  <a:lumOff val="25000"/>
                </a:schemeClr>
              </a:solidFill>
              <a:latin typeface="+mn-ea"/>
              <a:cs typeface="OPPOSans M" panose="00020600040101010101" charset="-122"/>
            </a:endParaRPr>
          </a:p>
          <a:p>
            <a:pPr marL="0" indent="0" algn="l" defTabSz="0" rtl="0" eaLnBrk="1" latinLnBrk="0" hangingPunct="1">
              <a:lnSpc>
                <a:spcPct val="170000"/>
              </a:lnSpc>
              <a:spcBef>
                <a:spcPct val="0"/>
              </a:spcBef>
              <a:spcAft>
                <a:spcPct val="0"/>
              </a:spcAft>
              <a:buNone/>
            </a:pPr>
            <a:r>
              <a:rPr lang="zh-CN" altLang="en-US" sz="1200" dirty="0">
                <a:solidFill>
                  <a:srgbClr val="5E6978"/>
                </a:solidFill>
                <a:latin typeface="OPPOSans M" panose="00020600040101010101" charset="-122"/>
                <a:ea typeface="OPPOSans M" panose="00020600040101010101" charset="-122"/>
                <a:cs typeface="OPPOSans M" panose="00020600040101010101" charset="-122"/>
              </a:rPr>
              <a:t>
</a:t>
            </a:r>
            <a:endParaRPr lang="zh-CN" altLang="en-US" sz="1200" dirty="0">
              <a:solidFill>
                <a:srgbClr val="5E6978"/>
              </a:solidFill>
              <a:latin typeface="OPPOSans M" panose="00020600040101010101" charset="-122"/>
              <a:ea typeface="OPPOSans M" panose="00020600040101010101" charset="-122"/>
              <a:cs typeface="OPPOSans M" panose="00020600040101010101" charset="-122"/>
            </a:endParaRPr>
          </a:p>
        </p:txBody>
      </p:sp>
      <p:grpSp>
        <p:nvGrpSpPr>
          <p:cNvPr id="24" name="组合 23"/>
          <p:cNvGrpSpPr/>
          <p:nvPr/>
        </p:nvGrpSpPr>
        <p:grpSpPr>
          <a:xfrm>
            <a:off x="11106948" y="1339178"/>
            <a:ext cx="476057" cy="113943"/>
            <a:chOff x="5298623" y="1396154"/>
            <a:chExt cx="507580" cy="121488"/>
          </a:xfrm>
        </p:grpSpPr>
        <p:sp>
          <p:nvSpPr>
            <p:cNvPr id="25" name="椭圆 24"/>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5" name="矩形 674"/>
          <p:cNvSpPr/>
          <p:nvPr/>
        </p:nvSpPr>
        <p:spPr>
          <a:xfrm>
            <a:off x="263525" y="6217914"/>
            <a:ext cx="11664950" cy="342900"/>
          </a:xfrm>
          <a:prstGeom prst="rect">
            <a:avLst/>
          </a:prstGeom>
          <a:noFill/>
          <a:ln>
            <a:noFill/>
          </a:ln>
        </p:spPr>
        <p:txBody>
          <a:bodyPr/>
          <a:lstStyle/>
          <a:p>
            <a:pPr algn="ctr"/>
            <a:r>
              <a:rPr lang="zh-CN" altLang="en-US" sz="900" dirty="0">
                <a:solidFill>
                  <a:schemeClr val="bg1">
                    <a:lumMod val="65000"/>
                  </a:schemeClr>
                </a:solidFill>
                <a:latin typeface="+mn-ea"/>
                <a:cs typeface="OPPOSans M" panose="00020600040101010101" charset="-122"/>
              </a:rPr>
              <a:t>从「出厂」到「日常运维」</a:t>
            </a:r>
            <a:r>
              <a:rPr lang="en-US" altLang="zh-CN" sz="900" dirty="0">
                <a:solidFill>
                  <a:schemeClr val="bg1">
                    <a:lumMod val="65000"/>
                  </a:schemeClr>
                </a:solidFill>
                <a:latin typeface="+mn-ea"/>
                <a:cs typeface="OPPOSans M" panose="00020600040101010101" charset="-122"/>
              </a:rPr>
              <a:t>—— </a:t>
            </a:r>
            <a:r>
              <a:rPr lang="zh-CN" altLang="en-US" sz="900" dirty="0">
                <a:solidFill>
                  <a:schemeClr val="bg1">
                    <a:lumMod val="65000"/>
                  </a:schemeClr>
                </a:solidFill>
                <a:latin typeface="+mn-ea"/>
                <a:cs typeface="OPPOSans M" panose="00020600040101010101" charset="-122"/>
              </a:rPr>
              <a:t>出厂安装与日常版本管理的统一入口</a:t>
            </a:r>
            <a:endParaRPr lang="zh-CN" altLang="en-US" sz="900" dirty="0">
              <a:solidFill>
                <a:schemeClr val="bg1">
                  <a:lumMod val="65000"/>
                </a:schemeClr>
              </a:solidFill>
              <a:latin typeface="+mn-ea"/>
              <a:cs typeface="OPPOSans M" panose="00020600040101010101" charset="-122"/>
            </a:endParaRPr>
          </a:p>
        </p:txBody>
      </p:sp>
      <p:sp>
        <p:nvSpPr>
          <p:cNvPr id="7" name="文本框 6"/>
          <p:cNvSpPr txBox="1"/>
          <p:nvPr/>
        </p:nvSpPr>
        <p:spPr>
          <a:xfrm>
            <a:off x="511720" y="1237465"/>
            <a:ext cx="1619703" cy="554479"/>
          </a:xfrm>
          <a:prstGeom prst="rect">
            <a:avLst/>
          </a:prstGeom>
        </p:spPr>
        <p:txBody>
          <a:bodyPr wrap="none" rtlCol="0">
            <a:noAutofit/>
          </a:bodyPr>
          <a:lstStyle/>
          <a:p>
            <a:pPr algn="ctr"/>
            <a:r>
              <a:rPr lang="zh-CN" altLang="en-US" sz="2800" dirty="0">
                <a:latin typeface="OPPOSans B" panose="00020600040101010101" charset="-122"/>
                <a:ea typeface="OPPOSans B" panose="00020600040101010101" charset="-122"/>
                <a:cs typeface="OPPOSans B" panose="00020600040101010101" charset="-122"/>
              </a:rPr>
              <a:t>百川装机</a:t>
            </a:r>
            <a:endParaRPr lang="zh-CN" altLang="en-US" sz="2800" dirty="0">
              <a:latin typeface="OPPOSans B" panose="00020600040101010101" charset="-122"/>
              <a:ea typeface="OPPOSans B" panose="00020600040101010101" charset="-122"/>
              <a:cs typeface="OPPOSans B" panose="00020600040101010101" charset="-122"/>
            </a:endParaRPr>
          </a:p>
        </p:txBody>
      </p:sp>
      <p:sp>
        <p:nvSpPr>
          <p:cNvPr id="8" name="subtitle"/>
          <p:cNvSpPr>
            <a:spLocks noGrp="1"/>
          </p:cNvSpPr>
          <p:nvPr/>
        </p:nvSpPr>
        <p:spPr>
          <a:xfrm>
            <a:off x="-635" y="474221"/>
            <a:ext cx="12192635" cy="554479"/>
          </a:xfrm>
          <a:prstGeom prst="rect">
            <a:avLst/>
          </a:prstGeom>
          <a:noFill/>
          <a:ln w="0">
            <a:noFill/>
            <a:prstDash val="solid"/>
          </a:ln>
        </p:spPr>
        <p:txBody>
          <a:bodyPr anchor="ctr"/>
          <a:lstStyle/>
          <a:p>
            <a:pPr algn="ctr"/>
            <a:r>
              <a:rPr lang="zh-CN" altLang="en-US" sz="1400" dirty="0">
                <a:solidFill>
                  <a:schemeClr val="tx1">
                    <a:lumMod val="95000"/>
                    <a:lumOff val="5000"/>
                  </a:schemeClr>
                </a:solidFill>
                <a:latin typeface="OPPOSans M" panose="00020600040101010101" charset="-122"/>
                <a:ea typeface="OPPOSans M" panose="00020600040101010101" charset="-122"/>
              </a:rPr>
              <a:t>运行在机器人控制器上的软件安装与版本管理平台，把数字造机定义的型号和软件清单落实到真机</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4" name="文本框 13"/>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百川装机</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将数字造机定义的原始数据输送到控制器</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0" name="文本框 19"/>
          <p:cNvSpPr txBox="1"/>
          <p:nvPr/>
        </p:nvSpPr>
        <p:spPr>
          <a:xfrm>
            <a:off x="3219994" y="1237465"/>
            <a:ext cx="2727235" cy="769441"/>
          </a:xfrm>
          <a:prstGeom prst="rect">
            <a:avLst/>
          </a:prstGeom>
          <a:noFill/>
        </p:spPr>
        <p:txBody>
          <a:bodyPr wrap="square" rtlCol="0">
            <a:spAutoFit/>
          </a:bodyPr>
          <a:lstStyle/>
          <a:p>
            <a:pPr indent="0" algn="r">
              <a:spcBef>
                <a:spcPct val="0"/>
              </a:spcBef>
              <a:spcAft>
                <a:spcPct val="0"/>
              </a:spcAft>
              <a:buNone/>
            </a:pPr>
            <a:r>
              <a:rPr lang="en-US" altLang="zh-CN" sz="1400" dirty="0">
                <a:solidFill>
                  <a:srgbClr val="C00000"/>
                </a:solidFill>
                <a:latin typeface="OPPOSans B" panose="00020600040101010101" charset="-122"/>
                <a:ea typeface="OPPOSans B" panose="00020600040101010101" charset="-122"/>
                <a:cs typeface="OPPOSans B" panose="00020600040101010101" charset="-122"/>
              </a:rPr>
              <a:t>BAICHUAN INSTALL · INITIAL SETUP</a:t>
            </a:r>
            <a:endParaRPr lang="en-US" altLang="zh-CN" sz="1400" dirty="0">
              <a:solidFill>
                <a:srgbClr val="C00000"/>
              </a:solidFill>
              <a:latin typeface="OPPOSans B" panose="00020600040101010101" charset="-122"/>
              <a:ea typeface="OPPOSans B" panose="00020600040101010101" charset="-122"/>
              <a:cs typeface="OPPOSans B" panose="00020600040101010101" charset="-122"/>
            </a:endParaRPr>
          </a:p>
          <a:p>
            <a:pPr algn="r"/>
            <a:endParaRPr lang="zh-CN" altLang="en-US" sz="1600" dirty="0">
              <a:solidFill>
                <a:srgbClr val="C00000"/>
              </a:solidFill>
            </a:endParaRPr>
          </a:p>
        </p:txBody>
      </p:sp>
      <p:grpSp>
        <p:nvGrpSpPr>
          <p:cNvPr id="35" name="组合 34"/>
          <p:cNvGrpSpPr/>
          <p:nvPr/>
        </p:nvGrpSpPr>
        <p:grpSpPr>
          <a:xfrm>
            <a:off x="8385830" y="2195385"/>
            <a:ext cx="672237" cy="3202976"/>
            <a:chOff x="8115300" y="2169513"/>
            <a:chExt cx="1018969" cy="3202976"/>
          </a:xfrm>
          <a:solidFill>
            <a:schemeClr val="bg1">
              <a:lumMod val="95000"/>
            </a:schemeClr>
          </a:solidFill>
        </p:grpSpPr>
        <p:sp>
          <p:nvSpPr>
            <p:cNvPr id="31" name="箭头: 圆角右 30"/>
            <p:cNvSpPr/>
            <p:nvPr/>
          </p:nvSpPr>
          <p:spPr>
            <a:xfrm>
              <a:off x="8115300" y="216951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圆角右 32"/>
            <p:cNvSpPr/>
            <p:nvPr/>
          </p:nvSpPr>
          <p:spPr>
            <a:xfrm flipV="1">
              <a:off x="8115300" y="369737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4" name="箭头: 右 33"/>
          <p:cNvSpPr/>
          <p:nvPr/>
        </p:nvSpPr>
        <p:spPr>
          <a:xfrm>
            <a:off x="8539273" y="3635524"/>
            <a:ext cx="518794" cy="322698"/>
          </a:xfrm>
          <a:prstGeom prst="rightArrow">
            <a:avLst>
              <a:gd name="adj1" fmla="val 50000"/>
              <a:gd name="adj2" fmla="val 4235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upload_post_object_v2_1272784936"/>
          <p:cNvPicPr>
            <a:picLocks noChangeAspect="1"/>
          </p:cNvPicPr>
          <p:nvPr/>
        </p:nvPicPr>
        <p:blipFill>
          <a:blip r:embed="rId1"/>
          <a:stretch>
            <a:fillRect/>
          </a:stretch>
        </p:blipFill>
        <p:spPr>
          <a:xfrm>
            <a:off x="6704491" y="3128762"/>
            <a:ext cx="1375347" cy="1341399"/>
          </a:xfrm>
          <a:prstGeom prst="rect">
            <a:avLst/>
          </a:prstGeom>
        </p:spPr>
      </p:pic>
      <p:pic>
        <p:nvPicPr>
          <p:cNvPr id="15" name="图片 14" descr="upload_post_object_v2_2513800398"/>
          <p:cNvPicPr>
            <a:picLocks noChangeAspect="1"/>
          </p:cNvPicPr>
          <p:nvPr/>
        </p:nvPicPr>
        <p:blipFill>
          <a:blip r:embed="rId2"/>
          <a:stretch>
            <a:fillRect/>
          </a:stretch>
        </p:blipFill>
        <p:spPr>
          <a:xfrm>
            <a:off x="9252823" y="4535599"/>
            <a:ext cx="2239088" cy="1259486"/>
          </a:xfrm>
          <a:prstGeom prst="rect">
            <a:avLst/>
          </a:prstGeom>
        </p:spPr>
      </p:pic>
      <p:pic>
        <p:nvPicPr>
          <p:cNvPr id="16" name="图片 15" descr="upload_post_object_v2_3955273449"/>
          <p:cNvPicPr>
            <a:picLocks noChangeAspect="1"/>
          </p:cNvPicPr>
          <p:nvPr/>
        </p:nvPicPr>
        <p:blipFill>
          <a:blip r:embed="rId3"/>
          <a:stretch>
            <a:fillRect/>
          </a:stretch>
        </p:blipFill>
        <p:spPr>
          <a:xfrm>
            <a:off x="9252823" y="3167129"/>
            <a:ext cx="2239087" cy="1249229"/>
          </a:xfrm>
          <a:prstGeom prst="rect">
            <a:avLst/>
          </a:prstGeom>
        </p:spPr>
      </p:pic>
      <p:pic>
        <p:nvPicPr>
          <p:cNvPr id="17" name="图片 16" descr="upload_post_object_v2_2920997866"/>
          <p:cNvPicPr>
            <a:picLocks noChangeAspect="1"/>
          </p:cNvPicPr>
          <p:nvPr/>
        </p:nvPicPr>
        <p:blipFill>
          <a:blip r:embed="rId4"/>
          <a:stretch>
            <a:fillRect/>
          </a:stretch>
        </p:blipFill>
        <p:spPr>
          <a:xfrm>
            <a:off x="9252823" y="1798662"/>
            <a:ext cx="2239087" cy="1269440"/>
          </a:xfrm>
          <a:prstGeom prst="rect">
            <a:avLst/>
          </a:prstGeom>
        </p:spPr>
      </p:pic>
      <p:sp>
        <p:nvSpPr>
          <p:cNvPr id="2" name="文本框 1"/>
          <p:cNvSpPr txBox="1"/>
          <p:nvPr/>
        </p:nvSpPr>
        <p:spPr>
          <a:xfrm>
            <a:off x="6883022" y="4514021"/>
            <a:ext cx="1137313" cy="338554"/>
          </a:xfrm>
          <a:prstGeom prst="rect">
            <a:avLst/>
          </a:prstGeom>
          <a:noFill/>
        </p:spPr>
        <p:txBody>
          <a:bodyPr wrap="square" rtlCol="0">
            <a:spAutoFit/>
          </a:bodyPr>
          <a:lstStyle/>
          <a:p>
            <a:r>
              <a:rPr lang="zh-CN" altLang="en-US" sz="1600" dirty="0">
                <a:solidFill>
                  <a:schemeClr val="bg1">
                    <a:lumMod val="65000"/>
                  </a:schemeClr>
                </a:solidFill>
              </a:rPr>
              <a:t>百川装机</a:t>
            </a:r>
            <a:endParaRPr lang="zh-CN" altLang="en-US" sz="1600" dirty="0">
              <a:solidFill>
                <a:schemeClr val="bg1">
                  <a:lumMod val="6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1600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indent="0" algn="ctr" fontAlgn="auto">
              <a:lnSpc>
                <a:spcPct val="120000"/>
              </a:lnSpc>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装机流程：网络配置 → 选择型号 → 软件安装清单，按数字造机已发布数据一键装机</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首次引导</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三步完成机器人出厂激活</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244418"/>
            <a:ext cx="11664950" cy="342900"/>
          </a:xfrm>
          <a:prstGeom prst="rect">
            <a:avLst/>
          </a:prstGeom>
          <a:noFill/>
          <a:ln w="0">
            <a:noFill/>
            <a:prstDash val="solid"/>
          </a:ln>
        </p:spPr>
        <p:txBody>
          <a:bodyPr anchor="ctr">
            <a:noAutofit/>
          </a:bodyPr>
          <a:lstStyle/>
          <a:p>
            <a:pPr algn="ctr"/>
            <a:r>
              <a:rPr lang="zh-CN" altLang="en-US" sz="1100" dirty="0">
                <a:solidFill>
                  <a:schemeClr val="bg1">
                    <a:lumMod val="65000"/>
                  </a:schemeClr>
                </a:solidFill>
                <a:latin typeface="+mn-ea"/>
                <a:cs typeface="OPPOSans M" panose="00020600040101010101" charset="-122"/>
              </a:rPr>
              <a:t>出厂不用逐包手动安装</a:t>
            </a:r>
            <a:r>
              <a:rPr lang="en-US" altLang="zh-CN" sz="1100" dirty="0">
                <a:solidFill>
                  <a:schemeClr val="bg1">
                    <a:lumMod val="65000"/>
                  </a:schemeClr>
                </a:solidFill>
                <a:latin typeface="+mn-ea"/>
                <a:cs typeface="OPPOSans M" panose="00020600040101010101" charset="-122"/>
              </a:rPr>
              <a:t>——</a:t>
            </a:r>
            <a:r>
              <a:rPr lang="zh-CN" altLang="en-US" sz="1100" dirty="0">
                <a:solidFill>
                  <a:schemeClr val="bg1">
                    <a:lumMod val="65000"/>
                  </a:schemeClr>
                </a:solidFill>
                <a:latin typeface="+mn-ea"/>
                <a:cs typeface="OPPOSans M" panose="00020600040101010101" charset="-122"/>
              </a:rPr>
              <a:t>选型号、勾清单、点确认，一步安装到位</a:t>
            </a:r>
            <a:endParaRPr lang="zh-CN" altLang="en-US" sz="1100" dirty="0">
              <a:solidFill>
                <a:schemeClr val="bg1">
                  <a:lumMod val="65000"/>
                </a:schemeClr>
              </a:solidFill>
              <a:latin typeface="+mn-ea"/>
              <a:cs typeface="OPPOSans M" panose="00020600040101010101" charset="-122"/>
            </a:endParaRPr>
          </a:p>
          <a:p>
            <a:pPr lvl="0" algn="ctr">
              <a:buClrTx/>
              <a:buSzTx/>
              <a:buFontTx/>
              <a:defRPr sz="1125" b="1">
                <a:solidFill>
                  <a:srgbClr val="FFFFFF"/>
                </a:solidFill>
              </a:defRPr>
            </a:pPr>
            <a:endParaRPr lang="zh-CN" altLang="en-US" b="0" dirty="0">
              <a:solidFill>
                <a:schemeClr val="bg1">
                  <a:lumMod val="65000"/>
                </a:schemeClr>
              </a:solidFill>
              <a:latin typeface="+mn-ea"/>
              <a:cs typeface="OPPOSans M" panose="00020600040101010101" charset="-122"/>
              <a:sym typeface="+mn-ea"/>
            </a:endParaRPr>
          </a:p>
        </p:txBody>
      </p:sp>
      <p:sp>
        <p:nvSpPr>
          <p:cNvPr id="6" name="右箭头 16"/>
          <p:cNvSpPr>
            <a:spLocks noChangeAspect="1"/>
          </p:cNvSpPr>
          <p:nvPr/>
        </p:nvSpPr>
        <p:spPr>
          <a:xfrm>
            <a:off x="4059856" y="3590694"/>
            <a:ext cx="241633" cy="241679"/>
          </a:xfrm>
          <a:prstGeom prst="rightArrow">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322" name="矩形: 圆顶角 321"/>
          <p:cNvSpPr/>
          <p:nvPr/>
        </p:nvSpPr>
        <p:spPr>
          <a:xfrm>
            <a:off x="512847"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23" name="矩形: 圆顶角 322"/>
          <p:cNvSpPr/>
          <p:nvPr/>
        </p:nvSpPr>
        <p:spPr>
          <a:xfrm flipV="1">
            <a:off x="512847" y="1611258"/>
            <a:ext cx="3496264" cy="4416497"/>
          </a:xfrm>
          <a:prstGeom prst="round2SameRect">
            <a:avLst>
              <a:gd name="adj1" fmla="val 394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324" name="组合 323"/>
          <p:cNvGrpSpPr/>
          <p:nvPr/>
        </p:nvGrpSpPr>
        <p:grpSpPr>
          <a:xfrm>
            <a:off x="3382343" y="1382631"/>
            <a:ext cx="476057" cy="113943"/>
            <a:chOff x="5298623" y="1396154"/>
            <a:chExt cx="507580" cy="121488"/>
          </a:xfrm>
        </p:grpSpPr>
        <p:sp>
          <p:nvSpPr>
            <p:cNvPr id="325" name="椭圆 324"/>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6" name="椭圆 325"/>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7" name="椭圆 326"/>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0" name="矩形 319"/>
          <p:cNvSpPr/>
          <p:nvPr>
            <p:custDataLst>
              <p:tags r:id="rId1"/>
            </p:custDataLst>
          </p:nvPr>
        </p:nvSpPr>
        <p:spPr>
          <a:xfrm>
            <a:off x="635847" y="4232144"/>
            <a:ext cx="3006620" cy="304165"/>
          </a:xfrm>
          <a:prstGeom prst="rect">
            <a:avLst/>
          </a:prstGeom>
          <a:noFill/>
          <a:ln>
            <a:noFill/>
          </a:ln>
        </p:spPr>
        <p:txBody>
          <a:bodyPr/>
          <a:lstStyle/>
          <a:p>
            <a:r>
              <a:rPr lang="en-US" altLang="zh-CN" sz="1400" dirty="0">
                <a:solidFill>
                  <a:srgbClr val="BF1920"/>
                </a:solidFill>
                <a:latin typeface="+mj-lt"/>
                <a:ea typeface="OPPOSans M" panose="00020600040101010101" charset="-122"/>
                <a:cs typeface="OPPOSans B" panose="00020600040101010101" charset="-122"/>
              </a:rPr>
              <a:t>1 </a:t>
            </a:r>
            <a:r>
              <a:rPr lang="zh-CN" altLang="en-US" sz="1200" dirty="0">
                <a:solidFill>
                  <a:srgbClr val="111827"/>
                </a:solidFill>
                <a:latin typeface="OPPOSans M" panose="00020600040101010101" charset="-122"/>
                <a:ea typeface="OPPOSans M" panose="00020600040101010101" charset="-122"/>
                <a:cs typeface="OPPOSans B" panose="00020600040101010101" charset="-122"/>
              </a:rPr>
              <a:t>网络配置</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321" name="矩形 320"/>
          <p:cNvSpPr/>
          <p:nvPr>
            <p:custDataLst>
              <p:tags r:id="rId2"/>
            </p:custDataLst>
          </p:nvPr>
        </p:nvSpPr>
        <p:spPr>
          <a:xfrm>
            <a:off x="635847" y="4524416"/>
            <a:ext cx="3239787" cy="762000"/>
          </a:xfrm>
          <a:prstGeom prst="rect">
            <a:avLst/>
          </a:prstGeom>
          <a:noFill/>
          <a:ln>
            <a:noFill/>
          </a:ln>
        </p:spPr>
        <p:txBody>
          <a:bodyPr/>
          <a:lstStyle/>
          <a:p>
            <a:pPr indent="0" fontAlgn="auto">
              <a:lnSpc>
                <a:spcPct val="150000"/>
              </a:lnSpc>
            </a:pPr>
            <a:r>
              <a:rPr lang="zh-CN" altLang="en-US" sz="900" dirty="0">
                <a:solidFill>
                  <a:schemeClr val="tx1">
                    <a:lumMod val="75000"/>
                    <a:lumOff val="25000"/>
                  </a:schemeClr>
                </a:solidFill>
                <a:latin typeface="+mn-ea"/>
                <a:cs typeface="OPPOSans M" panose="00020600040101010101" charset="-122"/>
              </a:rPr>
              <a:t>配置外网 </a:t>
            </a:r>
            <a:r>
              <a:rPr lang="en-US" altLang="zh-CN" sz="900" dirty="0">
                <a:solidFill>
                  <a:schemeClr val="tx1">
                    <a:lumMod val="75000"/>
                    <a:lumOff val="25000"/>
                  </a:schemeClr>
                </a:solidFill>
                <a:latin typeface="+mn-ea"/>
                <a:cs typeface="OPPOSans M" panose="00020600040101010101" charset="-122"/>
              </a:rPr>
              <a:t>IP</a:t>
            </a:r>
            <a:r>
              <a:rPr lang="zh-CN" altLang="en-US" sz="900" dirty="0">
                <a:solidFill>
                  <a:schemeClr val="tx1">
                    <a:lumMod val="75000"/>
                    <a:lumOff val="25000"/>
                  </a:schemeClr>
                </a:solidFill>
                <a:latin typeface="+mn-ea"/>
                <a:cs typeface="OPPOSans M" panose="00020600040101010101" charset="-122"/>
              </a:rPr>
              <a:t>、子网掩码、网关和数字造机服务器地址，自动校验连通性，确保控制器能正常访问平台</a:t>
            </a:r>
            <a:endParaRPr lang="zh-CN" altLang="en-US" sz="900" dirty="0">
              <a:solidFill>
                <a:schemeClr val="tx1">
                  <a:lumMod val="75000"/>
                  <a:lumOff val="25000"/>
                </a:schemeClr>
              </a:solidFill>
              <a:latin typeface="+mn-ea"/>
              <a:cs typeface="OPPOSans M" panose="00020600040101010101" charset="-122"/>
            </a:endParaRPr>
          </a:p>
        </p:txBody>
      </p:sp>
      <p:sp>
        <p:nvSpPr>
          <p:cNvPr id="333" name="矩形: 圆顶角 332"/>
          <p:cNvSpPr/>
          <p:nvPr/>
        </p:nvSpPr>
        <p:spPr>
          <a:xfrm>
            <a:off x="4347867"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34" name="矩形: 圆顶角 333"/>
          <p:cNvSpPr/>
          <p:nvPr/>
        </p:nvSpPr>
        <p:spPr>
          <a:xfrm flipV="1">
            <a:off x="4347867" y="1611258"/>
            <a:ext cx="3496264" cy="4416497"/>
          </a:xfrm>
          <a:prstGeom prst="round2SameRect">
            <a:avLst>
              <a:gd name="adj1" fmla="val 394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335" name="组合 334"/>
          <p:cNvGrpSpPr/>
          <p:nvPr/>
        </p:nvGrpSpPr>
        <p:grpSpPr>
          <a:xfrm>
            <a:off x="7217363" y="1382631"/>
            <a:ext cx="476057" cy="113943"/>
            <a:chOff x="5298623" y="1396154"/>
            <a:chExt cx="507580" cy="121488"/>
          </a:xfrm>
        </p:grpSpPr>
        <p:sp>
          <p:nvSpPr>
            <p:cNvPr id="336" name="椭圆 335"/>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椭圆 336"/>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椭圆 337"/>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1" name="矩形 330"/>
          <p:cNvSpPr/>
          <p:nvPr>
            <p:custDataLst>
              <p:tags r:id="rId3"/>
            </p:custDataLst>
          </p:nvPr>
        </p:nvSpPr>
        <p:spPr>
          <a:xfrm>
            <a:off x="4470867" y="4232144"/>
            <a:ext cx="3006620" cy="304165"/>
          </a:xfrm>
          <a:prstGeom prst="rect">
            <a:avLst/>
          </a:prstGeom>
          <a:noFill/>
          <a:ln>
            <a:noFill/>
          </a:ln>
        </p:spPr>
        <p:txBody>
          <a:bodyPr/>
          <a:lstStyle/>
          <a:p>
            <a:r>
              <a:rPr lang="en-US" altLang="zh-CN" sz="1400" dirty="0">
                <a:solidFill>
                  <a:srgbClr val="BF1920"/>
                </a:solidFill>
                <a:latin typeface="+mj-lt"/>
                <a:ea typeface="OPPOSans M" panose="00020600040101010101" charset="-122"/>
                <a:cs typeface="OPPOSans B" panose="00020600040101010101" charset="-122"/>
              </a:rPr>
              <a:t>2 </a:t>
            </a:r>
            <a:r>
              <a:rPr lang="zh-CN" altLang="en-US" sz="1200" dirty="0">
                <a:solidFill>
                  <a:srgbClr val="111827"/>
                </a:solidFill>
                <a:latin typeface="OPPOSans M" panose="00020600040101010101" charset="-122"/>
                <a:ea typeface="OPPOSans M" panose="00020600040101010101" charset="-122"/>
                <a:cs typeface="OPPOSans B" panose="00020600040101010101" charset="-122"/>
              </a:rPr>
              <a:t>选择型号</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332" name="矩形 331"/>
          <p:cNvSpPr/>
          <p:nvPr>
            <p:custDataLst>
              <p:tags r:id="rId4"/>
            </p:custDataLst>
          </p:nvPr>
        </p:nvSpPr>
        <p:spPr>
          <a:xfrm>
            <a:off x="4470867" y="4524416"/>
            <a:ext cx="3239787" cy="762000"/>
          </a:xfrm>
          <a:prstGeom prst="rect">
            <a:avLst/>
          </a:prstGeom>
          <a:noFill/>
          <a:ln>
            <a:noFill/>
          </a:ln>
        </p:spPr>
        <p:txBody>
          <a:bodyPr/>
          <a:lstStyle/>
          <a:p>
            <a:pPr algn="l">
              <a:lnSpc>
                <a:spcPct val="150000"/>
              </a:lnSpc>
              <a:buClrTx/>
              <a:buSzTx/>
              <a:buFontTx/>
            </a:pPr>
            <a:r>
              <a:rPr lang="zh-CN" altLang="en-US" sz="900" dirty="0">
                <a:solidFill>
                  <a:schemeClr val="tx1">
                    <a:lumMod val="75000"/>
                    <a:lumOff val="25000"/>
                  </a:schemeClr>
                </a:solidFill>
                <a:latin typeface="+mn-ea"/>
                <a:cs typeface="OPPOSans M" panose="00020600040101010101" charset="-122"/>
              </a:rPr>
              <a:t>从数字造机拉取已发布的机器人型号列表，选择与本机硬件一致的型号，系统自动记住选择供后续使用</a:t>
            </a:r>
            <a:endParaRPr lang="zh-CN" altLang="en-US" sz="900" dirty="0">
              <a:solidFill>
                <a:schemeClr val="tx1">
                  <a:lumMod val="75000"/>
                  <a:lumOff val="25000"/>
                </a:schemeClr>
              </a:solidFill>
              <a:latin typeface="+mn-ea"/>
              <a:cs typeface="OPPOSans M" panose="00020600040101010101" charset="-122"/>
            </a:endParaRPr>
          </a:p>
        </p:txBody>
      </p:sp>
      <p:sp>
        <p:nvSpPr>
          <p:cNvPr id="344" name="矩形: 圆顶角 343"/>
          <p:cNvSpPr/>
          <p:nvPr/>
        </p:nvSpPr>
        <p:spPr>
          <a:xfrm>
            <a:off x="8163551"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45" name="矩形: 圆顶角 344"/>
          <p:cNvSpPr/>
          <p:nvPr/>
        </p:nvSpPr>
        <p:spPr>
          <a:xfrm flipV="1">
            <a:off x="8163551" y="1611258"/>
            <a:ext cx="3496264" cy="4416497"/>
          </a:xfrm>
          <a:prstGeom prst="round2SameRect">
            <a:avLst>
              <a:gd name="adj1" fmla="val 394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grpSp>
        <p:nvGrpSpPr>
          <p:cNvPr id="346" name="组合 345"/>
          <p:cNvGrpSpPr/>
          <p:nvPr/>
        </p:nvGrpSpPr>
        <p:grpSpPr>
          <a:xfrm>
            <a:off x="11033047" y="1382631"/>
            <a:ext cx="476057" cy="113943"/>
            <a:chOff x="5298623" y="1396154"/>
            <a:chExt cx="507580" cy="121488"/>
          </a:xfrm>
        </p:grpSpPr>
        <p:sp>
          <p:nvSpPr>
            <p:cNvPr id="347" name="椭圆 346"/>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8" name="椭圆 347"/>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9" name="椭圆 348"/>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2" name="矩形 341"/>
          <p:cNvSpPr/>
          <p:nvPr>
            <p:custDataLst>
              <p:tags r:id="rId5"/>
            </p:custDataLst>
          </p:nvPr>
        </p:nvSpPr>
        <p:spPr>
          <a:xfrm>
            <a:off x="8305888" y="4232144"/>
            <a:ext cx="3006620" cy="304165"/>
          </a:xfrm>
          <a:prstGeom prst="rect">
            <a:avLst/>
          </a:prstGeom>
          <a:noFill/>
          <a:ln>
            <a:noFill/>
          </a:ln>
        </p:spPr>
        <p:txBody>
          <a:bodyPr/>
          <a:lstStyle/>
          <a:p>
            <a:r>
              <a:rPr lang="en-US" altLang="zh-CN" sz="1400" dirty="0">
                <a:solidFill>
                  <a:srgbClr val="BF1920"/>
                </a:solidFill>
                <a:latin typeface="+mj-lt"/>
                <a:ea typeface="OPPOSans M" panose="00020600040101010101" charset="-122"/>
                <a:cs typeface="OPPOSans B" panose="00020600040101010101" charset="-122"/>
              </a:rPr>
              <a:t>3 </a:t>
            </a:r>
            <a:r>
              <a:rPr lang="zh-CN" altLang="en-US" sz="1200" dirty="0">
                <a:solidFill>
                  <a:srgbClr val="111827"/>
                </a:solidFill>
                <a:latin typeface="OPPOSans M" panose="00020600040101010101" charset="-122"/>
                <a:ea typeface="OPPOSans M" panose="00020600040101010101" charset="-122"/>
                <a:cs typeface="OPPOSans B" panose="00020600040101010101" charset="-122"/>
              </a:rPr>
              <a:t>软件安装清单</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a:p>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343" name="矩形 342"/>
          <p:cNvSpPr/>
          <p:nvPr>
            <p:custDataLst>
              <p:tags r:id="rId6"/>
            </p:custDataLst>
          </p:nvPr>
        </p:nvSpPr>
        <p:spPr>
          <a:xfrm>
            <a:off x="8305888" y="4524416"/>
            <a:ext cx="3239787" cy="762000"/>
          </a:xfrm>
          <a:prstGeom prst="rect">
            <a:avLst/>
          </a:prstGeom>
          <a:noFill/>
          <a:ln>
            <a:noFill/>
          </a:ln>
        </p:spPr>
        <p:txBody>
          <a:bodyPr/>
          <a:lstStyle/>
          <a:p>
            <a:pPr indent="0" fontAlgn="auto">
              <a:lnSpc>
                <a:spcPct val="150000"/>
              </a:lnSpc>
            </a:pPr>
            <a:r>
              <a:rPr lang="zh-CN" altLang="en-US" sz="900" dirty="0">
                <a:solidFill>
                  <a:schemeClr val="tx1">
                    <a:lumMod val="75000"/>
                    <a:lumOff val="25000"/>
                  </a:schemeClr>
                </a:solidFill>
                <a:latin typeface="+mn-ea"/>
                <a:cs typeface="OPPOSans M" panose="00020600040101010101" charset="-122"/>
              </a:rPr>
              <a:t>按所选型号自动生成软件安装清单，默认选择最高版本，支持勾选和版本切换，确认后并行批量安装</a:t>
            </a:r>
            <a:endParaRPr lang="zh-CN" altLang="en-US" sz="900" dirty="0">
              <a:solidFill>
                <a:schemeClr val="tx1">
                  <a:lumMod val="75000"/>
                  <a:lumOff val="25000"/>
                </a:schemeClr>
              </a:solidFill>
              <a:latin typeface="+mn-ea"/>
              <a:cs typeface="OPPOSans M" panose="00020600040101010101" charset="-122"/>
            </a:endParaRPr>
          </a:p>
        </p:txBody>
      </p:sp>
      <p:sp>
        <p:nvSpPr>
          <p:cNvPr id="351" name="右箭头 16"/>
          <p:cNvSpPr>
            <a:spLocks noChangeAspect="1"/>
          </p:cNvSpPr>
          <p:nvPr/>
        </p:nvSpPr>
        <p:spPr>
          <a:xfrm>
            <a:off x="7895256" y="3590694"/>
            <a:ext cx="241633" cy="241679"/>
          </a:xfrm>
          <a:prstGeom prst="rightArrow">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pic>
        <p:nvPicPr>
          <p:cNvPr id="355" name="图片 1"/>
          <p:cNvPicPr/>
          <p:nvPr>
            <p:custDataLst>
              <p:tags r:id="rId7"/>
            </p:custDataLst>
          </p:nvPr>
        </p:nvPicPr>
        <p:blipFill>
          <a:blip r:embed="rId8"/>
          <a:stretch>
            <a:fillRect/>
          </a:stretch>
        </p:blipFill>
        <p:spPr>
          <a:xfrm>
            <a:off x="4470869" y="1746278"/>
            <a:ext cx="3239788" cy="2125136"/>
          </a:xfrm>
          <a:prstGeom prst="rect">
            <a:avLst/>
          </a:prstGeom>
          <a:ln>
            <a:noFill/>
          </a:ln>
          <a:effectLst/>
        </p:spPr>
      </p:pic>
      <p:pic>
        <p:nvPicPr>
          <p:cNvPr id="356" name="图片 2"/>
          <p:cNvPicPr/>
          <p:nvPr>
            <p:custDataLst>
              <p:tags r:id="rId9"/>
            </p:custDataLst>
          </p:nvPr>
        </p:nvPicPr>
        <p:blipFill>
          <a:blip r:embed="rId10"/>
          <a:stretch>
            <a:fillRect/>
          </a:stretch>
        </p:blipFill>
        <p:spPr>
          <a:xfrm>
            <a:off x="8305890" y="1746278"/>
            <a:ext cx="3239788" cy="2125136"/>
          </a:xfrm>
          <a:prstGeom prst="rect">
            <a:avLst/>
          </a:prstGeom>
          <a:ln>
            <a:noFill/>
          </a:ln>
          <a:effectLst/>
        </p:spPr>
      </p:pic>
      <p:pic>
        <p:nvPicPr>
          <p:cNvPr id="3" name="图片 3"/>
          <p:cNvPicPr/>
          <p:nvPr/>
        </p:nvPicPr>
        <p:blipFill>
          <a:blip r:embed="rId11"/>
          <a:stretch>
            <a:fillRect/>
          </a:stretch>
        </p:blipFill>
        <p:spPr>
          <a:xfrm>
            <a:off x="635849" y="1746278"/>
            <a:ext cx="3239788" cy="21251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软件包详情与操作</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日常升级随时刷新、安装、切换版本、回退或卸载，操作记录全程可追溯</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版本管理</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安装、回退、卸载一站式</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安装包列表</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38657"/>
            <a:ext cx="11664950" cy="548661"/>
          </a:xfrm>
          <a:prstGeom prst="rect">
            <a:avLst/>
          </a:prstGeom>
          <a:noFill/>
          <a:ln w="0">
            <a:noFill/>
            <a:prstDash val="solid"/>
          </a:ln>
        </p:spPr>
        <p:txBody>
          <a:bodyPr anchor="ctr">
            <a:noAutofit/>
          </a:bodyPr>
          <a:lstStyle/>
          <a:p>
            <a:pPr algn="ctr"/>
            <a:r>
              <a:rPr lang="zh-CN" altLang="en-US" sz="1100" dirty="0">
                <a:solidFill>
                  <a:schemeClr val="bg1">
                    <a:lumMod val="65000"/>
                  </a:schemeClr>
                </a:solidFill>
                <a:latin typeface="+mn-ea"/>
                <a:cs typeface="OPPOSans M" panose="00020600040101010101" charset="-122"/>
                <a:sym typeface="+mn-ea"/>
              </a:rPr>
              <a:t>联网时一键同步数字造机最新配置，断网时</a:t>
            </a:r>
            <a:r>
              <a:rPr lang="en-US" altLang="zh-CN" sz="1100" dirty="0">
                <a:solidFill>
                  <a:schemeClr val="bg1">
                    <a:lumMod val="65000"/>
                  </a:schemeClr>
                </a:solidFill>
                <a:latin typeface="+mn-ea"/>
                <a:cs typeface="OPPOSans M" panose="00020600040101010101" charset="-122"/>
                <a:sym typeface="+mn-ea"/>
              </a:rPr>
              <a:t>U</a:t>
            </a:r>
            <a:r>
              <a:rPr lang="zh-CN" altLang="en-US" sz="1100" dirty="0">
                <a:solidFill>
                  <a:schemeClr val="bg1">
                    <a:lumMod val="65000"/>
                  </a:schemeClr>
                </a:solidFill>
                <a:latin typeface="+mn-ea"/>
                <a:cs typeface="OPPOSans M" panose="00020600040101010101" charset="-122"/>
                <a:sym typeface="+mn-ea"/>
              </a:rPr>
              <a:t>盘离线手动安装</a:t>
            </a:r>
            <a:r>
              <a:rPr lang="en-US" altLang="zh-CN" sz="1100" dirty="0">
                <a:solidFill>
                  <a:schemeClr val="bg1">
                    <a:lumMod val="65000"/>
                  </a:schemeClr>
                </a:solidFill>
                <a:latin typeface="+mn-ea"/>
                <a:cs typeface="OPPOSans M" panose="00020600040101010101" charset="-122"/>
              </a:rPr>
              <a:t>——</a:t>
            </a:r>
            <a:r>
              <a:rPr lang="zh-CN" altLang="en-US" sz="1100" dirty="0">
                <a:solidFill>
                  <a:schemeClr val="bg1">
                    <a:lumMod val="65000"/>
                  </a:schemeClr>
                </a:solidFill>
                <a:latin typeface="+mn-ea"/>
                <a:cs typeface="OPPOSans M" panose="00020600040101010101" charset="-122"/>
                <a:sym typeface="+mn-ea"/>
              </a:rPr>
              <a:t>现场永远有路可走</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853137" y="4986937"/>
            <a:ext cx="4771259" cy="895247"/>
          </a:xfrm>
          <a:prstGeom prst="rect">
            <a:avLst/>
          </a:prstGeom>
          <a:noFill/>
          <a:ln>
            <a:noFill/>
          </a:ln>
        </p:spPr>
        <p:txBody>
          <a:bodyPr/>
          <a:lstStyle/>
          <a:p>
            <a:pPr>
              <a:lnSpc>
                <a:spcPct val="150000"/>
              </a:lnSpc>
            </a:pPr>
            <a:r>
              <a:rPr lang="zh-CN" altLang="en-US" sz="1000" dirty="0">
                <a:solidFill>
                  <a:schemeClr val="tx1">
                    <a:lumMod val="75000"/>
                    <a:lumOff val="25000"/>
                  </a:schemeClr>
                </a:solidFill>
                <a:latin typeface="+mn-ea"/>
                <a:cs typeface="OPPOSans M" panose="00020600040101010101" charset="-122"/>
              </a:rPr>
              <a:t>按子产品分组展示当前型号的软件类型，已装</a:t>
            </a:r>
            <a:r>
              <a:rPr lang="en-US" altLang="zh-CN" sz="1000" dirty="0">
                <a:solidFill>
                  <a:schemeClr val="tx1">
                    <a:lumMod val="75000"/>
                    <a:lumOff val="25000"/>
                  </a:schemeClr>
                </a:solidFill>
                <a:latin typeface="+mn-ea"/>
                <a:cs typeface="OPPOSans M" panose="00020600040101010101" charset="-122"/>
              </a:rPr>
              <a:t>/</a:t>
            </a:r>
            <a:r>
              <a:rPr lang="zh-CN" altLang="en-US" sz="1000" dirty="0">
                <a:solidFill>
                  <a:schemeClr val="tx1">
                    <a:lumMod val="75000"/>
                    <a:lumOff val="25000"/>
                  </a:schemeClr>
                </a:solidFill>
                <a:latin typeface="+mn-ea"/>
                <a:cs typeface="OPPOSans M" panose="00020600040101010101" charset="-122"/>
              </a:rPr>
              <a:t>未装状态一目了然，支持按包名搜索。联网时可一键刷新，从数字造机拉取最新软件配置和版本列表</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553351" y="5018951"/>
            <a:ext cx="4857600" cy="804919"/>
          </a:xfrm>
          <a:prstGeom prst="rect">
            <a:avLst/>
          </a:prstGeom>
          <a:noFill/>
          <a:ln>
            <a:noFill/>
          </a:ln>
        </p:spPr>
        <p:txBody>
          <a:bodyPr/>
          <a:lstStyle/>
          <a:p>
            <a:pPr>
              <a:lnSpc>
                <a:spcPct val="150000"/>
              </a:lnSpc>
            </a:pPr>
            <a:r>
              <a:rPr lang="zh-CN" altLang="en-US" sz="1000" dirty="0">
                <a:solidFill>
                  <a:schemeClr val="tx1">
                    <a:lumMod val="75000"/>
                    <a:lumOff val="25000"/>
                  </a:schemeClr>
                </a:solidFill>
                <a:latin typeface="+mn-ea"/>
                <a:cs typeface="OPPOSans M" panose="00020600040101010101" charset="-122"/>
              </a:rPr>
              <a:t>选中软件包后查看版本、大小、描述和发布说明，在可安装版本列表中选择目标版本执行安装，或在操作记录中对历史版本执行回退、卸载。支持本地</a:t>
            </a:r>
            <a:r>
              <a:rPr lang="en-US" altLang="zh-CN" sz="1000" dirty="0">
                <a:solidFill>
                  <a:schemeClr val="tx1">
                    <a:lumMod val="75000"/>
                    <a:lumOff val="25000"/>
                  </a:schemeClr>
                </a:solidFill>
                <a:latin typeface="+mn-ea"/>
                <a:cs typeface="OPPOSans M" panose="00020600040101010101" charset="-122"/>
              </a:rPr>
              <a:t>/U</a:t>
            </a:r>
            <a:r>
              <a:rPr lang="zh-CN" altLang="en-US" sz="1000" dirty="0">
                <a:solidFill>
                  <a:schemeClr val="tx1">
                    <a:lumMod val="75000"/>
                    <a:lumOff val="25000"/>
                  </a:schemeClr>
                </a:solidFill>
                <a:latin typeface="+mn-ea"/>
                <a:cs typeface="OPPOSans M" panose="00020600040101010101" charset="-122"/>
              </a:rPr>
              <a:t>盘 </a:t>
            </a:r>
            <a:r>
              <a:rPr lang="en-US" altLang="zh-CN" sz="1000" dirty="0">
                <a:solidFill>
                  <a:schemeClr val="tx1">
                    <a:lumMod val="75000"/>
                    <a:lumOff val="25000"/>
                  </a:schemeClr>
                </a:solidFill>
                <a:latin typeface="+mn-ea"/>
                <a:cs typeface="OPPOSans M" panose="00020600040101010101" charset="-122"/>
              </a:rPr>
              <a:t>.deb </a:t>
            </a:r>
            <a:r>
              <a:rPr lang="zh-CN" altLang="en-US" sz="1000" dirty="0">
                <a:solidFill>
                  <a:schemeClr val="tx1">
                    <a:lumMod val="75000"/>
                    <a:lumOff val="25000"/>
                  </a:schemeClr>
                </a:solidFill>
                <a:latin typeface="+mn-ea"/>
                <a:cs typeface="OPPOSans M" panose="00020600040101010101" charset="-122"/>
              </a:rPr>
              <a:t>文件离线手动安装</a:t>
            </a:r>
            <a:endParaRPr lang="zh-CN" altLang="en-US" sz="1000" dirty="0">
              <a:solidFill>
                <a:schemeClr val="tx1">
                  <a:lumMod val="75000"/>
                  <a:lumOff val="25000"/>
                </a:schemeClr>
              </a:solidFill>
              <a:latin typeface="+mn-ea"/>
              <a:cs typeface="OPPOSans M" panose="00020600040101010101" charset="-122"/>
            </a:endParaRPr>
          </a:p>
        </p:txBody>
      </p:sp>
      <p:pic>
        <p:nvPicPr>
          <p:cNvPr id="4" name="图片 3"/>
          <p:cNvPicPr>
            <a:picLocks noChangeAspect="1"/>
          </p:cNvPicPr>
          <p:nvPr/>
        </p:nvPicPr>
        <p:blipFill>
          <a:blip r:embed="rId1"/>
          <a:stretch>
            <a:fillRect/>
          </a:stretch>
        </p:blipFill>
        <p:spPr>
          <a:xfrm>
            <a:off x="853136" y="1879024"/>
            <a:ext cx="4771260" cy="2982328"/>
          </a:xfrm>
          <a:prstGeom prst="rect">
            <a:avLst/>
          </a:prstGeom>
          <a:ln>
            <a:noFill/>
          </a:ln>
          <a:effectLst/>
        </p:spPr>
      </p:pic>
      <p:pic>
        <p:nvPicPr>
          <p:cNvPr id="6" name="图片 5" descr="二次确认"/>
          <p:cNvPicPr>
            <a:picLocks noChangeAspect="1"/>
          </p:cNvPicPr>
          <p:nvPr/>
        </p:nvPicPr>
        <p:blipFill>
          <a:blip r:embed="rId2"/>
          <a:stretch>
            <a:fillRect/>
          </a:stretch>
        </p:blipFill>
        <p:spPr>
          <a:xfrm>
            <a:off x="6553350" y="1879024"/>
            <a:ext cx="4846662" cy="3020692"/>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11150600" y="215900"/>
          <a:chExt cx="419100" cy="419100"/>
        </a:xfrm>
      </p:grpSpPr>
      <p:sp>
        <p:nvSpPr>
          <p:cNvPr id="6" name="矩形: 圆角 5"/>
          <p:cNvSpPr/>
          <p:nvPr/>
        </p:nvSpPr>
        <p:spPr>
          <a:xfrm>
            <a:off x="263207" y="1016000"/>
            <a:ext cx="11664950" cy="5581650"/>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顶角 22"/>
          <p:cNvSpPr/>
          <p:nvPr/>
        </p:nvSpPr>
        <p:spPr>
          <a:xfrm flipV="1">
            <a:off x="6387612" y="1572361"/>
            <a:ext cx="5346105" cy="4449025"/>
          </a:xfrm>
          <a:prstGeom prst="round2SameRect">
            <a:avLst>
              <a:gd name="adj1" fmla="val 3948"/>
              <a:gd name="adj2" fmla="val 0"/>
            </a:avLst>
          </a:prstGeom>
          <a:solidFill>
            <a:schemeClr val="bg1"/>
          </a:solidFill>
          <a:ln w="6350">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673" name="矩形 672"/>
          <p:cNvSpPr/>
          <p:nvPr/>
        </p:nvSpPr>
        <p:spPr>
          <a:xfrm>
            <a:off x="555137" y="2521863"/>
            <a:ext cx="2073763" cy="406400"/>
          </a:xfrm>
          <a:prstGeom prst="rect">
            <a:avLst/>
          </a:prstGeom>
          <a:noFill/>
          <a:ln>
            <a:noFill/>
          </a:ln>
        </p:spPr>
        <p:txBody>
          <a:bodyPr/>
          <a:lstStyle/>
          <a:p>
            <a:pPr marL="0" indent="0" algn="l" defTabSz="0" rtl="0" eaLnBrk="1" latinLnBrk="0" hangingPunct="1">
              <a:spcBef>
                <a:spcPct val="0"/>
              </a:spcBef>
              <a:spcAft>
                <a:spcPct val="0"/>
              </a:spcAft>
              <a:buNone/>
            </a:pPr>
            <a:r>
              <a:rPr lang="zh-CN" altLang="en-US" sz="1400" dirty="0">
                <a:solidFill>
                  <a:srgbClr val="111827"/>
                </a:solidFill>
                <a:latin typeface="OPPOSans B" panose="00020600040101010101" charset="-122"/>
                <a:ea typeface="OPPOSans B" panose="00020600040101010101" charset="-122"/>
                <a:cs typeface="OPPOSans B" panose="00020600040101010101" charset="-122"/>
              </a:rPr>
              <a:t>从设备适配到应用交付</a:t>
            </a:r>
            <a:endParaRPr lang="zh-CN" altLang="en-US"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2" name="矩形: 圆顶角 21"/>
          <p:cNvSpPr/>
          <p:nvPr/>
        </p:nvSpPr>
        <p:spPr>
          <a:xfrm>
            <a:off x="6387610" y="1219937"/>
            <a:ext cx="5346107" cy="342987"/>
          </a:xfrm>
          <a:prstGeom prst="round2SameRect">
            <a:avLst>
              <a:gd name="adj1" fmla="val 42035"/>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74" name="矩形 673"/>
          <p:cNvSpPr/>
          <p:nvPr/>
        </p:nvSpPr>
        <p:spPr>
          <a:xfrm>
            <a:off x="576909" y="3012832"/>
            <a:ext cx="5181634" cy="3132204"/>
          </a:xfrm>
          <a:prstGeom prst="rect">
            <a:avLst/>
          </a:prstGeom>
          <a:noFill/>
          <a:ln w="0">
            <a:noFill/>
            <a:prstDash val="solid"/>
          </a:ln>
        </p:spPr>
        <p:txBody>
          <a:bodyPr wrap="square" anchor="ctr"/>
          <a:lstStyle/>
          <a:p>
            <a:pPr algn="l">
              <a:lnSpc>
                <a:spcPct val="170000"/>
              </a:lnSpc>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百川轻搭是百川单机底座面向设备调试与应用交付的可视化工程系统。它基于实际设备构型和标准设备能力，动态加载底盘、机械臂、末端工具、视觉、传感器及外围模组对应的控制与调试功能，适配不同型号、不同模组组合和不同设备形态。</a:t>
            </a:r>
            <a:endParaRPr lang="zh-CN" altLang="en-US" sz="1000" dirty="0">
              <a:solidFill>
                <a:schemeClr val="tx1">
                  <a:lumMod val="75000"/>
                  <a:lumOff val="25000"/>
                </a:schemeClr>
              </a:solidFill>
              <a:latin typeface="+mn-ea"/>
              <a:cs typeface="OPPOSans M" panose="00020600040101010101" charset="-122"/>
            </a:endParaRPr>
          </a:p>
          <a:p>
            <a:pPr algn="l">
              <a:lnSpc>
                <a:spcPct val="170000"/>
              </a:lnSpc>
              <a:buNone/>
              <a:defRPr sz="900" b="0">
                <a:solidFill>
                  <a:srgbClr val="5E6978"/>
                </a:solidFill>
              </a:defRPr>
            </a:pPr>
            <a:endParaRPr lang="en-US" altLang="zh-CN" sz="1000" dirty="0">
              <a:solidFill>
                <a:schemeClr val="tx1">
                  <a:lumMod val="75000"/>
                  <a:lumOff val="25000"/>
                </a:schemeClr>
              </a:solidFill>
              <a:latin typeface="+mn-ea"/>
              <a:cs typeface="OPPOSans M" panose="00020600040101010101" charset="-122"/>
            </a:endParaRPr>
          </a:p>
          <a:p>
            <a:pPr algn="l">
              <a:lnSpc>
                <a:spcPct val="170000"/>
              </a:lnSpc>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工程师可以通过百川轻搭完成设备控制、参数配置、标定采点、工艺配置、插件安装和整机试运行，并通过可视化配置、插件扩展和</a:t>
            </a:r>
            <a:r>
              <a:rPr lang="en-US" altLang="zh-CN" sz="1000" dirty="0">
                <a:solidFill>
                  <a:schemeClr val="tx1">
                    <a:lumMod val="75000"/>
                    <a:lumOff val="25000"/>
                  </a:schemeClr>
                </a:solidFill>
                <a:latin typeface="+mn-ea"/>
                <a:cs typeface="OPPOSans M" panose="00020600040101010101" charset="-122"/>
              </a:rPr>
              <a:t>AI</a:t>
            </a:r>
            <a:r>
              <a:rPr lang="zh-CN" altLang="en-US" sz="1000" dirty="0">
                <a:solidFill>
                  <a:schemeClr val="tx1">
                    <a:lumMod val="75000"/>
                    <a:lumOff val="25000"/>
                  </a:schemeClr>
                </a:solidFill>
                <a:latin typeface="+mn-ea"/>
                <a:cs typeface="OPPOSans M" panose="00020600040101010101" charset="-122"/>
              </a:rPr>
              <a:t>辅助，将分散的软硬件能力组合成可运行、可验证、可复制、可恢复和可交付的智能设备应用，降低设备适配、现场调试和应用交付的门槛。</a:t>
            </a:r>
            <a:endParaRPr lang="zh-CN" altLang="en-US" sz="1000" dirty="0">
              <a:solidFill>
                <a:schemeClr val="tx1">
                  <a:lumMod val="75000"/>
                  <a:lumOff val="25000"/>
                </a:schemeClr>
              </a:solidFill>
              <a:latin typeface="+mn-ea"/>
              <a:cs typeface="OPPOSans M" panose="00020600040101010101" charset="-122"/>
            </a:endParaRPr>
          </a:p>
          <a:p>
            <a:pPr marL="0" indent="0" algn="l" defTabSz="0" rtl="0" eaLnBrk="1" latinLnBrk="0" hangingPunct="1">
              <a:lnSpc>
                <a:spcPct val="170000"/>
              </a:lnSpc>
              <a:spcBef>
                <a:spcPct val="0"/>
              </a:spcBef>
              <a:spcAft>
                <a:spcPct val="0"/>
              </a:spcAft>
              <a:buNone/>
            </a:pPr>
            <a:r>
              <a:rPr lang="zh-CN" altLang="en-US" sz="1200" dirty="0">
                <a:solidFill>
                  <a:srgbClr val="5E6978"/>
                </a:solidFill>
                <a:latin typeface="OPPOSans M" panose="00020600040101010101" charset="-122"/>
                <a:ea typeface="OPPOSans M" panose="00020600040101010101" charset="-122"/>
                <a:cs typeface="OPPOSans M" panose="00020600040101010101" charset="-122"/>
              </a:rPr>
              <a:t>
</a:t>
            </a:r>
            <a:endParaRPr lang="zh-CN" altLang="en-US" sz="1200" dirty="0">
              <a:solidFill>
                <a:srgbClr val="5E6978"/>
              </a:solidFill>
              <a:latin typeface="OPPOSans M" panose="00020600040101010101" charset="-122"/>
              <a:ea typeface="OPPOSans M" panose="00020600040101010101" charset="-122"/>
              <a:cs typeface="OPPOSans M" panose="00020600040101010101" charset="-122"/>
            </a:endParaRPr>
          </a:p>
        </p:txBody>
      </p:sp>
      <p:grpSp>
        <p:nvGrpSpPr>
          <p:cNvPr id="24" name="组合 23"/>
          <p:cNvGrpSpPr/>
          <p:nvPr/>
        </p:nvGrpSpPr>
        <p:grpSpPr>
          <a:xfrm>
            <a:off x="11106948" y="1339178"/>
            <a:ext cx="476057" cy="113943"/>
            <a:chOff x="5298623" y="1396154"/>
            <a:chExt cx="507580" cy="121488"/>
          </a:xfrm>
        </p:grpSpPr>
        <p:sp>
          <p:nvSpPr>
            <p:cNvPr id="25" name="椭圆 24"/>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5" name="矩形 674"/>
          <p:cNvSpPr/>
          <p:nvPr/>
        </p:nvSpPr>
        <p:spPr>
          <a:xfrm>
            <a:off x="263525" y="6217914"/>
            <a:ext cx="11664950" cy="342900"/>
          </a:xfrm>
          <a:prstGeom prst="rect">
            <a:avLst/>
          </a:prstGeom>
          <a:noFill/>
          <a:ln>
            <a:noFill/>
          </a:ln>
        </p:spPr>
        <p:txBody>
          <a:bodyPr/>
          <a:lstStyle/>
          <a:p>
            <a:pPr algn="ctr"/>
            <a:r>
              <a:rPr lang="zh-CN" altLang="en-US" sz="900" dirty="0">
                <a:solidFill>
                  <a:schemeClr val="bg1">
                    <a:lumMod val="65000"/>
                  </a:schemeClr>
                </a:solidFill>
                <a:latin typeface="+mn-ea"/>
                <a:cs typeface="OPPOSans M" panose="00020600040101010101" charset="-122"/>
              </a:rPr>
              <a:t>百川轻搭连接百川系统底座与现场应用，是设备从</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能够运行”走向</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可以交付</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的关键工具</a:t>
            </a:r>
            <a:endParaRPr lang="zh-CN" altLang="en-US" sz="900" dirty="0">
              <a:solidFill>
                <a:schemeClr val="bg1">
                  <a:lumMod val="65000"/>
                </a:schemeClr>
              </a:solidFill>
              <a:latin typeface="+mn-ea"/>
              <a:cs typeface="OPPOSans M" panose="00020600040101010101" charset="-122"/>
            </a:endParaRPr>
          </a:p>
        </p:txBody>
      </p:sp>
      <p:sp>
        <p:nvSpPr>
          <p:cNvPr id="7" name="文本框 6"/>
          <p:cNvSpPr txBox="1"/>
          <p:nvPr/>
        </p:nvSpPr>
        <p:spPr>
          <a:xfrm>
            <a:off x="511720" y="1237465"/>
            <a:ext cx="1619703" cy="554479"/>
          </a:xfrm>
          <a:prstGeom prst="rect">
            <a:avLst/>
          </a:prstGeom>
        </p:spPr>
        <p:txBody>
          <a:bodyPr wrap="none" rtlCol="0">
            <a:noAutofit/>
          </a:bodyPr>
          <a:lstStyle/>
          <a:p>
            <a:pPr algn="ctr"/>
            <a:r>
              <a:rPr lang="zh-CN" altLang="en-US" sz="2800" dirty="0">
                <a:latin typeface="OPPOSans B" panose="00020600040101010101" charset="-122"/>
                <a:ea typeface="OPPOSans B" panose="00020600040101010101" charset="-122"/>
                <a:cs typeface="OPPOSans B" panose="00020600040101010101" charset="-122"/>
              </a:rPr>
              <a:t>百川轻搭</a:t>
            </a:r>
            <a:endParaRPr lang="zh-CN" altLang="en-US" sz="2800" dirty="0">
              <a:latin typeface="OPPOSans B" panose="00020600040101010101" charset="-122"/>
              <a:ea typeface="OPPOSans B" panose="00020600040101010101" charset="-122"/>
              <a:cs typeface="OPPOSans B" panose="00020600040101010101" charset="-122"/>
            </a:endParaRPr>
          </a:p>
        </p:txBody>
      </p:sp>
      <p:sp>
        <p:nvSpPr>
          <p:cNvPr id="8"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面向多类型工业智能设备的</a:t>
            </a:r>
            <a:r>
              <a:rPr lang="zh-CN" altLang="en-US" sz="1400" dirty="0">
                <a:solidFill>
                  <a:schemeClr val="tx1">
                    <a:lumMod val="95000"/>
                    <a:lumOff val="5000"/>
                  </a:schemeClr>
                </a:solidFill>
                <a:latin typeface="OPPOSans M" panose="00020600040101010101" charset="-122"/>
                <a:ea typeface="OPPOSans M" panose="00020600040101010101" charset="-122"/>
                <a:sym typeface="+mn-ea"/>
              </a:rPr>
              <a:t>可视化场景编排与联合调试平台</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4" name="文本框 13"/>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百川轻搭</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工业智能设备统一编排与联合调试平台</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0" name="文本框 19"/>
          <p:cNvSpPr txBox="1"/>
          <p:nvPr/>
        </p:nvSpPr>
        <p:spPr>
          <a:xfrm>
            <a:off x="3219994" y="1237465"/>
            <a:ext cx="2727235" cy="523220"/>
          </a:xfrm>
          <a:prstGeom prst="rect">
            <a:avLst/>
          </a:prstGeom>
          <a:noFill/>
        </p:spPr>
        <p:txBody>
          <a:bodyPr wrap="square" rtlCol="0">
            <a:spAutoFit/>
          </a:bodyPr>
          <a:lstStyle/>
          <a:p>
            <a:pPr indent="0" algn="r">
              <a:spcBef>
                <a:spcPct val="0"/>
              </a:spcBef>
              <a:spcAft>
                <a:spcPct val="0"/>
              </a:spcAft>
              <a:buNone/>
            </a:pPr>
            <a:r>
              <a:rPr lang="en-US" altLang="zh-CN" sz="1400" dirty="0">
                <a:solidFill>
                  <a:srgbClr val="C00000"/>
                </a:solidFill>
                <a:latin typeface="OPPOSans B" panose="00020600040101010101" charset="-122"/>
                <a:ea typeface="OPPOSans B" panose="00020600040101010101" charset="-122"/>
                <a:cs typeface="OPPOSans B" panose="00020600040101010101" charset="-122"/>
              </a:rPr>
              <a:t>BAICHUAN</a:t>
            </a:r>
            <a:endParaRPr lang="en-US" altLang="zh-CN" sz="1400" dirty="0">
              <a:solidFill>
                <a:srgbClr val="C00000"/>
              </a:solidFill>
              <a:latin typeface="OPPOSans B" panose="00020600040101010101" charset="-122"/>
              <a:ea typeface="OPPOSans B" panose="00020600040101010101" charset="-122"/>
              <a:cs typeface="OPPOSans B" panose="00020600040101010101" charset="-122"/>
            </a:endParaRPr>
          </a:p>
          <a:p>
            <a:pPr indent="0" algn="r">
              <a:spcBef>
                <a:spcPct val="0"/>
              </a:spcBef>
              <a:spcAft>
                <a:spcPct val="0"/>
              </a:spcAft>
              <a:buNone/>
            </a:pPr>
            <a:r>
              <a:rPr lang="en-US" altLang="zh-CN" sz="1400" dirty="0">
                <a:solidFill>
                  <a:srgbClr val="C00000"/>
                </a:solidFill>
                <a:latin typeface="OPPOSans B" panose="00020600040101010101" charset="-122"/>
                <a:ea typeface="OPPOSans B" panose="00020600040101010101" charset="-122"/>
                <a:cs typeface="OPPOSans B" panose="00020600040101010101" charset="-122"/>
              </a:rPr>
              <a:t>LITE</a:t>
            </a:r>
            <a:endParaRPr lang="zh-CN" altLang="en-US" sz="1600" dirty="0">
              <a:solidFill>
                <a:srgbClr val="C00000"/>
              </a:solidFill>
            </a:endParaRPr>
          </a:p>
        </p:txBody>
      </p:sp>
      <p:grpSp>
        <p:nvGrpSpPr>
          <p:cNvPr id="35" name="组合 34"/>
          <p:cNvGrpSpPr/>
          <p:nvPr/>
        </p:nvGrpSpPr>
        <p:grpSpPr>
          <a:xfrm>
            <a:off x="8385830" y="2195385"/>
            <a:ext cx="672237" cy="3202976"/>
            <a:chOff x="8115300" y="2169513"/>
            <a:chExt cx="1018969" cy="3202976"/>
          </a:xfrm>
          <a:solidFill>
            <a:schemeClr val="bg1">
              <a:lumMod val="95000"/>
            </a:schemeClr>
          </a:solidFill>
        </p:grpSpPr>
        <p:sp>
          <p:nvSpPr>
            <p:cNvPr id="31" name="箭头: 圆角右 30"/>
            <p:cNvSpPr/>
            <p:nvPr/>
          </p:nvSpPr>
          <p:spPr>
            <a:xfrm>
              <a:off x="8115300" y="216951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圆角右 32"/>
            <p:cNvSpPr/>
            <p:nvPr/>
          </p:nvSpPr>
          <p:spPr>
            <a:xfrm flipV="1">
              <a:off x="8115300" y="3697373"/>
              <a:ext cx="1018969" cy="1675116"/>
            </a:xfrm>
            <a:prstGeom prst="bentArrow">
              <a:avLst>
                <a:gd name="adj1" fmla="val 25000"/>
                <a:gd name="adj2" fmla="val 23398"/>
                <a:gd name="adj3" fmla="val 20671"/>
                <a:gd name="adj4" fmla="val 651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4" name="箭头: 右 33"/>
          <p:cNvSpPr/>
          <p:nvPr/>
        </p:nvSpPr>
        <p:spPr>
          <a:xfrm>
            <a:off x="8539273" y="3635524"/>
            <a:ext cx="518794" cy="322698"/>
          </a:xfrm>
          <a:prstGeom prst="rightArrow">
            <a:avLst>
              <a:gd name="adj1" fmla="val 50000"/>
              <a:gd name="adj2" fmla="val 4235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upload_post_object_v2_733970304"/>
          <p:cNvPicPr>
            <a:picLocks noChangeAspect="1"/>
          </p:cNvPicPr>
          <p:nvPr/>
        </p:nvPicPr>
        <p:blipFill>
          <a:blip r:embed="rId1"/>
          <a:stretch>
            <a:fillRect/>
          </a:stretch>
        </p:blipFill>
        <p:spPr>
          <a:xfrm>
            <a:off x="6664081" y="3113681"/>
            <a:ext cx="1457906" cy="1375347"/>
          </a:xfrm>
          <a:prstGeom prst="rect">
            <a:avLst/>
          </a:prstGeom>
        </p:spPr>
      </p:pic>
      <p:pic>
        <p:nvPicPr>
          <p:cNvPr id="9" name="图片 8"/>
          <p:cNvPicPr/>
          <p:nvPr/>
        </p:nvPicPr>
        <p:blipFill>
          <a:blip r:embed="rId2"/>
          <a:srcRect t="8539" b="8539"/>
          <a:stretch>
            <a:fillRect/>
          </a:stretch>
        </p:blipFill>
        <p:spPr>
          <a:xfrm>
            <a:off x="9252823" y="4545858"/>
            <a:ext cx="2239087" cy="1249227"/>
          </a:xfrm>
          <a:prstGeom prst="rect">
            <a:avLst/>
          </a:prstGeom>
          <a:ln w="12700" cmpd="sng">
            <a:noFill/>
            <a:prstDash val="solid"/>
            <a:miter lim="800000"/>
            <a:headEnd/>
            <a:tailEnd/>
          </a:ln>
        </p:spPr>
      </p:pic>
      <p:pic>
        <p:nvPicPr>
          <p:cNvPr id="19" name="图片 18" descr="upload_post_object_v2_3475932304"/>
          <p:cNvPicPr>
            <a:picLocks noChangeAspect="1"/>
          </p:cNvPicPr>
          <p:nvPr/>
        </p:nvPicPr>
        <p:blipFill>
          <a:blip r:embed="rId3"/>
          <a:srcRect t="5000" b="5000"/>
          <a:stretch>
            <a:fillRect/>
          </a:stretch>
        </p:blipFill>
        <p:spPr>
          <a:xfrm>
            <a:off x="9252822" y="1798661"/>
            <a:ext cx="2239088" cy="1249227"/>
          </a:xfrm>
          <a:prstGeom prst="rect">
            <a:avLst/>
          </a:prstGeom>
          <a:ln w="12700" cmpd="sng">
            <a:noFill/>
            <a:prstDash val="solid"/>
            <a:miter lim="800000"/>
            <a:headEnd/>
            <a:tailEnd/>
          </a:ln>
        </p:spPr>
      </p:pic>
      <p:pic>
        <p:nvPicPr>
          <p:cNvPr id="28" name="图片 27" descr="upload_post_object_v2_754027785"/>
          <p:cNvPicPr>
            <a:picLocks noChangeAspect="1"/>
          </p:cNvPicPr>
          <p:nvPr/>
        </p:nvPicPr>
        <p:blipFill>
          <a:blip r:embed="rId4"/>
          <a:srcRect t="154" b="154"/>
          <a:stretch>
            <a:fillRect/>
          </a:stretch>
        </p:blipFill>
        <p:spPr>
          <a:xfrm>
            <a:off x="9252505" y="3167128"/>
            <a:ext cx="2239407" cy="1259486"/>
          </a:xfrm>
          <a:prstGeom prst="rect">
            <a:avLst/>
          </a:prstGeom>
          <a:ln w="12700" cmpd="sng">
            <a:noFill/>
            <a:prstDash val="solid"/>
            <a:miter lim="800000"/>
            <a:headEnd/>
            <a:tailEnd/>
          </a:ln>
        </p:spPr>
      </p:pic>
      <p:sp>
        <p:nvSpPr>
          <p:cNvPr id="37" name="eyebrow"/>
          <p:cNvSpPr>
            <a:spLocks noGrp="1"/>
          </p:cNvSpPr>
          <p:nvPr/>
        </p:nvSpPr>
        <p:spPr>
          <a:xfrm>
            <a:off x="552450" y="285750"/>
            <a:ext cx="3429000" cy="228600"/>
          </a:xfrm>
          <a:prstGeom prst="rect">
            <a:avLst/>
          </a:prstGeom>
          <a:noFill/>
          <a:ln w="0">
            <a:noFill/>
            <a:prstDash val="solid"/>
          </a:ln>
        </p:spPr>
        <p:txBody>
          <a:bodyPr anchor="ctr"/>
          <a:lstStyle/>
          <a:p>
            <a:pPr algn="l">
              <a:buNone/>
              <a:defRPr sz="975" b="1">
                <a:solidFill>
                  <a:srgbClr val="B4232A"/>
                </a:solidFill>
              </a:defRPr>
            </a:pPr>
            <a:r>
              <a:rPr sz="1400" dirty="0">
                <a:solidFill>
                  <a:schemeClr val="bg2">
                    <a:lumMod val="90000"/>
                  </a:schemeClr>
                </a:solidFill>
                <a:latin typeface="OPPOSans B" panose="00020600040101010101" charset="-122"/>
                <a:ea typeface="OPPOSans B" panose="00020600040101010101" charset="-122"/>
                <a:cs typeface="OPPOSans B" panose="00020600040101010101" charset="-122"/>
              </a:rPr>
              <a:t>BAICHUAN LITE</a:t>
            </a:r>
            <a:endParaRPr sz="1400" dirty="0">
              <a:solidFill>
                <a:schemeClr val="bg2">
                  <a:lumMod val="90000"/>
                </a:schemeClr>
              </a:solidFill>
              <a:latin typeface="OPPOSans B" panose="00020600040101010101" charset="-122"/>
              <a:ea typeface="OPPOSans B" panose="00020600040101010101" charset="-122"/>
              <a:cs typeface="OPPOSans B" panose="00020600040101010101" charset="-122"/>
            </a:endParaRPr>
          </a:p>
        </p:txBody>
      </p:sp>
      <p:sp>
        <p:nvSpPr>
          <p:cNvPr id="2" name="文本框 1"/>
          <p:cNvSpPr txBox="1"/>
          <p:nvPr/>
        </p:nvSpPr>
        <p:spPr>
          <a:xfrm>
            <a:off x="6883022" y="4514021"/>
            <a:ext cx="1137313" cy="338554"/>
          </a:xfrm>
          <a:prstGeom prst="rect">
            <a:avLst/>
          </a:prstGeom>
          <a:noFill/>
        </p:spPr>
        <p:txBody>
          <a:bodyPr wrap="square" rtlCol="0">
            <a:spAutoFit/>
          </a:bodyPr>
          <a:lstStyle/>
          <a:p>
            <a:r>
              <a:rPr lang="zh-CN" altLang="en-US" sz="1600" dirty="0">
                <a:solidFill>
                  <a:schemeClr val="bg1">
                    <a:lumMod val="65000"/>
                  </a:schemeClr>
                </a:solidFill>
              </a:rPr>
              <a:t>百川轻搭</a:t>
            </a:r>
            <a:endParaRPr lang="zh-CN" altLang="en-US" sz="1600" dirty="0">
              <a:solidFill>
                <a:schemeClr val="bg1">
                  <a:lumMod val="6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16000"/>
            <a:ext cx="11664950" cy="55586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8" name="矩形: 圆顶角 197"/>
          <p:cNvSpPr/>
          <p:nvPr/>
        </p:nvSpPr>
        <p:spPr>
          <a:xfrm>
            <a:off x="6250874" y="3757109"/>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199" name="矩形: 圆顶角 198"/>
          <p:cNvSpPr/>
          <p:nvPr/>
        </p:nvSpPr>
        <p:spPr>
          <a:xfrm flipV="1">
            <a:off x="6250874" y="4037863"/>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200" name="function-model-title"/>
          <p:cNvSpPr>
            <a:spLocks noGrp="1"/>
          </p:cNvSpPr>
          <p:nvPr/>
        </p:nvSpPr>
        <p:spPr>
          <a:xfrm>
            <a:off x="6351918" y="3736632"/>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插件市场</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201" name="矩形 200"/>
          <p:cNvSpPr/>
          <p:nvPr/>
        </p:nvSpPr>
        <p:spPr>
          <a:xfrm>
            <a:off x="6351918" y="4317318"/>
            <a:ext cx="2195545" cy="1524000"/>
          </a:xfrm>
          <a:prstGeom prst="rect">
            <a:avLst/>
          </a:prstGeom>
          <a:noFill/>
          <a:ln>
            <a:noFill/>
          </a:ln>
        </p:spPr>
        <p:txBody>
          <a:bodyPr/>
          <a:lstStyle/>
          <a:p>
            <a:pPr lvl="0" algn="l">
              <a:lnSpc>
                <a:spcPct val="150000"/>
              </a:lnSpc>
              <a:buClrTx/>
              <a:buSzTx/>
              <a:buFontTx/>
              <a:defRPr sz="900" b="0">
                <a:solidFill>
                  <a:srgbClr val="5E6978"/>
                </a:solidFill>
              </a:defRPr>
            </a:pPr>
            <a:r>
              <a:rPr lang="zh-CN" altLang="en-US" sz="800" dirty="0">
                <a:solidFill>
                  <a:schemeClr val="tx1">
                    <a:lumMod val="75000"/>
                    <a:lumOff val="25000"/>
                  </a:schemeClr>
                </a:solidFill>
                <a:latin typeface="+mn-ea"/>
                <a:cs typeface="OPPOSans M" panose="00020600040101010101" charset="-122"/>
                <a:sym typeface="+mn-ea"/>
              </a:rPr>
              <a:t>通过标准插件持续扩展设备与应用能力。</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统一提供设备驱动、算法、行为节点和页面组件</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支持在线安装、离线导入与兼容性校验</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集中管理插件启停、版本升级与快速回退</a:t>
            </a:r>
            <a:endParaRPr lang="zh-CN" altLang="en-US" sz="800" dirty="0">
              <a:solidFill>
                <a:schemeClr val="tx1">
                  <a:lumMod val="75000"/>
                  <a:lumOff val="25000"/>
                </a:schemeClr>
              </a:solidFill>
              <a:latin typeface="+mn-ea"/>
              <a:cs typeface="OPPOSans M" panose="00020600040101010101" charset="-122"/>
              <a:sym typeface="+mn-ea"/>
            </a:endParaRPr>
          </a:p>
        </p:txBody>
      </p:sp>
      <p:sp>
        <p:nvSpPr>
          <p:cNvPr id="202" name="矩形: 圆顶角 201"/>
          <p:cNvSpPr/>
          <p:nvPr/>
        </p:nvSpPr>
        <p:spPr>
          <a:xfrm>
            <a:off x="483382" y="3740320"/>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3" name="矩形: 圆顶角 202"/>
          <p:cNvSpPr/>
          <p:nvPr/>
        </p:nvSpPr>
        <p:spPr>
          <a:xfrm flipV="1">
            <a:off x="483382" y="4037863"/>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204" name="function-model-title"/>
          <p:cNvSpPr>
            <a:spLocks noGrp="1"/>
          </p:cNvSpPr>
          <p:nvPr/>
        </p:nvSpPr>
        <p:spPr>
          <a:xfrm>
            <a:off x="584426" y="3719843"/>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不同设备统一控制</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205" name="矩形 204"/>
          <p:cNvSpPr/>
          <p:nvPr/>
        </p:nvSpPr>
        <p:spPr>
          <a:xfrm>
            <a:off x="612590" y="4300529"/>
            <a:ext cx="2245178" cy="1524000"/>
          </a:xfrm>
          <a:prstGeom prst="rect">
            <a:avLst/>
          </a:prstGeom>
          <a:noFill/>
          <a:ln>
            <a:noFill/>
          </a:ln>
        </p:spPr>
        <p:txBody>
          <a:bodyPr/>
          <a:lstStyle/>
          <a:p>
            <a:pPr lvl="0" algn="l">
              <a:lnSpc>
                <a:spcPct val="150000"/>
              </a:lnSpc>
              <a:buClrTx/>
              <a:buSzTx/>
              <a:buFontTx/>
              <a:defRPr sz="900" b="0">
                <a:solidFill>
                  <a:srgbClr val="5E6978"/>
                </a:solidFill>
              </a:defRPr>
            </a:pPr>
            <a:r>
              <a:rPr lang="zh-CN" altLang="en-US" sz="800" dirty="0">
                <a:solidFill>
                  <a:schemeClr val="tx1">
                    <a:lumMod val="75000"/>
                    <a:lumOff val="25000"/>
                  </a:schemeClr>
                </a:solidFill>
                <a:latin typeface="+mn-ea"/>
                <a:cs typeface="OPPOSans M" panose="00020600040101010101" charset="-122"/>
                <a:sym typeface="+mn-ea"/>
              </a:rPr>
              <a:t>将不同设备转换为统一的能力对象和控制方式。</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支持</a:t>
            </a:r>
            <a:r>
              <a:rPr lang="en-US" altLang="zh-CN" sz="800" dirty="0">
                <a:solidFill>
                  <a:schemeClr val="tx1">
                    <a:lumMod val="75000"/>
                    <a:lumOff val="25000"/>
                  </a:schemeClr>
                </a:solidFill>
                <a:latin typeface="+mn-ea"/>
                <a:cs typeface="OPPOSans M" panose="00020600040101010101" charset="-122"/>
                <a:sym typeface="+mn-ea"/>
              </a:rPr>
              <a:t>AMR、MCR、</a:t>
            </a:r>
            <a:r>
              <a:rPr lang="zh-CN" altLang="en-US" sz="800" dirty="0">
                <a:solidFill>
                  <a:schemeClr val="tx1">
                    <a:lumMod val="75000"/>
                    <a:lumOff val="25000"/>
                  </a:schemeClr>
                </a:solidFill>
                <a:latin typeface="+mn-ea"/>
                <a:cs typeface="OPPOSans M" panose="00020600040101010101" charset="-122"/>
                <a:sym typeface="+mn-ea"/>
              </a:rPr>
              <a:t>机械臂、人形机器人及工艺装备</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集中完成设备控制、状态查看、参数配置与异常处理</a:t>
            </a:r>
            <a:endParaRPr lang="en-US" altLang="zh-CN" sz="800" dirty="0">
              <a:solidFill>
                <a:schemeClr val="tx1">
                  <a:lumMod val="75000"/>
                  <a:lumOff val="25000"/>
                </a:schemeClr>
              </a:solidFill>
              <a:latin typeface="+mn-ea"/>
              <a:cs typeface="OPPOSans M" panose="00020600040101010101" charset="-122"/>
              <a:sym typeface="+mn-ea"/>
            </a:endParaRPr>
          </a:p>
          <a:p>
            <a:pPr lvl="0" algn="l">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统一管理地图、任务点位、位姿、坐标系和</a:t>
            </a:r>
            <a:r>
              <a:rPr lang="en-US" altLang="zh-CN" sz="800" dirty="0">
                <a:solidFill>
                  <a:schemeClr val="tx1">
                    <a:lumMod val="75000"/>
                    <a:lumOff val="25000"/>
                  </a:schemeClr>
                </a:solidFill>
                <a:latin typeface="+mn-ea"/>
                <a:cs typeface="OPPOSans M" panose="00020600040101010101" charset="-122"/>
                <a:sym typeface="+mn-ea"/>
              </a:rPr>
              <a:t>IO</a:t>
            </a:r>
            <a:r>
              <a:rPr lang="zh-CN" altLang="en-US" sz="800" dirty="0">
                <a:solidFill>
                  <a:schemeClr val="tx1">
                    <a:lumMod val="75000"/>
                    <a:lumOff val="25000"/>
                  </a:schemeClr>
                </a:solidFill>
                <a:latin typeface="+mn-ea"/>
                <a:cs typeface="OPPOSans M" panose="00020600040101010101" charset="-122"/>
                <a:sym typeface="+mn-ea"/>
              </a:rPr>
              <a:t>能力</a:t>
            </a:r>
            <a:endParaRPr lang="zh-CN" altLang="en-US" sz="800" dirty="0">
              <a:solidFill>
                <a:schemeClr val="tx1">
                  <a:lumMod val="75000"/>
                  <a:lumOff val="25000"/>
                </a:schemeClr>
              </a:solidFill>
              <a:latin typeface="+mn-ea"/>
              <a:cs typeface="OPPOSans M" panose="00020600040101010101" charset="-122"/>
              <a:sym typeface="+mn-ea"/>
            </a:endParaRPr>
          </a:p>
        </p:txBody>
      </p:sp>
      <p:sp>
        <p:nvSpPr>
          <p:cNvPr id="195" name="callout-text"/>
          <p:cNvSpPr>
            <a:spLocks noGrp="1"/>
          </p:cNvSpPr>
          <p:nvPr/>
        </p:nvSpPr>
        <p:spPr>
          <a:xfrm>
            <a:off x="263525" y="6021388"/>
            <a:ext cx="11664950" cy="56593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同一套轻搭可服务</a:t>
            </a:r>
            <a:r>
              <a:rPr lang="en-US" altLang="zh-CN" sz="900" dirty="0">
                <a:solidFill>
                  <a:schemeClr val="bg1">
                    <a:lumMod val="65000"/>
                  </a:schemeClr>
                </a:solidFill>
                <a:latin typeface="+mn-ea"/>
                <a:cs typeface="OPPOSans M" panose="00020600040101010101" charset="-122"/>
                <a:sym typeface="+mn-ea"/>
              </a:rPr>
              <a:t>AMR / MCR</a:t>
            </a:r>
            <a:r>
              <a:rPr lang="zh-CN" altLang="en-US" sz="900" dirty="0">
                <a:solidFill>
                  <a:schemeClr val="bg1">
                    <a:lumMod val="65000"/>
                  </a:schemeClr>
                </a:solidFill>
                <a:latin typeface="+mn-ea"/>
                <a:cs typeface="OPPOSans M" panose="00020600040101010101" charset="-122"/>
                <a:sym typeface="+mn-ea"/>
              </a:rPr>
              <a:t>、机械臂、视觉设备、</a:t>
            </a:r>
            <a:r>
              <a:rPr lang="en-US" altLang="zh-CN" sz="900" dirty="0">
                <a:solidFill>
                  <a:schemeClr val="bg1">
                    <a:lumMod val="65000"/>
                  </a:schemeClr>
                </a:solidFill>
                <a:latin typeface="+mn-ea"/>
                <a:cs typeface="OPPOSans M" panose="00020600040101010101" charset="-122"/>
                <a:sym typeface="+mn-ea"/>
              </a:rPr>
              <a:t>PLC / CNC</a:t>
            </a:r>
            <a:r>
              <a:rPr lang="zh-CN" altLang="en-US" sz="900" dirty="0">
                <a:solidFill>
                  <a:schemeClr val="bg1">
                    <a:lumMod val="65000"/>
                  </a:schemeClr>
                </a:solidFill>
                <a:latin typeface="+mn-ea"/>
                <a:cs typeface="OPPOSans M" panose="00020600040101010101" charset="-122"/>
                <a:sym typeface="+mn-ea"/>
              </a:rPr>
              <a:t>与组合型工艺装备</a:t>
            </a:r>
            <a:endParaRPr lang="zh-CN" altLang="en-US" sz="900" b="0" dirty="0">
              <a:solidFill>
                <a:schemeClr val="bg1">
                  <a:lumMod val="65000"/>
                </a:schemeClr>
              </a:solidFill>
              <a:latin typeface="+mn-ea"/>
              <a:cs typeface="OPPOSans M" panose="00020600040101010101" charset="-122"/>
              <a:sym typeface="+mn-ea"/>
            </a:endParaRPr>
          </a:p>
        </p:txBody>
      </p:sp>
      <p:sp>
        <p:nvSpPr>
          <p:cNvPr id="40" name="矩形: 圆顶角 39"/>
          <p:cNvSpPr/>
          <p:nvPr/>
        </p:nvSpPr>
        <p:spPr>
          <a:xfrm>
            <a:off x="6250874" y="1241370"/>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46" name="矩形: 圆顶角 45"/>
          <p:cNvSpPr/>
          <p:nvPr/>
        </p:nvSpPr>
        <p:spPr>
          <a:xfrm flipV="1">
            <a:off x="6250874" y="1522124"/>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42" name="function-model-title"/>
          <p:cNvSpPr>
            <a:spLocks noGrp="1"/>
          </p:cNvSpPr>
          <p:nvPr/>
        </p:nvSpPr>
        <p:spPr>
          <a:xfrm>
            <a:off x="6351918" y="1220893"/>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视觉流程与设备标定</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43" name="矩形 42"/>
          <p:cNvSpPr/>
          <p:nvPr/>
        </p:nvSpPr>
        <p:spPr>
          <a:xfrm>
            <a:off x="6351918" y="1626671"/>
            <a:ext cx="2147566" cy="1524000"/>
          </a:xfrm>
          <a:prstGeom prst="rect">
            <a:avLst/>
          </a:prstGeom>
          <a:noFill/>
          <a:ln>
            <a:noFill/>
          </a:ln>
        </p:spPr>
        <p:txBody>
          <a:bodyPr/>
          <a:lstStyle/>
          <a:p>
            <a:pPr>
              <a:lnSpc>
                <a:spcPct val="150000"/>
              </a:lnSpc>
              <a:defRPr sz="900" b="0">
                <a:solidFill>
                  <a:srgbClr val="5E6978"/>
                </a:solidFill>
              </a:defRPr>
            </a:pPr>
            <a:r>
              <a:rPr lang="zh-CN" altLang="en-US" sz="800" dirty="0">
                <a:solidFill>
                  <a:schemeClr val="tx1">
                    <a:lumMod val="75000"/>
                    <a:lumOff val="25000"/>
                  </a:schemeClr>
                </a:solidFill>
                <a:latin typeface="+mn-ea"/>
                <a:cs typeface="OPPOSans M" panose="00020600040101010101" charset="-122"/>
                <a:sym typeface="+mn-ea"/>
              </a:rPr>
              <a:t>将视觉处理与专业标定转化为图形化操作。</a:t>
            </a:r>
            <a:endParaRPr lang="en-US" altLang="zh-CN" sz="800" dirty="0">
              <a:solidFill>
                <a:schemeClr val="tx1">
                  <a:lumMod val="75000"/>
                  <a:lumOff val="25000"/>
                </a:schemeClr>
              </a:solidFill>
              <a:latin typeface="+mn-ea"/>
              <a:cs typeface="OPPOSans M" panose="00020600040101010101" charset="-122"/>
              <a:sym typeface="+mn-ea"/>
            </a:endParaRPr>
          </a:p>
          <a:p>
            <a:pPr>
              <a:lnSpc>
                <a:spcPct val="150000"/>
              </a:lnSpc>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在同一流程中完成相机接入、算法调用与结果输出</a:t>
            </a:r>
            <a:endParaRPr lang="en-US" altLang="zh-CN" sz="800" dirty="0">
              <a:solidFill>
                <a:schemeClr val="tx1">
                  <a:lumMod val="75000"/>
                  <a:lumOff val="25000"/>
                </a:schemeClr>
              </a:solidFill>
              <a:latin typeface="+mn-ea"/>
              <a:cs typeface="OPPOSans M" panose="00020600040101010101" charset="-122"/>
              <a:sym typeface="+mn-ea"/>
            </a:endParaRPr>
          </a:p>
          <a:p>
            <a:pPr>
              <a:lnSpc>
                <a:spcPct val="150000"/>
              </a:lnSpc>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通过向导完成机械臂、底盘与用户坐标系标定</a:t>
            </a:r>
            <a:endParaRPr lang="en-US" altLang="zh-CN" sz="800" dirty="0">
              <a:solidFill>
                <a:schemeClr val="tx1">
                  <a:lumMod val="75000"/>
                  <a:lumOff val="25000"/>
                </a:schemeClr>
              </a:solidFill>
              <a:latin typeface="+mn-ea"/>
              <a:cs typeface="OPPOSans M" panose="00020600040101010101" charset="-122"/>
              <a:sym typeface="+mn-ea"/>
            </a:endParaRPr>
          </a:p>
          <a:p>
            <a:pPr>
              <a:lnSpc>
                <a:spcPct val="150000"/>
              </a:lnSpc>
              <a:defRPr sz="900" b="0">
                <a:solidFill>
                  <a:srgbClr val="5E6978"/>
                </a:solidFill>
              </a:defRPr>
            </a:pPr>
            <a:r>
              <a:rPr lang="zh-CN" altLang="en-US" sz="800" dirty="0">
                <a:solidFill>
                  <a:schemeClr val="bg2">
                    <a:lumMod val="90000"/>
                  </a:schemeClr>
                </a:solidFill>
                <a:latin typeface="+mn-ea"/>
                <a:cs typeface="OPPOSans M" panose="00020600040101010101" charset="-122"/>
              </a:rPr>
              <a:t>●</a:t>
            </a:r>
            <a:r>
              <a:rPr lang="zh-CN" altLang="en-US" sz="800" dirty="0">
                <a:solidFill>
                  <a:schemeClr val="tx1">
                    <a:lumMod val="75000"/>
                    <a:lumOff val="25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标定过程实时反馈，配置结果可以保存和复用</a:t>
            </a:r>
            <a:endParaRPr lang="zh-CN" altLang="en-US" sz="800" dirty="0">
              <a:solidFill>
                <a:schemeClr val="tx1">
                  <a:lumMod val="75000"/>
                  <a:lumOff val="25000"/>
                </a:schemeClr>
              </a:solidFill>
              <a:latin typeface="+mn-ea"/>
              <a:cs typeface="OPPOSans M" panose="00020600040101010101" charset="-122"/>
              <a:sym typeface="+mn-ea"/>
            </a:endParaRPr>
          </a:p>
        </p:txBody>
      </p:sp>
      <p:sp>
        <p:nvSpPr>
          <p:cNvPr id="31" name="矩形: 圆顶角 30"/>
          <p:cNvSpPr/>
          <p:nvPr/>
        </p:nvSpPr>
        <p:spPr>
          <a:xfrm>
            <a:off x="483382" y="1224581"/>
            <a:ext cx="5475863"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2" name="矩形: 圆顶角 31"/>
          <p:cNvSpPr/>
          <p:nvPr/>
        </p:nvSpPr>
        <p:spPr>
          <a:xfrm flipV="1">
            <a:off x="483382" y="1522124"/>
            <a:ext cx="5475863" cy="1984558"/>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sp>
        <p:nvSpPr>
          <p:cNvPr id="33" name="function-model-title"/>
          <p:cNvSpPr>
            <a:spLocks noGrp="1"/>
          </p:cNvSpPr>
          <p:nvPr/>
        </p:nvSpPr>
        <p:spPr>
          <a:xfrm>
            <a:off x="584426" y="1204104"/>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行为与任务编排</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不限定设备机器人，通过统一能力接口完成流程、视觉、标定、空间与系统配置</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百川轻搭：核心功能</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24" name="矩形 23"/>
          <p:cNvSpPr/>
          <p:nvPr/>
        </p:nvSpPr>
        <p:spPr>
          <a:xfrm>
            <a:off x="612589" y="1626671"/>
            <a:ext cx="2193608" cy="1524000"/>
          </a:xfrm>
          <a:prstGeom prst="rect">
            <a:avLst/>
          </a:prstGeom>
          <a:noFill/>
          <a:ln>
            <a:noFill/>
          </a:ln>
        </p:spPr>
        <p:txBody>
          <a:bodyPr/>
          <a:lstStyle/>
          <a:p>
            <a:pPr lvl="0">
              <a:lnSpc>
                <a:spcPct val="150000"/>
              </a:lnSpc>
              <a:buClrTx/>
              <a:buSzTx/>
              <a:buFontTx/>
              <a:defRPr sz="900" b="0">
                <a:solidFill>
                  <a:srgbClr val="5E6978"/>
                </a:solidFill>
              </a:defRPr>
            </a:pPr>
            <a:r>
              <a:rPr lang="zh-CN" altLang="en-US" sz="800" dirty="0">
                <a:solidFill>
                  <a:schemeClr val="tx1">
                    <a:lumMod val="75000"/>
                    <a:lumOff val="25000"/>
                  </a:schemeClr>
                </a:solidFill>
                <a:latin typeface="+mn-ea"/>
                <a:cs typeface="OPPOSans M" panose="00020600040101010101" charset="-122"/>
                <a:sym typeface="+mn-ea"/>
              </a:rPr>
              <a:t>通过可视化行为树组织设备动作与任务逻辑。</a:t>
            </a:r>
            <a:endParaRPr lang="en-US" altLang="zh-CN" sz="800" dirty="0">
              <a:solidFill>
                <a:schemeClr val="tx1">
                  <a:lumMod val="75000"/>
                  <a:lumOff val="25000"/>
                </a:schemeClr>
              </a:solidFill>
              <a:latin typeface="+mn-ea"/>
              <a:cs typeface="OPPOSans M" panose="00020600040101010101" charset="-122"/>
              <a:sym typeface="+mn-ea"/>
            </a:endParaRPr>
          </a:p>
          <a:p>
            <a:pPr lvl="0">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200+标准节点，覆盖动作、条件、控制、感知、数据与异常处理</a:t>
            </a:r>
            <a:endParaRPr lang="en-US" altLang="zh-CN" sz="800" dirty="0">
              <a:solidFill>
                <a:schemeClr val="tx1">
                  <a:lumMod val="75000"/>
                  <a:lumOff val="25000"/>
                </a:schemeClr>
              </a:solidFill>
              <a:latin typeface="+mn-ea"/>
              <a:cs typeface="OPPOSans M" panose="00020600040101010101" charset="-122"/>
              <a:sym typeface="+mn-ea"/>
            </a:endParaRPr>
          </a:p>
          <a:p>
            <a:pPr lvl="0">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支持条件判断、循环执行、并行协同与异常恢复</a:t>
            </a:r>
            <a:endParaRPr lang="en-US" altLang="zh-CN" sz="800" dirty="0">
              <a:solidFill>
                <a:schemeClr val="tx1">
                  <a:lumMod val="75000"/>
                  <a:lumOff val="25000"/>
                </a:schemeClr>
              </a:solidFill>
              <a:latin typeface="+mn-ea"/>
              <a:cs typeface="OPPOSans M" panose="00020600040101010101" charset="-122"/>
              <a:sym typeface="+mn-ea"/>
            </a:endParaRPr>
          </a:p>
          <a:p>
            <a:pPr lvl="0">
              <a:lnSpc>
                <a:spcPct val="150000"/>
              </a:lnSpc>
              <a:buClrTx/>
              <a:buSzTx/>
              <a:buFontTx/>
              <a:defRPr sz="900" b="0">
                <a:solidFill>
                  <a:srgbClr val="5E6978"/>
                </a:solidFill>
              </a:defRPr>
            </a:pPr>
            <a:r>
              <a:rPr lang="zh-CN" altLang="en-US" sz="800" dirty="0">
                <a:solidFill>
                  <a:schemeClr val="bg2">
                    <a:lumMod val="90000"/>
                  </a:schemeClr>
                </a:solidFill>
                <a:latin typeface="+mn-ea"/>
                <a:cs typeface="OPPOSans M" panose="00020600040101010101" charset="-122"/>
              </a:rPr>
              <a:t>● </a:t>
            </a:r>
            <a:r>
              <a:rPr lang="zh-CN" altLang="en-US" sz="800" dirty="0">
                <a:solidFill>
                  <a:schemeClr val="tx1">
                    <a:lumMod val="75000"/>
                    <a:lumOff val="25000"/>
                  </a:schemeClr>
                </a:solidFill>
                <a:latin typeface="+mn-ea"/>
                <a:cs typeface="OPPOSans M" panose="00020600040101010101" charset="-122"/>
                <a:sym typeface="+mn-ea"/>
              </a:rPr>
              <a:t>内置试运行与错误定位，发布前即可验证完整流程</a:t>
            </a:r>
            <a:endParaRPr lang="zh-CN" altLang="en-US" sz="800" dirty="0">
              <a:solidFill>
                <a:schemeClr val="tx1">
                  <a:lumMod val="75000"/>
                  <a:lumOff val="25000"/>
                </a:schemeClr>
              </a:solidFill>
              <a:latin typeface="+mn-ea"/>
              <a:cs typeface="OPPOSans M" panose="00020600040101010101" charset="-122"/>
              <a:sym typeface="+mn-ea"/>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969712" y="1743137"/>
            <a:ext cx="2597713" cy="1461214"/>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76820" y="1743137"/>
            <a:ext cx="2597713" cy="1461214"/>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969712" y="4282933"/>
            <a:ext cx="2597713" cy="1461214"/>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776819" y="4282933"/>
            <a:ext cx="2597715" cy="1461215"/>
          </a:xfrm>
          <a:prstGeom prst="rect">
            <a:avLst/>
          </a:prstGeom>
        </p:spPr>
      </p:pic>
      <p:sp>
        <p:nvSpPr>
          <p:cNvPr id="6" name="文本框 5"/>
          <p:cNvSpPr txBox="1"/>
          <p:nvPr/>
        </p:nvSpPr>
        <p:spPr>
          <a:xfrm>
            <a:off x="5439229" y="1197848"/>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01</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8" name="文本框 7"/>
          <p:cNvSpPr txBox="1"/>
          <p:nvPr/>
        </p:nvSpPr>
        <p:spPr>
          <a:xfrm>
            <a:off x="11206720" y="1197848"/>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02</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9" name="文本框 8"/>
          <p:cNvSpPr txBox="1"/>
          <p:nvPr/>
        </p:nvSpPr>
        <p:spPr>
          <a:xfrm>
            <a:off x="5439229" y="3721493"/>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03</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0" name="文本框 9"/>
          <p:cNvSpPr txBox="1"/>
          <p:nvPr/>
        </p:nvSpPr>
        <p:spPr>
          <a:xfrm>
            <a:off x="11206720" y="3721493"/>
            <a:ext cx="520017" cy="369332"/>
          </a:xfrm>
          <a:prstGeom prst="rect">
            <a:avLst/>
          </a:prstGeom>
          <a:noFill/>
        </p:spPr>
        <p:txBody>
          <a:bodyPr wrap="square" rtlCol="0">
            <a:spAutoFit/>
          </a:bodyPr>
          <a:lstStyle/>
          <a:p>
            <a:r>
              <a:rPr lang="en-US" altLang="zh-CN" dirty="0">
                <a:solidFill>
                  <a:schemeClr val="bg1"/>
                </a:solidFill>
                <a:latin typeface="OPPOSans H" panose="00020600040101010101" pitchFamily="18" charset="-122"/>
                <a:ea typeface="OPPOSans H" panose="00020600040101010101" pitchFamily="18" charset="-122"/>
                <a:cs typeface="OPPOSans H" panose="00020600040101010101" pitchFamily="18" charset="-122"/>
              </a:rPr>
              <a:t>04</a:t>
            </a:r>
            <a:endParaRPr lang="zh-CN" altLang="en-US" sz="2000" dirty="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内置试运行与错误定位</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覆盖动作、条件、控制、装饰、感知、数据与异常处理七大节点类型</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en-US" altLang="zh-CN" sz="1100" dirty="0">
                <a:solidFill>
                  <a:srgbClr val="111827"/>
                </a:solidFill>
                <a:latin typeface="OPPOSans M" panose="00020600040101010101" charset="-122"/>
                <a:ea typeface="OPPOSans M" panose="00020600040101010101" charset="-122"/>
                <a:cs typeface="OPPOSans B" panose="00020600040101010101" charset="-122"/>
              </a:rPr>
              <a:t>200+</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行为树节点</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a:latin typeface="OPPOSans M" panose="00020600040101010101" charset="-122"/>
              <a:ea typeface="OPPOSans M" panose="00020600040101010101" charset="-122"/>
            </a:endParaRPr>
          </a:p>
        </p:txBody>
      </p:sp>
      <p:sp>
        <p:nvSpPr>
          <p:cNvPr id="23" name="callout-text"/>
          <p:cNvSpPr>
            <a:spLocks noGrp="1"/>
          </p:cNvSpPr>
          <p:nvPr/>
        </p:nvSpPr>
        <p:spPr>
          <a:xfrm>
            <a:off x="263525" y="6032307"/>
            <a:ext cx="11664950" cy="555011"/>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以标准节点复用替代项目级重复开发，提高应用搭建效率</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将隐性的程序逻辑转化为可查看、可调整、可验证的任务流程</a:t>
            </a:r>
            <a:endParaRPr lang="zh-CN" altLang="en-US" sz="90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853135" y="4700241"/>
            <a:ext cx="4783459" cy="1181943"/>
          </a:xfrm>
          <a:prstGeom prst="rect">
            <a:avLst/>
          </a:prstGeom>
          <a:noFill/>
          <a:ln>
            <a:noFill/>
          </a:ln>
        </p:spPr>
        <p:txBody>
          <a:bodyPr/>
          <a:lstStyle/>
          <a:p>
            <a:pPr indent="0" algn="l" fontAlgn="auto">
              <a:lnSpc>
                <a:spcPct val="150000"/>
              </a:lnSpc>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内置200+标准节点，覆盖七大能力类型，让常见工业任务从“从零开发”变为“按需组合”，快速搭建主流工业应用</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531340" y="4700241"/>
            <a:ext cx="4822925" cy="1123630"/>
          </a:xfrm>
          <a:prstGeom prst="rect">
            <a:avLst/>
          </a:prstGeom>
          <a:noFill/>
          <a:ln>
            <a:noFill/>
          </a:ln>
        </p:spPr>
        <p:txBody>
          <a:bodyPr/>
          <a:lstStyle/>
          <a:p>
            <a:pPr algn="l">
              <a:lnSpc>
                <a:spcPct val="150000"/>
              </a:lnSpc>
              <a:buClrTx/>
              <a:buSzTx/>
              <a:buFontTx/>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发布前完整试跑任务流程，实时定位异常节点、参数配置与连接问题，将现场排查转变为提前验证，减少反复调试和交付等待</a:t>
            </a:r>
            <a:endParaRPr lang="zh-CN" altLang="en-US" sz="1000" dirty="0">
              <a:solidFill>
                <a:schemeClr val="tx1">
                  <a:lumMod val="75000"/>
                  <a:lumOff val="25000"/>
                </a:schemeClr>
              </a:solidFill>
              <a:latin typeface="+mn-ea"/>
              <a:cs typeface="OPPOSans M" panose="00020600040101010101" charset="-122"/>
            </a:endParaRPr>
          </a:p>
        </p:txBody>
      </p:sp>
      <p:sp>
        <p:nvSpPr>
          <p:cNvPr id="21" name="文本框 20"/>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行为树</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:200+</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节点与发布前试运行</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pic>
        <p:nvPicPr>
          <p:cNvPr id="25" name="图片 43"/>
          <p:cNvPicPr>
            <a:picLocks noChangeAspect="1"/>
          </p:cNvPicPr>
          <p:nvPr/>
        </p:nvPicPr>
        <p:blipFill>
          <a:blip r:embed="rId1"/>
          <a:srcRect t="7209" b="7209"/>
          <a:stretch>
            <a:fillRect/>
          </a:stretch>
        </p:blipFill>
        <p:spPr>
          <a:xfrm>
            <a:off x="6531340" y="1884387"/>
            <a:ext cx="4822925" cy="2512412"/>
          </a:xfrm>
          <a:prstGeom prst="rect">
            <a:avLst/>
          </a:prstGeom>
          <a:effectLst>
            <a:outerShdw blurRad="50800" dist="38100" dir="5400000" algn="t" rotWithShape="0">
              <a:schemeClr val="bg2">
                <a:lumMod val="90000"/>
                <a:alpha val="40000"/>
              </a:schemeClr>
            </a:outerShdw>
          </a:effectLst>
        </p:spPr>
      </p:pic>
      <p:pic>
        <p:nvPicPr>
          <p:cNvPr id="26" name="图片 45"/>
          <p:cNvPicPr>
            <a:picLocks noChangeAspect="1"/>
          </p:cNvPicPr>
          <p:nvPr/>
        </p:nvPicPr>
        <p:blipFill>
          <a:blip r:embed="rId2"/>
          <a:srcRect t="4147" b="4147"/>
          <a:stretch>
            <a:fillRect/>
          </a:stretch>
        </p:blipFill>
        <p:spPr>
          <a:xfrm>
            <a:off x="853135" y="1893003"/>
            <a:ext cx="4783459" cy="2510145"/>
          </a:xfrm>
          <a:prstGeom prst="rect">
            <a:avLst/>
          </a:prstGeom>
          <a:effectLst>
            <a:outerShdw blurRad="50800" dist="38100" dir="5400000" algn="t" rotWithShape="0">
              <a:schemeClr val="bg2">
                <a:lumMod val="90000"/>
                <a:alpha val="40000"/>
              </a:scheme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识别结果与参数联调</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相机接入、算法调用、视觉标定与结果处理在同一流程中完成</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视觉流程与相机接入</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a:latin typeface="OPPOSans M" panose="00020600040101010101" charset="-122"/>
              <a:ea typeface="OPPOSans M" panose="00020600040101010101" charset="-122"/>
            </a:endParaRPr>
          </a:p>
        </p:txBody>
      </p:sp>
      <p:sp>
        <p:nvSpPr>
          <p:cNvPr id="23" name="callout-text"/>
          <p:cNvSpPr>
            <a:spLocks noGrp="1"/>
          </p:cNvSpPr>
          <p:nvPr/>
        </p:nvSpPr>
        <p:spPr>
          <a:xfrm>
            <a:off x="263525" y="6032307"/>
            <a:ext cx="11664950" cy="555011"/>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相机接入、算法编排与结果验证形成一体化视觉调试流程</a:t>
            </a:r>
            <a:endParaRPr lang="zh-CN" altLang="en-US" sz="90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515504" y="4700241"/>
            <a:ext cx="5475863" cy="1181943"/>
          </a:xfrm>
          <a:prstGeom prst="rect">
            <a:avLst/>
          </a:prstGeom>
          <a:noFill/>
          <a:ln>
            <a:noFill/>
          </a:ln>
        </p:spPr>
        <p:txBody>
          <a:bodyPr/>
          <a:lstStyle/>
          <a:p>
            <a:pPr indent="0" algn="ctr" fontAlgn="auto">
              <a:lnSpc>
                <a:spcPct val="120000"/>
              </a:lnSpc>
              <a:buNone/>
              <a:defRPr sz="900" b="0">
                <a:solidFill>
                  <a:srgbClr val="5E6978"/>
                </a:solidFill>
              </a:defRPr>
            </a:pPr>
            <a:r>
              <a:rPr lang="zh-CN" altLang="en-US" sz="900" dirty="0">
                <a:solidFill>
                  <a:schemeClr val="tx1">
                    <a:lumMod val="75000"/>
                    <a:lumOff val="25000"/>
                  </a:schemeClr>
                </a:solidFill>
                <a:latin typeface="+mn-ea"/>
                <a:cs typeface="OPPOSans M" panose="00020600040101010101" charset="-122"/>
              </a:rPr>
              <a:t>通过节点连接图像输入、算法处理与结果输出，让视觉处理过程和识别数据清晰可见</a:t>
            </a:r>
            <a:endParaRPr lang="zh-CN" altLang="en-US" sz="1200" dirty="0">
              <a:solidFill>
                <a:schemeClr val="tx1">
                  <a:lumMod val="75000"/>
                  <a:lumOff val="25000"/>
                </a:schemeClr>
              </a:solidFill>
              <a:latin typeface="OPPOSans M" panose="00020600040101010101" charset="-122"/>
              <a:ea typeface="OPPOSans M" panose="00020600040101010101" charset="-122"/>
            </a:endParaRPr>
          </a:p>
        </p:txBody>
      </p:sp>
      <p:sp>
        <p:nvSpPr>
          <p:cNvPr id="28" name="矩形 27"/>
          <p:cNvSpPr/>
          <p:nvPr/>
        </p:nvSpPr>
        <p:spPr>
          <a:xfrm>
            <a:off x="6215718" y="4700241"/>
            <a:ext cx="5475863" cy="1123630"/>
          </a:xfrm>
          <a:prstGeom prst="rect">
            <a:avLst/>
          </a:prstGeom>
          <a:noFill/>
          <a:ln>
            <a:noFill/>
          </a:ln>
        </p:spPr>
        <p:txBody>
          <a:bodyPr/>
          <a:lstStyle/>
          <a:p>
            <a:pPr algn="ctr">
              <a:lnSpc>
                <a:spcPct val="120000"/>
              </a:lnSpc>
              <a:buClrTx/>
              <a:buSzTx/>
              <a:buFontTx/>
              <a:buNone/>
              <a:defRPr sz="900" b="0">
                <a:solidFill>
                  <a:srgbClr val="5E6978"/>
                </a:solidFill>
              </a:defRPr>
            </a:pPr>
            <a:r>
              <a:rPr lang="zh-CN" altLang="en-US" sz="900" dirty="0">
                <a:solidFill>
                  <a:schemeClr val="tx1">
                    <a:lumMod val="75000"/>
                    <a:lumOff val="25000"/>
                  </a:schemeClr>
                </a:solidFill>
                <a:latin typeface="+mn-ea"/>
                <a:cs typeface="OPPOSans M" panose="00020600040101010101" charset="-122"/>
                <a:sym typeface="+mn-ea"/>
              </a:rPr>
              <a:t>选择相机并配置图像采集参数，在线预览画面，快速确认设备连接与采集状态</a:t>
            </a:r>
            <a:endParaRPr lang="zh-CN" altLang="en-US" sz="900" dirty="0">
              <a:solidFill>
                <a:schemeClr val="tx1">
                  <a:lumMod val="75000"/>
                  <a:lumOff val="25000"/>
                </a:schemeClr>
              </a:solidFill>
              <a:latin typeface="+mn-ea"/>
            </a:endParaRPr>
          </a:p>
        </p:txBody>
      </p:sp>
      <p:pic>
        <p:nvPicPr>
          <p:cNvPr id="4" name="图片 45"/>
          <p:cNvPicPr>
            <a:picLocks noChangeAspect="1"/>
          </p:cNvPicPr>
          <p:nvPr/>
        </p:nvPicPr>
        <p:blipFill>
          <a:blip r:embed="rId1"/>
          <a:srcRect t="8803" b="8803"/>
          <a:stretch>
            <a:fillRect/>
          </a:stretch>
        </p:blipFill>
        <p:spPr>
          <a:xfrm>
            <a:off x="853135" y="1885373"/>
            <a:ext cx="4800600" cy="2511426"/>
          </a:xfrm>
          <a:prstGeom prst="rect">
            <a:avLst/>
          </a:prstGeom>
          <a:effectLst>
            <a:outerShdw blurRad="50800" dist="38100" dir="5400000" algn="t" rotWithShape="0">
              <a:schemeClr val="bg2">
                <a:lumMod val="90000"/>
                <a:alpha val="40000"/>
              </a:schemeClr>
            </a:outerShdw>
          </a:effectLst>
        </p:spPr>
      </p:pic>
      <p:pic>
        <p:nvPicPr>
          <p:cNvPr id="6" name="图片 43"/>
          <p:cNvPicPr>
            <a:picLocks noChangeAspect="1"/>
          </p:cNvPicPr>
          <p:nvPr/>
        </p:nvPicPr>
        <p:blipFill>
          <a:blip r:embed="rId2"/>
          <a:srcRect t="20" b="20"/>
          <a:stretch>
            <a:fillRect/>
          </a:stretch>
        </p:blipFill>
        <p:spPr>
          <a:xfrm>
            <a:off x="6531659" y="1890737"/>
            <a:ext cx="4822925" cy="2512412"/>
          </a:xfrm>
          <a:prstGeom prst="rect">
            <a:avLst/>
          </a:prstGeom>
          <a:effectLst>
            <a:outerShdw blurRad="50800" dist="38100" dir="5400000" algn="t" rotWithShape="0">
              <a:schemeClr val="bg2">
                <a:lumMod val="90000"/>
                <a:alpha val="40000"/>
              </a:schemeClr>
            </a:outerShdw>
          </a:effectLst>
        </p:spPr>
      </p:pic>
      <p:sp>
        <p:nvSpPr>
          <p:cNvPr id="21" name="文本框 20"/>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视觉与感知</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让识别结果直接参与任务执行</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图形化标定流程</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通过可视化连接关系完成外设接入，以向导式流程完成设备与坐标系标定</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外设接入与设备标定</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复杂配置全程图形化</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图形化外设接入</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38657"/>
            <a:ext cx="11664950" cy="548661"/>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交付价值</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数据集中、步骤清晰，新人员可快速上手，配置结果也更容易核对与复用</a:t>
            </a:r>
            <a:endParaRPr lang="zh-CN" altLang="en-US" sz="900"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896983" y="4700241"/>
            <a:ext cx="4756753" cy="1181943"/>
          </a:xfrm>
          <a:prstGeom prst="rect">
            <a:avLst/>
          </a:prstGeom>
          <a:noFill/>
          <a:ln>
            <a:noFill/>
          </a:ln>
        </p:spPr>
        <p:txBody>
          <a:bodyPr/>
          <a:lstStyle/>
          <a:p>
            <a:pPr indent="0" fontAlgn="auto">
              <a:lnSpc>
                <a:spcPct val="150000"/>
              </a:lnSpc>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连接关系看得见，设备能力配得清，通过图形化拓扑展示控制器、相机、传感器、</a:t>
            </a:r>
            <a:r>
              <a:rPr lang="en-US" altLang="zh-CN" sz="1000" dirty="0">
                <a:solidFill>
                  <a:schemeClr val="tx1">
                    <a:lumMod val="75000"/>
                    <a:lumOff val="25000"/>
                  </a:schemeClr>
                </a:solidFill>
                <a:latin typeface="+mn-ea"/>
                <a:cs typeface="OPPOSans M" panose="00020600040101010101" charset="-122"/>
              </a:rPr>
              <a:t>IO</a:t>
            </a:r>
            <a:r>
              <a:rPr lang="zh-CN" altLang="en-US" sz="1000" dirty="0">
                <a:solidFill>
                  <a:schemeClr val="tx1">
                    <a:lumMod val="75000"/>
                    <a:lumOff val="25000"/>
                  </a:schemeClr>
                </a:solidFill>
                <a:latin typeface="+mn-ea"/>
                <a:cs typeface="OPPOSans M" panose="00020600040101010101" charset="-122"/>
              </a:rPr>
              <a:t>与执行器的连接关系，在同一界面完成设备选择、端口映射、参数配置与状态确认</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553351" y="4700241"/>
            <a:ext cx="4857600" cy="1123630"/>
          </a:xfrm>
          <a:prstGeom prst="rect">
            <a:avLst/>
          </a:prstGeom>
          <a:noFill/>
          <a:ln>
            <a:noFill/>
          </a:ln>
        </p:spPr>
        <p:txBody>
          <a:bodyPr/>
          <a:lstStyle/>
          <a:p>
            <a:pPr algn="l">
              <a:lnSpc>
                <a:spcPct val="150000"/>
              </a:lnSpc>
              <a:buClrTx/>
              <a:buSzTx/>
              <a:buFontTx/>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机械臂/底盘标定、用户坐标系等复杂步骤按流程引导，并呈现校验结果。复杂标定有步骤，操作结果可校验</a:t>
            </a:r>
            <a:endParaRPr lang="zh-CN" altLang="en-US" sz="1000" dirty="0">
              <a:solidFill>
                <a:schemeClr val="tx1">
                  <a:lumMod val="75000"/>
                  <a:lumOff val="25000"/>
                </a:schemeClr>
              </a:solidFill>
              <a:latin typeface="+mn-ea"/>
              <a:cs typeface="OPPOSans M" panose="00020600040101010101" charset="-122"/>
            </a:endParaRPr>
          </a:p>
        </p:txBody>
      </p:sp>
      <p:pic>
        <p:nvPicPr>
          <p:cNvPr id="9" name="图片 8" descr="upload_post_object_v2_779296609"/>
          <p:cNvPicPr>
            <a:picLocks noChangeAspect="1"/>
          </p:cNvPicPr>
          <p:nvPr/>
        </p:nvPicPr>
        <p:blipFill>
          <a:blip r:embed="rId1"/>
          <a:stretch>
            <a:fillRect/>
          </a:stretch>
        </p:blipFill>
        <p:spPr>
          <a:xfrm>
            <a:off x="853136" y="1885373"/>
            <a:ext cx="4800600" cy="2519150"/>
          </a:xfrm>
          <a:prstGeom prst="rect">
            <a:avLst/>
          </a:prstGeom>
          <a:effectLst>
            <a:outerShdw blurRad="50800" dist="38100" dir="5400000" algn="t" rotWithShape="0">
              <a:schemeClr val="bg2">
                <a:lumMod val="90000"/>
                <a:alpha val="40000"/>
              </a:schemeClr>
            </a:outerShdw>
          </a:effectLst>
        </p:spPr>
      </p:pic>
      <p:pic>
        <p:nvPicPr>
          <p:cNvPr id="10" name="图片 43"/>
          <p:cNvPicPr>
            <a:picLocks noChangeAspect="1"/>
          </p:cNvPicPr>
          <p:nvPr/>
        </p:nvPicPr>
        <p:blipFill>
          <a:blip r:embed="rId2"/>
          <a:srcRect t="8598" b="8598"/>
          <a:stretch>
            <a:fillRect/>
          </a:stretch>
        </p:blipFill>
        <p:spPr>
          <a:xfrm>
            <a:off x="6553350" y="1879023"/>
            <a:ext cx="4846662" cy="2524125"/>
          </a:xfrm>
          <a:prstGeom prst="rect">
            <a:avLst/>
          </a:prstGeom>
          <a:effectLst>
            <a:outerShdw blurRad="50800" dist="38100" dir="5400000" algn="t" rotWithShape="0">
              <a:schemeClr val="bg2">
                <a:lumMod val="90000"/>
                <a:alpha val="40000"/>
              </a:scheme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安装并直接使用</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将设备驱动、算法、行为节点和页面组件封装为标准插件，为百川轻搭持续补充可编排能力</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编排插件市场</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设备能力的统一获取与分发入口</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查找所需能力</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244418"/>
            <a:ext cx="11664950" cy="34290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产品链：</a:t>
            </a:r>
            <a:r>
              <a:rPr lang="en-US" altLang="zh-CN" sz="900" dirty="0">
                <a:solidFill>
                  <a:schemeClr val="bg1">
                    <a:lumMod val="65000"/>
                  </a:schemeClr>
                </a:solidFill>
                <a:latin typeface="+mn-ea"/>
                <a:cs typeface="OPPOSans M" panose="00020600040101010101" charset="-122"/>
                <a:sym typeface="+mn-ea"/>
              </a:rPr>
              <a:t>AI</a:t>
            </a:r>
            <a:r>
              <a:rPr lang="zh-CN" altLang="en-US" sz="900" dirty="0">
                <a:solidFill>
                  <a:schemeClr val="bg1">
                    <a:lumMod val="65000"/>
                  </a:schemeClr>
                </a:solidFill>
                <a:latin typeface="+mn-ea"/>
                <a:cs typeface="OPPOSans M" panose="00020600040101010101" charset="-122"/>
                <a:sym typeface="+mn-ea"/>
              </a:rPr>
              <a:t>辅助开发 → 本地调试 → 兼容与安全审核 → 商城发布 → 在线</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离线安装 → 运行与升级</a:t>
            </a:r>
            <a:endParaRPr lang="zh-CN" altLang="en-US" sz="900" dirty="0">
              <a:solidFill>
                <a:schemeClr val="bg1">
                  <a:lumMod val="65000"/>
                </a:schemeClr>
              </a:solidFill>
              <a:latin typeface="+mn-ea"/>
              <a:cs typeface="OPPOSans M" panose="00020600040101010101" charset="-122"/>
            </a:endParaRPr>
          </a:p>
          <a:p>
            <a:pPr lvl="0" algn="ctr">
              <a:buClrTx/>
              <a:buSzTx/>
              <a:buFontTx/>
              <a:defRPr sz="1125" b="1">
                <a:solidFill>
                  <a:srgbClr val="FFFFFF"/>
                </a:solidFill>
              </a:defRPr>
            </a:pP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515504" y="4871474"/>
            <a:ext cx="5475863" cy="1181943"/>
          </a:xfrm>
          <a:prstGeom prst="rect">
            <a:avLst/>
          </a:prstGeom>
          <a:noFill/>
          <a:ln>
            <a:noFill/>
          </a:ln>
        </p:spPr>
        <p:txBody>
          <a:bodyPr/>
          <a:lstStyle/>
          <a:p>
            <a:pPr indent="0" algn="ctr" fontAlgn="auto">
              <a:lnSpc>
                <a:spcPct val="120000"/>
              </a:lnSpc>
              <a:buNone/>
              <a:defRPr sz="900" b="0">
                <a:solidFill>
                  <a:srgbClr val="5E6978"/>
                </a:solidFill>
              </a:defRPr>
            </a:pPr>
            <a:r>
              <a:rPr lang="zh-CN" altLang="en-US" sz="1000" dirty="0">
                <a:solidFill>
                  <a:schemeClr val="tx1">
                    <a:lumMod val="75000"/>
                    <a:lumOff val="25000"/>
                  </a:schemeClr>
                </a:solidFill>
                <a:latin typeface="+mn-ea"/>
                <a:cs typeface="OPPOSans M" panose="00020600040101010101" charset="-122"/>
              </a:rPr>
              <a:t>通过分类、搜索与设备适配信息，快速找到所需的驱动、算法和功能插件</a:t>
            </a:r>
            <a:endParaRPr lang="zh-CN" altLang="en-US" sz="1000" dirty="0">
              <a:solidFill>
                <a:schemeClr val="tx1">
                  <a:lumMod val="75000"/>
                  <a:lumOff val="25000"/>
                </a:schemeClr>
              </a:solidFill>
              <a:latin typeface="OPPOSans M" panose="00020600040101010101" charset="-122"/>
              <a:ea typeface="OPPOSans M" panose="00020600040101010101" charset="-122"/>
            </a:endParaRPr>
          </a:p>
        </p:txBody>
      </p:sp>
      <p:sp>
        <p:nvSpPr>
          <p:cNvPr id="28" name="矩形 27"/>
          <p:cNvSpPr/>
          <p:nvPr/>
        </p:nvSpPr>
        <p:spPr>
          <a:xfrm>
            <a:off x="6215718" y="4871474"/>
            <a:ext cx="5475863" cy="1123630"/>
          </a:xfrm>
          <a:prstGeom prst="rect">
            <a:avLst/>
          </a:prstGeom>
          <a:noFill/>
          <a:ln>
            <a:noFill/>
          </a:ln>
        </p:spPr>
        <p:txBody>
          <a:bodyPr/>
          <a:lstStyle/>
          <a:p>
            <a:pPr algn="ctr">
              <a:lnSpc>
                <a:spcPct val="120000"/>
              </a:lnSpc>
              <a:buClrTx/>
              <a:buSzTx/>
              <a:buFontTx/>
              <a:buNone/>
              <a:defRPr sz="900" b="0">
                <a:solidFill>
                  <a:srgbClr val="5E6978"/>
                </a:solidFill>
              </a:defRPr>
            </a:pPr>
            <a:r>
              <a:rPr lang="zh-CN" altLang="en-US" sz="1000" dirty="0">
                <a:solidFill>
                  <a:schemeClr val="tx1">
                    <a:lumMod val="75000"/>
                    <a:lumOff val="25000"/>
                  </a:schemeClr>
                </a:solidFill>
                <a:latin typeface="+mn-ea"/>
              </a:rPr>
              <a:t>支持在线安装与离线导入，完成插件解析和兼容性校验后，即可在轻搭中调用</a:t>
            </a:r>
            <a:endParaRPr lang="zh-CN" altLang="en-US" sz="1000" dirty="0">
              <a:solidFill>
                <a:schemeClr val="tx1">
                  <a:lumMod val="75000"/>
                  <a:lumOff val="25000"/>
                </a:schemeClr>
              </a:solidFill>
              <a:latin typeface="+mn-ea"/>
            </a:endParaRPr>
          </a:p>
        </p:txBody>
      </p:sp>
      <p:pic>
        <p:nvPicPr>
          <p:cNvPr id="16" name="图片 19"/>
          <p:cNvPicPr/>
          <p:nvPr/>
        </p:nvPicPr>
        <p:blipFill>
          <a:blip r:embed="rId1"/>
          <a:stretch>
            <a:fillRect/>
          </a:stretch>
        </p:blipFill>
        <p:spPr>
          <a:xfrm>
            <a:off x="853135" y="1885373"/>
            <a:ext cx="4802400" cy="2512800"/>
          </a:xfrm>
          <a:prstGeom prst="rect">
            <a:avLst/>
          </a:prstGeom>
          <a:effectLst>
            <a:outerShdw blurRad="50800" dist="38100" dir="5400000" algn="t" rotWithShape="0">
              <a:schemeClr val="bg2">
                <a:lumMod val="90000"/>
                <a:alpha val="40000"/>
              </a:schemeClr>
            </a:outerShdw>
          </a:effectLst>
        </p:spPr>
      </p:pic>
      <p:pic>
        <p:nvPicPr>
          <p:cNvPr id="17" name="图片 3"/>
          <p:cNvPicPr>
            <a:picLocks noChangeAspect="1"/>
          </p:cNvPicPr>
          <p:nvPr/>
        </p:nvPicPr>
        <p:blipFill>
          <a:blip r:embed="rId2"/>
          <a:stretch>
            <a:fillRect/>
          </a:stretch>
        </p:blipFill>
        <p:spPr>
          <a:xfrm>
            <a:off x="6553033" y="1925926"/>
            <a:ext cx="4801235" cy="25114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矩形: 圆角 88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6" name="矩形: 圆角 885"/>
          <p:cNvSpPr/>
          <p:nvPr/>
        </p:nvSpPr>
        <p:spPr>
          <a:xfrm>
            <a:off x="550296" y="1537291"/>
            <a:ext cx="11091409" cy="4304493"/>
          </a:xfrm>
          <a:prstGeom prst="roundRect">
            <a:avLst>
              <a:gd name="adj" fmla="val 6108"/>
            </a:avLst>
          </a:prstGeom>
          <a:noFill/>
          <a:ln w="1524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不同设备统一编排</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8" name="callout-text"/>
          <p:cNvSpPr>
            <a:spLocks noGrp="1"/>
          </p:cNvSpPr>
          <p:nvPr/>
        </p:nvSpPr>
        <p:spPr>
          <a:xfrm>
            <a:off x="263525" y="6250104"/>
            <a:ext cx="11664950" cy="33721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设备形态可以不同，任务编排、调试与控制方式保持一致</a:t>
            </a:r>
            <a:endParaRPr lang="zh-CN" altLang="en-US" sz="900" dirty="0">
              <a:solidFill>
                <a:schemeClr val="bg1">
                  <a:lumMod val="65000"/>
                </a:schemeClr>
              </a:solidFill>
              <a:latin typeface="+mn-ea"/>
              <a:cs typeface="OPPOSans M" panose="00020600040101010101" charset="-122"/>
              <a:sym typeface="+mn-ea"/>
            </a:endParaRPr>
          </a:p>
        </p:txBody>
      </p:sp>
      <p:grpSp>
        <p:nvGrpSpPr>
          <p:cNvPr id="883" name="组合 882"/>
          <p:cNvGrpSpPr/>
          <p:nvPr/>
        </p:nvGrpSpPr>
        <p:grpSpPr>
          <a:xfrm>
            <a:off x="4532920" y="1196963"/>
            <a:ext cx="3126160" cy="4985148"/>
            <a:chOff x="4447554" y="1066337"/>
            <a:chExt cx="3126160" cy="4985148"/>
          </a:xfrm>
        </p:grpSpPr>
        <p:grpSp>
          <p:nvGrpSpPr>
            <p:cNvPr id="874" name="组合 873"/>
            <p:cNvGrpSpPr/>
            <p:nvPr/>
          </p:nvGrpSpPr>
          <p:grpSpPr>
            <a:xfrm>
              <a:off x="4447554" y="1066337"/>
              <a:ext cx="3126160" cy="2432444"/>
              <a:chOff x="4447554" y="1016001"/>
              <a:chExt cx="3126160" cy="2432444"/>
            </a:xfrm>
          </p:grpSpPr>
          <p:sp>
            <p:nvSpPr>
              <p:cNvPr id="801" name="矩形: 圆顶角 800"/>
              <p:cNvSpPr/>
              <p:nvPr/>
            </p:nvSpPr>
            <p:spPr>
              <a:xfrm>
                <a:off x="4447555" y="1016001"/>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2" name="矩形: 圆顶角 801"/>
              <p:cNvSpPr/>
              <p:nvPr/>
            </p:nvSpPr>
            <p:spPr>
              <a:xfrm flipV="1">
                <a:off x="4447555" y="1347518"/>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803" name="组合 802"/>
              <p:cNvGrpSpPr/>
              <p:nvPr/>
            </p:nvGrpSpPr>
            <p:grpSpPr>
              <a:xfrm>
                <a:off x="7013935" y="1107351"/>
                <a:ext cx="425663" cy="101882"/>
                <a:chOff x="5298623" y="1396154"/>
                <a:chExt cx="507580" cy="121488"/>
              </a:xfrm>
            </p:grpSpPr>
            <p:sp>
              <p:nvSpPr>
                <p:cNvPr id="806" name="椭圆 805"/>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7" name="椭圆 806"/>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8" name="椭圆 807"/>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4" name="文本框 803"/>
              <p:cNvSpPr txBox="1"/>
              <p:nvPr/>
            </p:nvSpPr>
            <p:spPr>
              <a:xfrm>
                <a:off x="4529695" y="1051337"/>
                <a:ext cx="1507889"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转台中</a:t>
                </a:r>
                <a:endParaRPr lang="zh-CN" altLang="en-US" sz="1200" dirty="0">
                  <a:latin typeface="OPPOSans M" panose="00020600040101010101" charset="-122"/>
                  <a:ea typeface="OPPOSans M" panose="00020600040101010101" charset="-122"/>
                  <a:cs typeface="OPPOSans M" panose="00020600040101010101" charset="-122"/>
                </a:endParaRPr>
              </a:p>
            </p:txBody>
          </p:sp>
          <p:pic>
            <p:nvPicPr>
              <p:cNvPr id="869" name="图片 21" descr="C:/Users/MY/Desktop/中转台.png中转台"/>
              <p:cNvPicPr>
                <a:picLocks noChangeAspect="1"/>
              </p:cNvPicPr>
              <p:nvPr/>
            </p:nvPicPr>
            <p:blipFill>
              <a:blip r:embed="rId1"/>
              <a:srcRect l="33"/>
              <a:stretch>
                <a:fillRect/>
              </a:stretch>
            </p:blipFill>
            <p:spPr>
              <a:xfrm>
                <a:off x="4447554" y="1347517"/>
                <a:ext cx="3126159" cy="1954257"/>
              </a:xfrm>
              <a:prstGeom prst="rect">
                <a:avLst/>
              </a:prstGeom>
            </p:spPr>
          </p:pic>
        </p:grpSp>
        <p:grpSp>
          <p:nvGrpSpPr>
            <p:cNvPr id="877" name="组合 876"/>
            <p:cNvGrpSpPr/>
            <p:nvPr/>
          </p:nvGrpSpPr>
          <p:grpSpPr>
            <a:xfrm>
              <a:off x="4447554" y="3619041"/>
              <a:ext cx="3126160" cy="2432444"/>
              <a:chOff x="4447554" y="3764644"/>
              <a:chExt cx="3126160" cy="2432444"/>
            </a:xfrm>
          </p:grpSpPr>
          <p:sp>
            <p:nvSpPr>
              <p:cNvPr id="822" name="矩形: 圆顶角 821"/>
              <p:cNvSpPr/>
              <p:nvPr/>
            </p:nvSpPr>
            <p:spPr>
              <a:xfrm>
                <a:off x="4447555" y="3764644"/>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3" name="矩形: 圆顶角 822"/>
              <p:cNvSpPr/>
              <p:nvPr/>
            </p:nvSpPr>
            <p:spPr>
              <a:xfrm flipV="1">
                <a:off x="4447555" y="4096161"/>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824" name="组合 823"/>
              <p:cNvGrpSpPr/>
              <p:nvPr/>
            </p:nvGrpSpPr>
            <p:grpSpPr>
              <a:xfrm>
                <a:off x="7013935" y="3855994"/>
                <a:ext cx="425663" cy="101882"/>
                <a:chOff x="5298623" y="1396154"/>
                <a:chExt cx="507580" cy="121488"/>
              </a:xfrm>
            </p:grpSpPr>
            <p:sp>
              <p:nvSpPr>
                <p:cNvPr id="827" name="椭圆 826"/>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8" name="椭圆 827"/>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9" name="椭圆 828"/>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5" name="文本框 824"/>
              <p:cNvSpPr txBox="1"/>
              <p:nvPr/>
            </p:nvSpPr>
            <p:spPr>
              <a:xfrm>
                <a:off x="4529695" y="3799980"/>
                <a:ext cx="1507889"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机械狗</a:t>
                </a:r>
                <a:endParaRPr lang="zh-CN" altLang="en-US" sz="1200" dirty="0">
                  <a:latin typeface="OPPOSans M" panose="00020600040101010101" charset="-122"/>
                  <a:ea typeface="OPPOSans M" panose="00020600040101010101" charset="-122"/>
                  <a:cs typeface="OPPOSans M" panose="00020600040101010101" charset="-122"/>
                </a:endParaRPr>
              </a:p>
            </p:txBody>
          </p:sp>
          <p:pic>
            <p:nvPicPr>
              <p:cNvPr id="872" name="图片 35" descr="C:/Users/MY/Desktop/机械狗.png机械狗"/>
              <p:cNvPicPr>
                <a:picLocks noChangeAspect="1"/>
              </p:cNvPicPr>
              <p:nvPr/>
            </p:nvPicPr>
            <p:blipFill>
              <a:blip r:embed="rId2"/>
              <a:srcRect l="27"/>
              <a:stretch>
                <a:fillRect/>
              </a:stretch>
            </p:blipFill>
            <p:spPr>
              <a:xfrm>
                <a:off x="4447554" y="4096161"/>
                <a:ext cx="3126159" cy="1954418"/>
              </a:xfrm>
              <a:prstGeom prst="rect">
                <a:avLst/>
              </a:prstGeom>
            </p:spPr>
          </p:pic>
        </p:grpSp>
      </p:grpSp>
      <p:grpSp>
        <p:nvGrpSpPr>
          <p:cNvPr id="882" name="组合 881"/>
          <p:cNvGrpSpPr/>
          <p:nvPr/>
        </p:nvGrpSpPr>
        <p:grpSpPr>
          <a:xfrm>
            <a:off x="834459" y="1196963"/>
            <a:ext cx="10523083" cy="4985148"/>
            <a:chOff x="834459" y="1066337"/>
            <a:chExt cx="10523083" cy="4985148"/>
          </a:xfrm>
        </p:grpSpPr>
        <p:grpSp>
          <p:nvGrpSpPr>
            <p:cNvPr id="708" name="组合 707"/>
            <p:cNvGrpSpPr/>
            <p:nvPr/>
          </p:nvGrpSpPr>
          <p:grpSpPr>
            <a:xfrm>
              <a:off x="834459" y="1066337"/>
              <a:ext cx="3131683" cy="2432444"/>
              <a:chOff x="623888" y="1016001"/>
              <a:chExt cx="3131683" cy="2432444"/>
            </a:xfrm>
          </p:grpSpPr>
          <p:sp>
            <p:nvSpPr>
              <p:cNvPr id="717" name="矩形: 圆顶角 716"/>
              <p:cNvSpPr/>
              <p:nvPr/>
            </p:nvSpPr>
            <p:spPr>
              <a:xfrm>
                <a:off x="623889" y="1016001"/>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8" name="矩形: 圆顶角 717"/>
              <p:cNvSpPr/>
              <p:nvPr/>
            </p:nvSpPr>
            <p:spPr>
              <a:xfrm flipV="1">
                <a:off x="623889" y="1347518"/>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719" name="组合 718"/>
              <p:cNvGrpSpPr/>
              <p:nvPr/>
            </p:nvGrpSpPr>
            <p:grpSpPr>
              <a:xfrm>
                <a:off x="3190269" y="1107351"/>
                <a:ext cx="425663" cy="101882"/>
                <a:chOff x="5298623" y="1396154"/>
                <a:chExt cx="507580" cy="121488"/>
              </a:xfrm>
            </p:grpSpPr>
            <p:sp>
              <p:nvSpPr>
                <p:cNvPr id="720" name="椭圆 719"/>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1" name="椭圆 720"/>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2" name="椭圆 721"/>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25" name="文本框 724"/>
              <p:cNvSpPr txBox="1"/>
              <p:nvPr/>
            </p:nvSpPr>
            <p:spPr>
              <a:xfrm>
                <a:off x="706029" y="1051337"/>
                <a:ext cx="1507889" cy="300224"/>
              </a:xfrm>
              <a:prstGeom prst="rect">
                <a:avLst/>
              </a:prstGeom>
              <a:noFill/>
            </p:spPr>
            <p:txBody>
              <a:bodyPr wrap="square" rtlCol="0">
                <a:spAutoFit/>
              </a:bodyPr>
              <a:lstStyle/>
              <a:p>
                <a:r>
                  <a:rPr lang="en-US" altLang="zh-CN" sz="1200" dirty="0">
                    <a:latin typeface="OPPOSans M" panose="00020600040101010101" charset="-122"/>
                    <a:ea typeface="OPPOSans M" panose="00020600040101010101" charset="-122"/>
                    <a:cs typeface="OPPOSans M" panose="00020600040101010101" charset="-122"/>
                  </a:rPr>
                  <a:t>MCR</a:t>
                </a:r>
                <a:endParaRPr lang="en-US" altLang="zh-CN" sz="1200" dirty="0">
                  <a:latin typeface="OPPOSans M" panose="00020600040101010101" charset="-122"/>
                  <a:ea typeface="OPPOSans M" panose="00020600040101010101" charset="-122"/>
                  <a:cs typeface="OPPOSans M" panose="00020600040101010101" charset="-122"/>
                </a:endParaRPr>
              </a:p>
            </p:txBody>
          </p:sp>
          <p:pic>
            <p:nvPicPr>
              <p:cNvPr id="26" name="图片 20" descr="C:/Users/MY/Desktop/Mcr.pngMcr"/>
              <p:cNvPicPr>
                <a:picLocks noChangeAspect="1"/>
              </p:cNvPicPr>
              <p:nvPr/>
            </p:nvPicPr>
            <p:blipFill>
              <a:blip r:embed="rId3"/>
              <a:srcRect l="17" r="17"/>
              <a:stretch>
                <a:fillRect/>
              </a:stretch>
            </p:blipFill>
            <p:spPr>
              <a:xfrm>
                <a:off x="623888" y="1347518"/>
                <a:ext cx="3131683" cy="1957871"/>
              </a:xfrm>
              <a:prstGeom prst="rect">
                <a:avLst/>
              </a:prstGeom>
            </p:spPr>
          </p:pic>
        </p:grpSp>
        <p:grpSp>
          <p:nvGrpSpPr>
            <p:cNvPr id="875" name="组合 874"/>
            <p:cNvGrpSpPr/>
            <p:nvPr/>
          </p:nvGrpSpPr>
          <p:grpSpPr>
            <a:xfrm>
              <a:off x="8225860" y="1066337"/>
              <a:ext cx="3126159" cy="2432444"/>
              <a:chOff x="8225860" y="1016001"/>
              <a:chExt cx="3126159" cy="2432444"/>
            </a:xfrm>
          </p:grpSpPr>
          <p:sp>
            <p:nvSpPr>
              <p:cNvPr id="584" name="文本框 583"/>
              <p:cNvSpPr txBox="1"/>
              <p:nvPr/>
            </p:nvSpPr>
            <p:spPr>
              <a:xfrm>
                <a:off x="8494933" y="2513803"/>
                <a:ext cx="608530" cy="400110"/>
              </a:xfrm>
              <a:prstGeom prst="rect">
                <a:avLst/>
              </a:prstGeom>
              <a:noFill/>
            </p:spPr>
            <p:txBody>
              <a:bodyPr wrap="square" rtlCol="0">
                <a:spAutoFit/>
              </a:bodyPr>
              <a:lstStyle/>
              <a:p>
                <a:r>
                  <a:rPr lang="en-US" altLang="zh-CN"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01</a:t>
                </a:r>
                <a:endParaRPr lang="zh-CN" altLang="en-US" sz="20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831" name="矩形: 圆顶角 830"/>
              <p:cNvSpPr/>
              <p:nvPr/>
            </p:nvSpPr>
            <p:spPr>
              <a:xfrm>
                <a:off x="8225860" y="1016001"/>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2" name="矩形: 圆顶角 831"/>
              <p:cNvSpPr/>
              <p:nvPr/>
            </p:nvSpPr>
            <p:spPr>
              <a:xfrm flipV="1">
                <a:off x="8225860" y="1347518"/>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833" name="组合 832"/>
              <p:cNvGrpSpPr/>
              <p:nvPr/>
            </p:nvGrpSpPr>
            <p:grpSpPr>
              <a:xfrm>
                <a:off x="10792240" y="1107351"/>
                <a:ext cx="425663" cy="101882"/>
                <a:chOff x="5298623" y="1396154"/>
                <a:chExt cx="507580" cy="121488"/>
              </a:xfrm>
            </p:grpSpPr>
            <p:sp>
              <p:nvSpPr>
                <p:cNvPr id="836" name="椭圆 835"/>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7" name="椭圆 836"/>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8" name="椭圆 837"/>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4" name="文本框 833"/>
              <p:cNvSpPr txBox="1"/>
              <p:nvPr/>
            </p:nvSpPr>
            <p:spPr>
              <a:xfrm>
                <a:off x="8308000" y="1051337"/>
                <a:ext cx="1507889"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工作站</a:t>
                </a:r>
                <a:endParaRPr lang="zh-CN" altLang="en-US" sz="1200" dirty="0">
                  <a:latin typeface="OPPOSans M" panose="00020600040101010101" charset="-122"/>
                  <a:ea typeface="OPPOSans M" panose="00020600040101010101" charset="-122"/>
                  <a:cs typeface="OPPOSans M" panose="00020600040101010101" charset="-122"/>
                </a:endParaRPr>
              </a:p>
            </p:txBody>
          </p:sp>
          <p:pic>
            <p:nvPicPr>
              <p:cNvPr id="870" name="图片 22" descr="C:/Users/MY/Desktop/工作站.png工作站"/>
              <p:cNvPicPr>
                <a:picLocks noChangeAspect="1"/>
              </p:cNvPicPr>
              <p:nvPr/>
            </p:nvPicPr>
            <p:blipFill>
              <a:blip r:embed="rId4"/>
              <a:srcRect l="34"/>
              <a:stretch>
                <a:fillRect/>
              </a:stretch>
            </p:blipFill>
            <p:spPr>
              <a:xfrm>
                <a:off x="8230386" y="1347517"/>
                <a:ext cx="3116479" cy="1948291"/>
              </a:xfrm>
              <a:prstGeom prst="rect">
                <a:avLst/>
              </a:prstGeom>
            </p:spPr>
          </p:pic>
        </p:grpSp>
        <p:grpSp>
          <p:nvGrpSpPr>
            <p:cNvPr id="878" name="组合 877"/>
            <p:cNvGrpSpPr/>
            <p:nvPr/>
          </p:nvGrpSpPr>
          <p:grpSpPr>
            <a:xfrm>
              <a:off x="834459" y="3619041"/>
              <a:ext cx="3131683" cy="2432444"/>
              <a:chOff x="834459" y="3764644"/>
              <a:chExt cx="3131683" cy="2432444"/>
            </a:xfrm>
          </p:grpSpPr>
          <p:sp>
            <p:nvSpPr>
              <p:cNvPr id="792" name="矩形: 圆顶角 791"/>
              <p:cNvSpPr/>
              <p:nvPr/>
            </p:nvSpPr>
            <p:spPr>
              <a:xfrm>
                <a:off x="834460" y="3764644"/>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3" name="矩形: 圆顶角 792"/>
              <p:cNvSpPr/>
              <p:nvPr/>
            </p:nvSpPr>
            <p:spPr>
              <a:xfrm flipV="1">
                <a:off x="834460" y="4096161"/>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794" name="组合 793"/>
              <p:cNvGrpSpPr/>
              <p:nvPr/>
            </p:nvGrpSpPr>
            <p:grpSpPr>
              <a:xfrm>
                <a:off x="3400840" y="3855994"/>
                <a:ext cx="425663" cy="101882"/>
                <a:chOff x="5298623" y="1396154"/>
                <a:chExt cx="507580" cy="121488"/>
              </a:xfrm>
            </p:grpSpPr>
            <p:sp>
              <p:nvSpPr>
                <p:cNvPr id="797" name="椭圆 796"/>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8" name="椭圆 797"/>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9" name="椭圆 798"/>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95" name="文本框 794"/>
              <p:cNvSpPr txBox="1"/>
              <p:nvPr/>
            </p:nvSpPr>
            <p:spPr>
              <a:xfrm>
                <a:off x="916600" y="3799980"/>
                <a:ext cx="1507889"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人形机器人</a:t>
                </a:r>
                <a:endParaRPr lang="zh-CN" altLang="en-US" sz="1200" dirty="0">
                  <a:latin typeface="OPPOSans M" panose="00020600040101010101" charset="-122"/>
                  <a:ea typeface="OPPOSans M" panose="00020600040101010101" charset="-122"/>
                  <a:cs typeface="OPPOSans M" panose="00020600040101010101" charset="-122"/>
                </a:endParaRPr>
              </a:p>
            </p:txBody>
          </p:sp>
          <p:pic>
            <p:nvPicPr>
              <p:cNvPr id="871" name="图片 34" descr="C:/Users/MY/Desktop/人形机器人.png人形机器人"/>
              <p:cNvPicPr>
                <a:picLocks noChangeAspect="1"/>
              </p:cNvPicPr>
              <p:nvPr/>
            </p:nvPicPr>
            <p:blipFill>
              <a:blip r:embed="rId5"/>
              <a:srcRect l="27"/>
              <a:stretch>
                <a:fillRect/>
              </a:stretch>
            </p:blipFill>
            <p:spPr>
              <a:xfrm>
                <a:off x="834459" y="4096161"/>
                <a:ext cx="3131683" cy="1957871"/>
              </a:xfrm>
              <a:prstGeom prst="rect">
                <a:avLst/>
              </a:prstGeom>
            </p:spPr>
          </p:pic>
        </p:grpSp>
        <p:grpSp>
          <p:nvGrpSpPr>
            <p:cNvPr id="876" name="组合 875"/>
            <p:cNvGrpSpPr/>
            <p:nvPr/>
          </p:nvGrpSpPr>
          <p:grpSpPr>
            <a:xfrm>
              <a:off x="8225859" y="3619041"/>
              <a:ext cx="3131683" cy="2432444"/>
              <a:chOff x="8225859" y="3764644"/>
              <a:chExt cx="3131683" cy="2432444"/>
            </a:xfrm>
          </p:grpSpPr>
          <p:sp>
            <p:nvSpPr>
              <p:cNvPr id="840" name="矩形: 圆顶角 839"/>
              <p:cNvSpPr/>
              <p:nvPr/>
            </p:nvSpPr>
            <p:spPr>
              <a:xfrm>
                <a:off x="8225860" y="3764644"/>
                <a:ext cx="3126159" cy="465562"/>
              </a:xfrm>
              <a:prstGeom prst="round2SameRect">
                <a:avLst>
                  <a:gd name="adj1" fmla="val 30814"/>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5" name="矩形: 圆顶角 854"/>
              <p:cNvSpPr/>
              <p:nvPr/>
            </p:nvSpPr>
            <p:spPr>
              <a:xfrm flipV="1">
                <a:off x="8225860" y="4096161"/>
                <a:ext cx="3126159" cy="2100927"/>
              </a:xfrm>
              <a:prstGeom prst="round2SameRect">
                <a:avLst>
                  <a:gd name="adj1" fmla="val 4468"/>
                  <a:gd name="adj2" fmla="val 0"/>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nvGrpSpPr>
              <p:cNvPr id="856" name="组合 855"/>
              <p:cNvGrpSpPr/>
              <p:nvPr/>
            </p:nvGrpSpPr>
            <p:grpSpPr>
              <a:xfrm>
                <a:off x="10792240" y="3855994"/>
                <a:ext cx="425663" cy="101882"/>
                <a:chOff x="5298623" y="1396154"/>
                <a:chExt cx="507580" cy="121488"/>
              </a:xfrm>
            </p:grpSpPr>
            <p:sp>
              <p:nvSpPr>
                <p:cNvPr id="859" name="椭圆 85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0" name="椭圆 85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1" name="椭圆 86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7" name="文本框 856"/>
              <p:cNvSpPr txBox="1"/>
              <p:nvPr/>
            </p:nvSpPr>
            <p:spPr>
              <a:xfrm>
                <a:off x="8308000" y="3799980"/>
                <a:ext cx="1507889" cy="276999"/>
              </a:xfrm>
              <a:prstGeom prst="rect">
                <a:avLst/>
              </a:prstGeom>
              <a:noFill/>
            </p:spPr>
            <p:txBody>
              <a:bodyPr wrap="square" rtlCol="0">
                <a:spAutoFit/>
              </a:bodyPr>
              <a:lstStyle/>
              <a:p>
                <a:r>
                  <a:rPr lang="zh-CN" altLang="en-US" sz="1200" dirty="0">
                    <a:latin typeface="OPPOSans M" panose="00020600040101010101" charset="-122"/>
                    <a:ea typeface="OPPOSans M" panose="00020600040101010101" charset="-122"/>
                    <a:cs typeface="OPPOSans M" panose="00020600040101010101" charset="-122"/>
                  </a:rPr>
                  <a:t>叉车</a:t>
                </a:r>
                <a:endParaRPr lang="zh-CN" altLang="en-US" sz="1200" dirty="0">
                  <a:latin typeface="OPPOSans M" panose="00020600040101010101" charset="-122"/>
                  <a:ea typeface="OPPOSans M" panose="00020600040101010101" charset="-122"/>
                  <a:cs typeface="OPPOSans M" panose="00020600040101010101" charset="-122"/>
                </a:endParaRPr>
              </a:p>
            </p:txBody>
          </p:sp>
          <p:pic>
            <p:nvPicPr>
              <p:cNvPr id="873" name="图片 30" descr="C:/Users/MY/Desktop/叉车.png叉车"/>
              <p:cNvPicPr>
                <a:picLocks noChangeAspect="1"/>
              </p:cNvPicPr>
              <p:nvPr/>
            </p:nvPicPr>
            <p:blipFill>
              <a:blip r:embed="rId6"/>
              <a:srcRect l="27"/>
              <a:stretch>
                <a:fillRect/>
              </a:stretch>
            </p:blipFill>
            <p:spPr>
              <a:xfrm>
                <a:off x="8225859" y="4096160"/>
                <a:ext cx="3131683" cy="1957871"/>
              </a:xfrm>
              <a:prstGeom prst="rect">
                <a:avLst/>
              </a:prstGeom>
            </p:spPr>
          </p:pic>
        </p:grpSp>
      </p:grpSp>
      <p:sp>
        <p:nvSpPr>
          <p:cNvPr id="885" name="subtitle"/>
          <p:cNvSpPr>
            <a:spLocks noGrp="1"/>
          </p:cNvSpPr>
          <p:nvPr/>
        </p:nvSpPr>
        <p:spPr>
          <a:xfrm>
            <a:off x="-635" y="474221"/>
            <a:ext cx="12192635" cy="554479"/>
          </a:xfrm>
          <a:prstGeom prst="rect">
            <a:avLst/>
          </a:prstGeom>
          <a:noFill/>
          <a:ln w="0">
            <a:noFill/>
            <a:prstDash val="solid"/>
          </a:ln>
        </p:spPr>
        <p:txBody>
          <a:bodyPr anchor="ctr"/>
          <a:lstStyle/>
          <a:p>
            <a:pPr algn="ctr"/>
            <a:r>
              <a:rPr lang="zh-CN" altLang="en-US" sz="1400" dirty="0">
                <a:solidFill>
                  <a:schemeClr val="tx1">
                    <a:lumMod val="95000"/>
                    <a:lumOff val="5000"/>
                  </a:schemeClr>
                </a:solidFill>
                <a:latin typeface="OPPOSans M" panose="00020600040101010101" charset="-122"/>
                <a:ea typeface="OPPOSans M" panose="00020600040101010101" charset="-122"/>
              </a:rPr>
              <a:t>将不同类型设备转换为一致的能力对象</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545420" y="1019171"/>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39" name="矩形: 圆角 38"/>
          <p:cNvSpPr/>
          <p:nvPr/>
        </p:nvSpPr>
        <p:spPr>
          <a:xfrm>
            <a:off x="4341813" y="1019171"/>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45" name="矩形: 圆角 44"/>
          <p:cNvSpPr/>
          <p:nvPr/>
        </p:nvSpPr>
        <p:spPr>
          <a:xfrm>
            <a:off x="8138206" y="1019171"/>
            <a:ext cx="3508375" cy="1199113"/>
          </a:xfrm>
          <a:prstGeom prst="roundRect">
            <a:avLst>
              <a:gd name="adj" fmla="val 1205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708" name="矩形: 圆角 707"/>
          <p:cNvSpPr/>
          <p:nvPr/>
        </p:nvSpPr>
        <p:spPr>
          <a:xfrm>
            <a:off x="545420" y="5564682"/>
            <a:ext cx="11107484" cy="571499"/>
          </a:xfrm>
          <a:prstGeom prst="roundRect">
            <a:avLst>
              <a:gd name="adj" fmla="val 25385"/>
            </a:avLst>
          </a:prstGeom>
          <a:solidFill>
            <a:schemeClr val="bg1"/>
          </a:solidFill>
          <a:ln>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51" name="矩形: 圆角 50"/>
          <p:cNvSpPr/>
          <p:nvPr/>
        </p:nvSpPr>
        <p:spPr>
          <a:xfrm>
            <a:off x="545420" y="2795103"/>
            <a:ext cx="2571750" cy="2498706"/>
          </a:xfrm>
          <a:prstGeom prst="roundRect">
            <a:avLst>
              <a:gd name="adj" fmla="val 586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3" name="subtitle"/>
          <p:cNvSpPr>
            <a:spLocks noGrp="1"/>
          </p:cNvSpPr>
          <p:nvPr/>
        </p:nvSpPr>
        <p:spPr>
          <a:xfrm>
            <a:off x="0" y="4615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rPr>
              <a:t>统一采集异常、日志、操作和维修记录，支持故障回放与全生命周期追溯，并将现场反馈回流设备、插件与场景资产</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4" name="文本框 3"/>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百川运维</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让运行问题形成可追溯可复用的反馈闭环</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615" name="core-cap-body-0"/>
          <p:cNvSpPr>
            <a:spLocks noGrp="1"/>
          </p:cNvSpPr>
          <p:nvPr/>
        </p:nvSpPr>
        <p:spPr>
          <a:xfrm>
            <a:off x="647109" y="1495206"/>
            <a:ext cx="3287582" cy="476250"/>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B" panose="00020600040101010101" charset="-122"/>
                <a:ea typeface="OPPOSans B" panose="00020600040101010101" charset="-122"/>
                <a:cs typeface="OPPOSans B" panose="00020600040101010101" charset="-122"/>
              </a:rPr>
              <a:t>持续采集驱动、插件、任务、设备状态、操作和系统日志，统一时间与追踪标识</a:t>
            </a:r>
            <a:endParaRPr lang="zh-CN" altLang="en-US" sz="9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637" name="primary-fn-body-0"/>
          <p:cNvSpPr>
            <a:spLocks noGrp="1"/>
          </p:cNvSpPr>
          <p:nvPr/>
        </p:nvSpPr>
        <p:spPr>
          <a:xfrm>
            <a:off x="1596230" y="2820952"/>
            <a:ext cx="1520940" cy="603812"/>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按设备、模块、严重等级和时间聚合异常与告警</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60" name="shared-body"/>
          <p:cNvSpPr>
            <a:spLocks noGrp="1"/>
          </p:cNvSpPr>
          <p:nvPr/>
        </p:nvSpPr>
        <p:spPr>
          <a:xfrm>
            <a:off x="4697186" y="5688506"/>
            <a:ext cx="5314561" cy="323850"/>
          </a:xfrm>
          <a:prstGeom prst="rect">
            <a:avLst/>
          </a:prstGeom>
          <a:noFill/>
          <a:ln w="0">
            <a:noFill/>
            <a:prstDash val="solid"/>
          </a:ln>
        </p:spPr>
        <p:txBody>
          <a:bodyPr anchor="ctr"/>
          <a:lstStyle/>
          <a:p>
            <a:pPr algn="l">
              <a:buNone/>
              <a:defRPr sz="1125"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事件采集</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日志汇聚</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状态存储</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数据关联</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服务追踪</a:t>
            </a:r>
            <a:r>
              <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生命周期记录</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 name="callout-text"/>
          <p:cNvSpPr>
            <a:spLocks noGrp="1"/>
          </p:cNvSpPr>
          <p:nvPr/>
        </p:nvSpPr>
        <p:spPr>
          <a:xfrm>
            <a:off x="263525" y="6250104"/>
            <a:ext cx="11664950" cy="337214"/>
          </a:xfrm>
          <a:prstGeom prst="rect">
            <a:avLst/>
          </a:prstGeom>
          <a:noFill/>
          <a:ln w="0">
            <a:noFill/>
            <a:prstDash val="solid"/>
          </a:ln>
        </p:spPr>
        <p:txBody>
          <a:bodyPr anchor="ctr">
            <a:noAutofit/>
          </a:bodyPr>
          <a:lstStyle/>
          <a:p>
            <a:pPr algn="ctr"/>
            <a:r>
              <a:rPr lang="zh-CN" altLang="en-US" sz="900" dirty="0">
                <a:solidFill>
                  <a:srgbClr val="000000"/>
                </a:solidFill>
                <a:latin typeface="+mn-ea"/>
                <a:cs typeface="OPPOSans M" panose="00020600040101010101" charset="-122"/>
                <a:sym typeface="+mn-ea"/>
              </a:rPr>
              <a:t>百川运维不是独立的日志查看器</a:t>
            </a:r>
            <a:r>
              <a:rPr lang="en-US" altLang="zh-CN" sz="900" dirty="0">
                <a:solidFill>
                  <a:srgbClr val="000000"/>
                </a:solidFill>
                <a:latin typeface="+mn-ea"/>
                <a:cs typeface="OPPOSans M" panose="00020600040101010101" charset="-122"/>
                <a:sym typeface="+mn-ea"/>
              </a:rPr>
              <a:t>.,</a:t>
            </a:r>
            <a:r>
              <a:rPr lang="zh-CN" altLang="en-US" sz="900" dirty="0">
                <a:solidFill>
                  <a:srgbClr val="000000"/>
                </a:solidFill>
                <a:latin typeface="+mn-ea"/>
                <a:cs typeface="OPPOSans M" panose="00020600040101010101" charset="-122"/>
                <a:sym typeface="+mn-ea"/>
              </a:rPr>
              <a:t>而是把运行数据、维修过程和问题经验沉淀为持续改进资产的设备黑匣子</a:t>
            </a:r>
            <a:endParaRPr lang="zh-CN" altLang="en-US" sz="900" b="0" dirty="0">
              <a:solidFill>
                <a:srgbClr val="000000"/>
              </a:solidFill>
              <a:latin typeface="+mn-ea"/>
              <a:cs typeface="OPPOSans M" panose="00020600040101010101" charset="-122"/>
              <a:sym typeface="+mn-ea"/>
            </a:endParaRPr>
          </a:p>
        </p:txBody>
      </p:sp>
      <p:sp>
        <p:nvSpPr>
          <p:cNvPr id="18" name="文本框 17"/>
          <p:cNvSpPr txBox="1"/>
          <p:nvPr/>
        </p:nvSpPr>
        <p:spPr>
          <a:xfrm>
            <a:off x="3639403" y="1103395"/>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01</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19" name="core-cap-body-0"/>
          <p:cNvSpPr>
            <a:spLocks noGrp="1"/>
          </p:cNvSpPr>
          <p:nvPr/>
        </p:nvSpPr>
        <p:spPr>
          <a:xfrm>
            <a:off x="545674" y="1891848"/>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8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结果</a:t>
            </a:r>
            <a:r>
              <a:rPr lang="en-US" altLang="zh-CN" sz="8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8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更换品牌或构型上层业务仍可复用</a:t>
            </a:r>
            <a:endParaRPr sz="800" b="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41" name="core-cap-body-0"/>
          <p:cNvSpPr>
            <a:spLocks noGrp="1"/>
          </p:cNvSpPr>
          <p:nvPr/>
        </p:nvSpPr>
        <p:spPr>
          <a:xfrm>
            <a:off x="4444064" y="1495206"/>
            <a:ext cx="3300628" cy="476250"/>
          </a:xfrm>
          <a:prstGeom prst="rect">
            <a:avLst/>
          </a:prstGeom>
          <a:noFill/>
          <a:ln w="0">
            <a:noFill/>
            <a:prstDash val="solid"/>
          </a:ln>
        </p:spPr>
        <p:txBody>
          <a:bodyPr anchor="ctr"/>
          <a:lstStyle/>
          <a:p>
            <a:pPr algn="ctr">
              <a:lnSpc>
                <a:spcPct val="150000"/>
              </a:lnSpc>
              <a:defRPr sz="1050" b="0">
                <a:solidFill>
                  <a:srgbClr val="5E6978"/>
                </a:solidFill>
              </a:defRPr>
            </a:pPr>
            <a:r>
              <a:rPr lang="zh-CN" altLang="en-US" sz="900" dirty="0">
                <a:solidFill>
                  <a:srgbClr val="000000"/>
                </a:solidFill>
                <a:latin typeface="OPPOSans B" panose="00020600040101010101" charset="-122"/>
                <a:ea typeface="OPPOSans B" panose="00020600040101010101" charset="-122"/>
                <a:cs typeface="OPPOSans B" panose="00020600040101010101" charset="-122"/>
              </a:rPr>
              <a:t>关联告警、事件、参数、任务轨迹和关键数据，支持问题复现与根因分析</a:t>
            </a:r>
            <a:endParaRPr lang="zh-CN" altLang="en-US" sz="9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42" name="文本框 41"/>
          <p:cNvSpPr txBox="1"/>
          <p:nvPr/>
        </p:nvSpPr>
        <p:spPr>
          <a:xfrm>
            <a:off x="7416746" y="1103395"/>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02</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47" name="core-cap-body-0"/>
          <p:cNvSpPr>
            <a:spLocks noGrp="1"/>
          </p:cNvSpPr>
          <p:nvPr/>
        </p:nvSpPr>
        <p:spPr>
          <a:xfrm>
            <a:off x="8232595" y="1495206"/>
            <a:ext cx="3312296" cy="476250"/>
          </a:xfrm>
          <a:prstGeom prst="rect">
            <a:avLst/>
          </a:prstGeom>
          <a:noFill/>
          <a:ln w="0">
            <a:noFill/>
            <a:prstDash val="solid"/>
          </a:ln>
        </p:spPr>
        <p:txBody>
          <a:bodyPr anchor="ctr"/>
          <a:lstStyle/>
          <a:p>
            <a:pPr algn="ctr">
              <a:lnSpc>
                <a:spcPct val="150000"/>
              </a:lnSpc>
              <a:buNone/>
              <a:defRPr sz="1050" b="0">
                <a:solidFill>
                  <a:srgbClr val="5E6978"/>
                </a:solidFill>
              </a:defRPr>
            </a:pPr>
            <a:r>
              <a:rPr lang="zh-CN" altLang="en-US" sz="900" dirty="0">
                <a:solidFill>
                  <a:srgbClr val="000000"/>
                </a:solidFill>
                <a:latin typeface="OPPOSans B" panose="00020600040101010101" charset="-122"/>
                <a:ea typeface="OPPOSans B" panose="00020600040101010101" charset="-122"/>
                <a:cs typeface="OPPOSans B" panose="00020600040101010101" charset="-122"/>
              </a:rPr>
              <a:t>记录维修、模组更换、标定、升级、配置和责任主体，形成设备全生命周期档案</a:t>
            </a:r>
            <a:endParaRPr lang="zh-CN" altLang="en-US" sz="900" dirty="0">
              <a:solidFill>
                <a:srgbClr val="000000"/>
              </a:solidFill>
              <a:latin typeface="OPPOSans B" panose="00020600040101010101" charset="-122"/>
              <a:ea typeface="OPPOSans B" panose="00020600040101010101" charset="-122"/>
              <a:cs typeface="OPPOSans B" panose="00020600040101010101" charset="-122"/>
            </a:endParaRPr>
          </a:p>
        </p:txBody>
      </p:sp>
      <p:sp>
        <p:nvSpPr>
          <p:cNvPr id="48" name="文本框 47"/>
          <p:cNvSpPr txBox="1"/>
          <p:nvPr/>
        </p:nvSpPr>
        <p:spPr>
          <a:xfrm>
            <a:off x="11232189" y="1103395"/>
            <a:ext cx="421422" cy="307777"/>
          </a:xfrm>
          <a:prstGeom prst="rect">
            <a:avLst/>
          </a:prstGeom>
          <a:noFill/>
        </p:spPr>
        <p:txBody>
          <a:bodyPr wrap="square" rtlCol="0">
            <a:spAutoFit/>
          </a:bodyPr>
          <a:lstStyle/>
          <a:p>
            <a:r>
              <a:rPr lang="en-US" altLang="zh-CN" sz="1400" dirty="0">
                <a:solidFill>
                  <a:srgbClr val="BF1920"/>
                </a:solidFill>
                <a:latin typeface="+mj-lt"/>
                <a:ea typeface="OPPOSans M" panose="00020600040101010101" charset="-122"/>
                <a:cs typeface="OPPOSans M" panose="00020600040101010101" charset="-122"/>
              </a:rPr>
              <a:t>03</a:t>
            </a:r>
            <a:endParaRPr lang="zh-CN" altLang="en-US" sz="1400" dirty="0">
              <a:solidFill>
                <a:srgbClr val="BF1920"/>
              </a:solidFill>
              <a:latin typeface="+mj-lt"/>
              <a:ea typeface="OPPOSans M" panose="00020600040101010101" charset="-122"/>
              <a:cs typeface="OPPOSans M" panose="00020600040101010101" charset="-122"/>
            </a:endParaRPr>
          </a:p>
        </p:txBody>
      </p:sp>
      <p:sp>
        <p:nvSpPr>
          <p:cNvPr id="581" name="文本框 580"/>
          <p:cNvSpPr txBox="1"/>
          <p:nvPr/>
        </p:nvSpPr>
        <p:spPr>
          <a:xfrm>
            <a:off x="620890" y="290322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异常告警</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583" name="文本框 582"/>
          <p:cNvSpPr txBox="1"/>
          <p:nvPr/>
        </p:nvSpPr>
        <p:spPr>
          <a:xfrm>
            <a:off x="647109" y="3151859"/>
            <a:ext cx="760670" cy="246221"/>
          </a:xfrm>
          <a:prstGeom prst="rect">
            <a:avLst/>
          </a:prstGeom>
          <a:noFill/>
        </p:spPr>
        <p:txBody>
          <a:bodyPr wrap="square" rtlCol="0">
            <a:spAutoFit/>
          </a:bodyPr>
          <a:lstStyle/>
          <a:p>
            <a:r>
              <a:rPr lang="zh-CN" altLang="en-US" sz="1000" dirty="0">
                <a:latin typeface="+mj-ea"/>
                <a:ea typeface="+mj-ea"/>
              </a:rPr>
              <a:t>统一事件</a:t>
            </a:r>
            <a:endParaRPr lang="zh-CN" altLang="en-US" sz="1000" dirty="0">
              <a:latin typeface="+mj-ea"/>
              <a:ea typeface="+mj-ea"/>
            </a:endParaRPr>
          </a:p>
        </p:txBody>
      </p:sp>
      <p:sp>
        <p:nvSpPr>
          <p:cNvPr id="584" name="文本框 583"/>
          <p:cNvSpPr txBox="1"/>
          <p:nvPr/>
        </p:nvSpPr>
        <p:spPr>
          <a:xfrm>
            <a:off x="620890" y="3356319"/>
            <a:ext cx="1477560" cy="338554"/>
          </a:xfrm>
          <a:prstGeom prst="rect">
            <a:avLst/>
          </a:prstGeom>
          <a:noFill/>
        </p:spPr>
        <p:txBody>
          <a:bodyPr wrap="square" rtlCol="0">
            <a:spAutoFit/>
          </a:bodyPr>
          <a:lstStyle/>
          <a:p>
            <a:r>
              <a:rPr lang="en-US" altLang="zh-CN"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1</a:t>
            </a:r>
            <a:endParaRPr lang="zh-CN" altLang="en-US"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687" name="矩形: 圆角 686"/>
          <p:cNvSpPr/>
          <p:nvPr/>
        </p:nvSpPr>
        <p:spPr>
          <a:xfrm>
            <a:off x="3388557" y="2795103"/>
            <a:ext cx="2571750" cy="2498706"/>
          </a:xfrm>
          <a:prstGeom prst="roundRect">
            <a:avLst>
              <a:gd name="adj" fmla="val 586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693" name="矩形: 圆角 692"/>
          <p:cNvSpPr/>
          <p:nvPr/>
        </p:nvSpPr>
        <p:spPr>
          <a:xfrm>
            <a:off x="6231694" y="2795103"/>
            <a:ext cx="2571750" cy="2498706"/>
          </a:xfrm>
          <a:prstGeom prst="roundRect">
            <a:avLst>
              <a:gd name="adj" fmla="val 586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699" name="矩形: 圆角 698"/>
          <p:cNvSpPr/>
          <p:nvPr/>
        </p:nvSpPr>
        <p:spPr>
          <a:xfrm>
            <a:off x="9074831" y="2795103"/>
            <a:ext cx="2571750" cy="2498706"/>
          </a:xfrm>
          <a:prstGeom prst="roundRect">
            <a:avLst>
              <a:gd name="adj" fmla="val 5861"/>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709" name="文本框 708"/>
          <p:cNvSpPr txBox="1"/>
          <p:nvPr/>
        </p:nvSpPr>
        <p:spPr>
          <a:xfrm>
            <a:off x="620890" y="569654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百川集成</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710" name="文本框 709"/>
          <p:cNvSpPr txBox="1"/>
          <p:nvPr/>
        </p:nvSpPr>
        <p:spPr>
          <a:xfrm>
            <a:off x="1622639" y="5727321"/>
            <a:ext cx="760670" cy="246221"/>
          </a:xfrm>
          <a:prstGeom prst="rect">
            <a:avLst/>
          </a:prstGeom>
          <a:noFill/>
        </p:spPr>
        <p:txBody>
          <a:bodyPr wrap="square" rtlCol="0">
            <a:spAutoFit/>
          </a:bodyPr>
          <a:lstStyle/>
          <a:p>
            <a:r>
              <a:rPr lang="zh-CN" altLang="en-US" sz="1000" dirty="0">
                <a:latin typeface="+mj-ea"/>
                <a:ea typeface="+mj-ea"/>
              </a:rPr>
              <a:t>共享后台</a:t>
            </a:r>
            <a:endParaRPr lang="zh-CN" altLang="en-US" sz="1000" dirty="0">
              <a:latin typeface="+mj-ea"/>
              <a:ea typeface="+mj-ea"/>
            </a:endParaRPr>
          </a:p>
        </p:txBody>
      </p:sp>
      <p:sp>
        <p:nvSpPr>
          <p:cNvPr id="713" name="文本框 712"/>
          <p:cNvSpPr txBox="1"/>
          <p:nvPr/>
        </p:nvSpPr>
        <p:spPr>
          <a:xfrm>
            <a:off x="5439121" y="2369080"/>
            <a:ext cx="1313759" cy="307777"/>
          </a:xfrm>
          <a:prstGeom prst="rect">
            <a:avLst/>
          </a:prstGeom>
          <a:noFill/>
        </p:spPr>
        <p:txBody>
          <a:bodyPr wrap="square" rtlCol="0">
            <a:spAutoFit/>
          </a:bodyPr>
          <a:lstStyle/>
          <a:p>
            <a:r>
              <a:rPr lang="zh-CN" altLang="en-US" sz="1400" dirty="0">
                <a:solidFill>
                  <a:srgbClr val="BF1920"/>
                </a:solidFill>
                <a:latin typeface="OPPOSans B" panose="00020600040101010101" charset="-122"/>
                <a:ea typeface="OPPOSans B" panose="00020600040101010101" charset="-122"/>
                <a:cs typeface="OPPOSans B" panose="00020600040101010101" charset="-122"/>
              </a:rPr>
              <a:t>运维关键功能</a:t>
            </a:r>
            <a:endParaRPr lang="zh-CN" altLang="en-US" sz="1400" dirty="0">
              <a:solidFill>
                <a:srgbClr val="BF1920"/>
              </a:solidFill>
              <a:latin typeface="OPPOSans B" panose="00020600040101010101" charset="-122"/>
              <a:ea typeface="OPPOSans B" panose="00020600040101010101" charset="-122"/>
              <a:cs typeface="OPPOSans B" panose="00020600040101010101" charset="-122"/>
            </a:endParaRPr>
          </a:p>
        </p:txBody>
      </p:sp>
      <p:sp>
        <p:nvSpPr>
          <p:cNvPr id="23" name="core-cap-body-0"/>
          <p:cNvSpPr>
            <a:spLocks noGrp="1"/>
          </p:cNvSpPr>
          <p:nvPr/>
        </p:nvSpPr>
        <p:spPr>
          <a:xfrm>
            <a:off x="4325939" y="1891848"/>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价值</a:t>
            </a:r>
            <a:r>
              <a:rPr lang="en-US" altLang="zh-CN"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从被动查日志转向结构化诊断</a:t>
            </a:r>
            <a:endParaRPr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28" name="core-cap-body-0"/>
          <p:cNvSpPr>
            <a:spLocks noGrp="1"/>
          </p:cNvSpPr>
          <p:nvPr/>
        </p:nvSpPr>
        <p:spPr>
          <a:xfrm>
            <a:off x="8138214" y="1891848"/>
            <a:ext cx="3524249" cy="337213"/>
          </a:xfrm>
          <a:prstGeom prst="rect">
            <a:avLst/>
          </a:prstGeom>
          <a:noFill/>
          <a:ln w="0">
            <a:noFill/>
            <a:prstDash val="solid"/>
          </a:ln>
        </p:spPr>
        <p:txBody>
          <a:bodyPr anchor="ctr"/>
          <a:lstStyle/>
          <a:p>
            <a:pPr algn="ctr">
              <a:buNone/>
              <a:defRPr sz="1050" b="0">
                <a:solidFill>
                  <a:srgbClr val="5E6978"/>
                </a:solidFill>
              </a:defRPr>
            </a:pPr>
            <a:r>
              <a:rPr lang="zh-CN" altLang="en-US"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价值</a:t>
            </a:r>
            <a:r>
              <a:rPr lang="en-US" altLang="zh-CN"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a:t>
            </a:r>
            <a:r>
              <a:rPr lang="zh-CN" altLang="en-US"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让每次变更有记录、可审计、可复用</a:t>
            </a:r>
            <a:endParaRPr sz="8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53" name="primary-fn-body-0"/>
          <p:cNvSpPr>
            <a:spLocks noGrp="1"/>
          </p:cNvSpPr>
          <p:nvPr/>
        </p:nvSpPr>
        <p:spPr>
          <a:xfrm>
            <a:off x="4444063" y="2820952"/>
            <a:ext cx="1520940" cy="603812"/>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关联日志、任务、数据和操作记录，重现问题现场</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54" name="文本框 53"/>
          <p:cNvSpPr txBox="1"/>
          <p:nvPr/>
        </p:nvSpPr>
        <p:spPr>
          <a:xfrm>
            <a:off x="3468723" y="290322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日志回放</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55" name="文本框 54"/>
          <p:cNvSpPr txBox="1"/>
          <p:nvPr/>
        </p:nvSpPr>
        <p:spPr>
          <a:xfrm>
            <a:off x="3494942" y="3151859"/>
            <a:ext cx="760670" cy="246221"/>
          </a:xfrm>
          <a:prstGeom prst="rect">
            <a:avLst/>
          </a:prstGeom>
          <a:noFill/>
        </p:spPr>
        <p:txBody>
          <a:bodyPr wrap="square" rtlCol="0">
            <a:spAutoFit/>
          </a:bodyPr>
          <a:lstStyle/>
          <a:p>
            <a:r>
              <a:rPr lang="zh-CN" altLang="en-US" sz="1000" dirty="0">
                <a:latin typeface="+mj-ea"/>
                <a:ea typeface="+mj-ea"/>
              </a:rPr>
              <a:t>快速定位</a:t>
            </a:r>
            <a:endParaRPr lang="zh-CN" altLang="en-US" sz="1000" dirty="0">
              <a:latin typeface="+mj-ea"/>
              <a:ea typeface="+mj-ea"/>
            </a:endParaRPr>
          </a:p>
        </p:txBody>
      </p:sp>
      <p:sp>
        <p:nvSpPr>
          <p:cNvPr id="59" name="primary-fn-body-0"/>
          <p:cNvSpPr>
            <a:spLocks noGrp="1"/>
          </p:cNvSpPr>
          <p:nvPr/>
        </p:nvSpPr>
        <p:spPr>
          <a:xfrm>
            <a:off x="7291896" y="2820952"/>
            <a:ext cx="1520940" cy="603812"/>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记录维修、换件、标定、版本和参数变更</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0" name="文本框 59"/>
          <p:cNvSpPr txBox="1"/>
          <p:nvPr/>
        </p:nvSpPr>
        <p:spPr>
          <a:xfrm>
            <a:off x="6316556" y="290322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维修追溯</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61" name="文本框 60"/>
          <p:cNvSpPr txBox="1"/>
          <p:nvPr/>
        </p:nvSpPr>
        <p:spPr>
          <a:xfrm>
            <a:off x="6342775" y="3151859"/>
            <a:ext cx="760670" cy="246221"/>
          </a:xfrm>
          <a:prstGeom prst="rect">
            <a:avLst/>
          </a:prstGeom>
          <a:noFill/>
        </p:spPr>
        <p:txBody>
          <a:bodyPr wrap="square" rtlCol="0">
            <a:spAutoFit/>
          </a:bodyPr>
          <a:lstStyle/>
          <a:p>
            <a:r>
              <a:rPr lang="zh-CN" altLang="en-US" sz="1000" dirty="0">
                <a:latin typeface="+mj-ea"/>
                <a:ea typeface="+mj-ea"/>
              </a:rPr>
              <a:t>设备档案</a:t>
            </a:r>
            <a:endParaRPr lang="zh-CN" altLang="en-US" sz="1000" dirty="0">
              <a:latin typeface="+mj-ea"/>
              <a:ea typeface="+mj-ea"/>
            </a:endParaRPr>
          </a:p>
        </p:txBody>
      </p:sp>
      <p:sp>
        <p:nvSpPr>
          <p:cNvPr id="578" name="primary-fn-body-0"/>
          <p:cNvSpPr>
            <a:spLocks noGrp="1"/>
          </p:cNvSpPr>
          <p:nvPr/>
        </p:nvSpPr>
        <p:spPr>
          <a:xfrm>
            <a:off x="10025780" y="2820952"/>
            <a:ext cx="1575751" cy="603812"/>
          </a:xfrm>
          <a:prstGeom prst="rect">
            <a:avLst/>
          </a:prstGeom>
          <a:noFill/>
          <a:ln w="0">
            <a:noFill/>
            <a:prstDash val="solid"/>
          </a:ln>
        </p:spPr>
        <p:txBody>
          <a:bodyPr anchor="ctr"/>
          <a:lstStyle/>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将问题与解决方案回流型号</a:t>
            </a:r>
            <a:endParaRPr lang="en-US" altLang="zh-CN"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a:p>
            <a:pPr algn="l">
              <a:lnSpc>
                <a:spcPct val="150000"/>
              </a:lnSpc>
              <a:buNone/>
              <a:defRPr sz="1050"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、插件、节点和场景模板</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579" name="文本框 578"/>
          <p:cNvSpPr txBox="1"/>
          <p:nvPr/>
        </p:nvSpPr>
        <p:spPr>
          <a:xfrm>
            <a:off x="9150741" y="2903223"/>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反馈闭环</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580" name="文本框 579"/>
          <p:cNvSpPr txBox="1"/>
          <p:nvPr/>
        </p:nvSpPr>
        <p:spPr>
          <a:xfrm>
            <a:off x="9176960" y="3151859"/>
            <a:ext cx="760670" cy="246221"/>
          </a:xfrm>
          <a:prstGeom prst="rect">
            <a:avLst/>
          </a:prstGeom>
          <a:noFill/>
        </p:spPr>
        <p:txBody>
          <a:bodyPr wrap="square" rtlCol="0">
            <a:spAutoFit/>
          </a:bodyPr>
          <a:lstStyle/>
          <a:p>
            <a:r>
              <a:rPr lang="zh-CN" altLang="en-US" sz="1000" dirty="0">
                <a:latin typeface="+mj-ea"/>
                <a:ea typeface="+mj-ea"/>
              </a:rPr>
              <a:t>持续改进</a:t>
            </a:r>
            <a:endParaRPr lang="zh-CN" altLang="en-US" sz="1000" dirty="0">
              <a:latin typeface="+mj-ea"/>
              <a:ea typeface="+mj-ea"/>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01545" y="3507376"/>
            <a:ext cx="1859500" cy="1859500"/>
          </a:xfrm>
          <a:prstGeom prst="rect">
            <a:avLst/>
          </a:prstGeom>
        </p:spPr>
      </p:pic>
      <p:sp>
        <p:nvSpPr>
          <p:cNvPr id="20" name="AutoShape 2" descr="图像 8"/>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0" name="文本框 29"/>
          <p:cNvSpPr txBox="1"/>
          <p:nvPr/>
        </p:nvSpPr>
        <p:spPr>
          <a:xfrm>
            <a:off x="3468723" y="3356319"/>
            <a:ext cx="1477560" cy="338554"/>
          </a:xfrm>
          <a:prstGeom prst="rect">
            <a:avLst/>
          </a:prstGeom>
          <a:noFill/>
        </p:spPr>
        <p:txBody>
          <a:bodyPr wrap="square" rtlCol="0">
            <a:spAutoFit/>
          </a:bodyPr>
          <a:lstStyle/>
          <a:p>
            <a:r>
              <a:rPr lang="en-US" altLang="zh-CN"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2</a:t>
            </a:r>
            <a:endParaRPr lang="zh-CN" altLang="en-US"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31" name="文本框 30"/>
          <p:cNvSpPr txBox="1"/>
          <p:nvPr/>
        </p:nvSpPr>
        <p:spPr>
          <a:xfrm>
            <a:off x="6315831" y="3356319"/>
            <a:ext cx="1477560" cy="338554"/>
          </a:xfrm>
          <a:prstGeom prst="rect">
            <a:avLst/>
          </a:prstGeom>
          <a:noFill/>
        </p:spPr>
        <p:txBody>
          <a:bodyPr wrap="square" rtlCol="0">
            <a:spAutoFit/>
          </a:bodyPr>
          <a:lstStyle/>
          <a:p>
            <a:r>
              <a:rPr lang="en-US" altLang="zh-CN"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3</a:t>
            </a:r>
            <a:endParaRPr lang="zh-CN" altLang="en-US"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32" name="文本框 31"/>
          <p:cNvSpPr txBox="1"/>
          <p:nvPr/>
        </p:nvSpPr>
        <p:spPr>
          <a:xfrm>
            <a:off x="9163898" y="3356319"/>
            <a:ext cx="1477560" cy="338554"/>
          </a:xfrm>
          <a:prstGeom prst="rect">
            <a:avLst/>
          </a:prstGeom>
          <a:noFill/>
        </p:spPr>
        <p:txBody>
          <a:bodyPr wrap="square" rtlCol="0">
            <a:spAutoFit/>
          </a:bodyPr>
          <a:lstStyle/>
          <a:p>
            <a:r>
              <a:rPr lang="en-US" altLang="zh-CN"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rPr>
              <a:t>ON 4</a:t>
            </a:r>
            <a:endParaRPr lang="zh-CN" altLang="en-US" sz="1600" dirty="0">
              <a:solidFill>
                <a:schemeClr val="bg2"/>
              </a:solidFill>
              <a:latin typeface="OPPOSans H" panose="00020600040101010101" pitchFamily="18" charset="-122"/>
              <a:ea typeface="OPPOSans H" panose="00020600040101010101" pitchFamily="18" charset="-122"/>
              <a:cs typeface="OPPOSans H" panose="00020600040101010101" pitchFamily="18"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427925" y="3510092"/>
            <a:ext cx="1865562" cy="1865562"/>
          </a:xfrm>
          <a:prstGeom prst="rect">
            <a:avLst/>
          </a:prstGeom>
        </p:spPr>
      </p:pic>
      <p:pic>
        <p:nvPicPr>
          <p:cNvPr id="34" name="图片 3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589160" y="3520312"/>
            <a:ext cx="1856819" cy="1856819"/>
          </a:xfrm>
          <a:prstGeom prst="rect">
            <a:avLst/>
          </a:prstGeom>
        </p:spPr>
      </p:pic>
      <p:pic>
        <p:nvPicPr>
          <p:cNvPr id="57" name="图片 5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3744682" y="3488957"/>
            <a:ext cx="1859500" cy="1859500"/>
          </a:xfrm>
          <a:prstGeom prst="rect">
            <a:avLst/>
          </a:prstGeom>
        </p:spPr>
      </p:pic>
      <p:sp>
        <p:nvSpPr>
          <p:cNvPr id="22" name="core-cap-num-0"/>
          <p:cNvSpPr>
            <a:spLocks noGrp="1"/>
          </p:cNvSpPr>
          <p:nvPr/>
        </p:nvSpPr>
        <p:spPr>
          <a:xfrm>
            <a:off x="656562" y="1116314"/>
            <a:ext cx="1227656"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24" name="文本框 23"/>
          <p:cNvSpPr txBox="1"/>
          <p:nvPr/>
        </p:nvSpPr>
        <p:spPr>
          <a:xfrm>
            <a:off x="656562" y="1152502"/>
            <a:ext cx="1195329"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统一事件与日志</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
        <p:nvSpPr>
          <p:cNvPr id="27" name="core-cap-num-0"/>
          <p:cNvSpPr>
            <a:spLocks noGrp="1"/>
          </p:cNvSpPr>
          <p:nvPr/>
        </p:nvSpPr>
        <p:spPr>
          <a:xfrm>
            <a:off x="4444063" y="1116314"/>
            <a:ext cx="1227656"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29" name="文本框 28"/>
          <p:cNvSpPr txBox="1"/>
          <p:nvPr/>
        </p:nvSpPr>
        <p:spPr>
          <a:xfrm>
            <a:off x="4444063" y="1152502"/>
            <a:ext cx="1195329"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故障诊断与回放</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
        <p:nvSpPr>
          <p:cNvPr id="35" name="core-cap-num-0"/>
          <p:cNvSpPr>
            <a:spLocks noGrp="1"/>
          </p:cNvSpPr>
          <p:nvPr/>
        </p:nvSpPr>
        <p:spPr>
          <a:xfrm>
            <a:off x="8232595" y="1116314"/>
            <a:ext cx="1500855" cy="333986"/>
          </a:xfrm>
          <a:prstGeom prst="roundRect">
            <a:avLst>
              <a:gd name="adj" fmla="val 50000"/>
            </a:avLst>
          </a:prstGeom>
          <a:solidFill>
            <a:srgbClr val="C0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rgbClr val="DCDCDC"/>
              </a:solidFill>
            </a:endParaRPr>
          </a:p>
        </p:txBody>
      </p:sp>
      <p:sp>
        <p:nvSpPr>
          <p:cNvPr id="36" name="文本框 35"/>
          <p:cNvSpPr txBox="1"/>
          <p:nvPr/>
        </p:nvSpPr>
        <p:spPr>
          <a:xfrm>
            <a:off x="8232596" y="1152502"/>
            <a:ext cx="1500854" cy="261610"/>
          </a:xfrm>
          <a:prstGeom prst="rect">
            <a:avLst/>
          </a:prstGeom>
          <a:noFill/>
        </p:spPr>
        <p:txBody>
          <a:bodyPr wrap="square" rtlCol="0">
            <a:spAutoFit/>
          </a:bodyPr>
          <a:lstStyle/>
          <a:p>
            <a:pPr algn="ctr"/>
            <a:r>
              <a:rPr lang="zh-CN" altLang="en-US" sz="1100" dirty="0">
                <a:solidFill>
                  <a:schemeClr val="bg1"/>
                </a:solidFill>
                <a:latin typeface="OPPOSans B" panose="00020600040101010101" charset="-122"/>
                <a:ea typeface="OPPOSans B" panose="00020600040101010101" charset="-122"/>
                <a:cs typeface="OPPOSans B" panose="00020600040101010101" charset="-122"/>
              </a:rPr>
              <a:t>维修与生命周期追溯</a:t>
            </a:r>
            <a:endParaRPr lang="zh-CN" altLang="en-US" sz="1100" dirty="0">
              <a:solidFill>
                <a:schemeClr val="bg1"/>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11150600" y="215900"/>
          <a:chExt cx="419100" cy="419100"/>
        </a:xfrm>
      </p:grpSpPr>
      <p:sp>
        <p:nvSpPr>
          <p:cNvPr id="6" name="矩形: 圆角 5"/>
          <p:cNvSpPr/>
          <p:nvPr/>
        </p:nvSpPr>
        <p:spPr>
          <a:xfrm>
            <a:off x="0" y="1016000"/>
            <a:ext cx="12190081" cy="5704114"/>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p:cNvPicPr>
            <a:picLocks noChangeAspect="1"/>
          </p:cNvPicPr>
          <p:nvPr/>
        </p:nvPicPr>
        <p:blipFill>
          <a:blip r:embed="rId1"/>
          <a:srcRect l="406" r="-406"/>
          <a:stretch>
            <a:fillRect/>
          </a:stretch>
        </p:blipFill>
        <p:spPr>
          <a:xfrm>
            <a:off x="796" y="1028700"/>
            <a:ext cx="8875887" cy="4992686"/>
          </a:xfrm>
          <a:prstGeom prst="rect">
            <a:avLst/>
          </a:prstGeom>
        </p:spPr>
      </p:pic>
      <p:sp>
        <p:nvSpPr>
          <p:cNvPr id="675" name="矩形 674"/>
          <p:cNvSpPr/>
          <p:nvPr/>
        </p:nvSpPr>
        <p:spPr>
          <a:xfrm>
            <a:off x="263525" y="6217914"/>
            <a:ext cx="11664950" cy="342900"/>
          </a:xfrm>
          <a:prstGeom prst="rect">
            <a:avLst/>
          </a:prstGeom>
          <a:noFill/>
          <a:ln>
            <a:noFill/>
          </a:ln>
        </p:spPr>
        <p:txBody>
          <a:bodyPr/>
          <a:lstStyle/>
          <a:p>
            <a:pPr algn="ctr"/>
            <a:r>
              <a:rPr lang="zh-CN" altLang="en-US" sz="900" dirty="0">
                <a:solidFill>
                  <a:schemeClr val="bg1">
                    <a:lumMod val="65000"/>
                  </a:schemeClr>
                </a:solidFill>
                <a:latin typeface="+mn-ea"/>
                <a:cs typeface="OPPOSans M" panose="00020600040101010101" charset="-122"/>
              </a:rPr>
              <a:t>百川轻搭连接百川系统底座与现场应用，是设备从</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能够运行”走向</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可以交付</a:t>
            </a:r>
            <a:r>
              <a:rPr lang="en-US" altLang="zh-CN" sz="900" dirty="0">
                <a:solidFill>
                  <a:schemeClr val="bg1">
                    <a:lumMod val="65000"/>
                  </a:schemeClr>
                </a:solidFill>
                <a:latin typeface="+mn-ea"/>
                <a:cs typeface="OPPOSans M" panose="00020600040101010101" charset="-122"/>
              </a:rPr>
              <a:t>"</a:t>
            </a:r>
            <a:r>
              <a:rPr lang="zh-CN" altLang="en-US" sz="900" dirty="0">
                <a:solidFill>
                  <a:schemeClr val="bg1">
                    <a:lumMod val="65000"/>
                  </a:schemeClr>
                </a:solidFill>
                <a:latin typeface="+mn-ea"/>
                <a:cs typeface="OPPOSans M" panose="00020600040101010101" charset="-122"/>
              </a:rPr>
              <a:t>的关键工具</a:t>
            </a:r>
            <a:endParaRPr lang="zh-CN" altLang="en-US" sz="900" dirty="0">
              <a:solidFill>
                <a:schemeClr val="bg1">
                  <a:lumMod val="65000"/>
                </a:schemeClr>
              </a:solidFill>
              <a:latin typeface="+mn-ea"/>
              <a:cs typeface="OPPOSans M" panose="00020600040101010101" charset="-122"/>
            </a:endParaRPr>
          </a:p>
        </p:txBody>
      </p:sp>
      <p:sp>
        <p:nvSpPr>
          <p:cNvPr id="8"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连接开发者、设备厂商与集成商，持续扩展设备和场景能力</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4" name="文本框 13"/>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开放平台</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百川与天工的能力供给和生态入口</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37" name="eyebrow"/>
          <p:cNvSpPr>
            <a:spLocks noGrp="1"/>
          </p:cNvSpPr>
          <p:nvPr/>
        </p:nvSpPr>
        <p:spPr>
          <a:xfrm>
            <a:off x="552450" y="285750"/>
            <a:ext cx="3429000" cy="228600"/>
          </a:xfrm>
          <a:prstGeom prst="rect">
            <a:avLst/>
          </a:prstGeom>
          <a:noFill/>
          <a:ln w="0">
            <a:noFill/>
            <a:prstDash val="solid"/>
          </a:ln>
        </p:spPr>
        <p:txBody>
          <a:bodyPr anchor="ctr"/>
          <a:lstStyle/>
          <a:p>
            <a:pPr algn="l">
              <a:buNone/>
              <a:defRPr sz="975" b="1">
                <a:solidFill>
                  <a:srgbClr val="B4232A"/>
                </a:solidFill>
              </a:defRPr>
            </a:pPr>
            <a:r>
              <a:rPr sz="1400" dirty="0">
                <a:solidFill>
                  <a:schemeClr val="bg2">
                    <a:lumMod val="90000"/>
                  </a:schemeClr>
                </a:solidFill>
                <a:latin typeface="OPPOSans B" panose="00020600040101010101" charset="-122"/>
                <a:ea typeface="OPPOSans B" panose="00020600040101010101" charset="-122"/>
                <a:cs typeface="OPPOSans B" panose="00020600040101010101" charset="-122"/>
              </a:rPr>
              <a:t>BAICHUAN LITE</a:t>
            </a:r>
            <a:endParaRPr sz="1400" dirty="0">
              <a:solidFill>
                <a:schemeClr val="bg2">
                  <a:lumMod val="90000"/>
                </a:schemeClr>
              </a:solidFill>
              <a:latin typeface="OPPOSans B" panose="00020600040101010101" charset="-122"/>
              <a:ea typeface="OPPOSans B" panose="00020600040101010101" charset="-122"/>
              <a:cs typeface="OPPOSans B" panose="00020600040101010101" charset="-122"/>
            </a:endParaRPr>
          </a:p>
        </p:txBody>
      </p:sp>
      <p:sp>
        <p:nvSpPr>
          <p:cNvPr id="17" name="current-stage"/>
          <p:cNvSpPr>
            <a:spLocks noGrp="1"/>
          </p:cNvSpPr>
          <p:nvPr/>
        </p:nvSpPr>
        <p:spPr>
          <a:xfrm>
            <a:off x="623888" y="5688324"/>
            <a:ext cx="6096000" cy="266700"/>
          </a:xfrm>
          <a:prstGeom prst="rect">
            <a:avLst/>
          </a:prstGeom>
          <a:noFill/>
          <a:ln w="0">
            <a:noFill/>
          </a:ln>
        </p:spPr>
        <p:txBody>
          <a:bodyPr wrap="square" lIns="0" tIns="0" rIns="0" bIns="0" anchor="ctr">
            <a:noAutofit/>
          </a:bodyPr>
          <a:lstStyle/>
          <a:p>
            <a:pPr algn="l">
              <a:lnSpc>
                <a:spcPct val="110000"/>
              </a:lnSpc>
              <a:buNone/>
              <a:defRPr sz="1125" b="0">
                <a:solidFill>
                  <a:srgbClr val="5E6978"/>
                </a:solidFill>
                <a:latin typeface="Noto Sans SC" panose="020B0200000000000000" charset="-122"/>
                <a:ea typeface="Noto Sans SC" panose="020B0200000000000000" charset="-122"/>
                <a:cs typeface="Noto Sans SC" panose="020B0200000000000000" charset="-122"/>
              </a:defRPr>
            </a:pPr>
            <a:r>
              <a:rPr sz="800" dirty="0" err="1">
                <a:solidFill>
                  <a:schemeClr val="bg1"/>
                </a:solidFill>
                <a:latin typeface="+mn-ea"/>
                <a:cs typeface="OPPOSans M" panose="00020600040101010101" charset="-122"/>
              </a:rPr>
              <a:t>当前呈现：公开内容、业务交互原型与本机开发工具</a:t>
            </a:r>
            <a:endParaRPr sz="800" dirty="0">
              <a:solidFill>
                <a:schemeClr val="bg1"/>
              </a:solidFill>
              <a:latin typeface="+mn-ea"/>
              <a:cs typeface="OPPOSans M" panose="00020600040101010101" charset="-122"/>
            </a:endParaRPr>
          </a:p>
        </p:txBody>
      </p:sp>
      <p:sp>
        <p:nvSpPr>
          <p:cNvPr id="18" name="矩形 17"/>
          <p:cNvSpPr/>
          <p:nvPr/>
        </p:nvSpPr>
        <p:spPr>
          <a:xfrm>
            <a:off x="8628744" y="1028700"/>
            <a:ext cx="3561338" cy="4992688"/>
          </a:xfrm>
          <a:prstGeom prst="rect">
            <a:avLst/>
          </a:prstGeom>
          <a:solidFill>
            <a:srgbClr val="1013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939776" y="2501191"/>
            <a:ext cx="2615247" cy="3519387"/>
          </a:xfrm>
          <a:prstGeom prst="rect">
            <a:avLst/>
          </a:prstGeom>
          <a:noFill/>
          <a:ln w="0">
            <a:noFill/>
            <a:prstDash val="solid"/>
          </a:ln>
        </p:spPr>
        <p:txBody>
          <a:bodyPr wrap="square" anchor="ct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chemeClr val="bg1"/>
                </a:solidFill>
                <a:latin typeface="+mn-ea"/>
                <a:cs typeface="OPPOSans M" panose="00020600040101010101" charset="-122"/>
              </a:rPr>
              <a:t>墨影开放平台是面向工业智能设备的能力供给与生态协作平台，服务开发者、设备厂商、系统集成商和行业用户。它围绕百川与天工产品体系，汇聚应用、算法、各类插件和硬件资源，为分散的开发能力与场景需求建立统一入口。</a:t>
            </a:r>
            <a:endParaRPr lang="en-US" altLang="zh-CN" sz="900" dirty="0">
              <a:solidFill>
                <a:schemeClr val="bg1"/>
              </a:solidFill>
              <a:latin typeface="+mn-ea"/>
              <a:cs typeface="OPPOSans M" panose="00020600040101010101" charset="-122"/>
            </a:endParaRPr>
          </a:p>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endParaRPr lang="zh-CN" altLang="en-US" sz="900" dirty="0">
              <a:solidFill>
                <a:schemeClr val="bg1"/>
              </a:solidFill>
              <a:latin typeface="+mn-ea"/>
              <a:cs typeface="OPPOSans M" panose="00020600040101010101" charset="-122"/>
            </a:endParaRPr>
          </a:p>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chemeClr val="bg1"/>
                </a:solidFill>
                <a:latin typeface="+mn-ea"/>
                <a:cs typeface="OPPOSans M" panose="00020600040101010101" charset="-122"/>
              </a:rPr>
              <a:t>生态伙伴可以通过开放平台学习开发、展示成果、查找所需能力和设备，并围绕项目需求寻找合作伙伴。平台将开发资源、能力供给和组织服务连接起来，促进软件复用、设备选型与项目协作，配合百川的设备构建、运行和交付能力，降低工业应用开发与落地的门槛。</a:t>
            </a:r>
            <a:endParaRPr lang="zh-CN" altLang="en-US" sz="900" dirty="0">
              <a:solidFill>
                <a:schemeClr val="bg1"/>
              </a:solidFill>
              <a:latin typeface="+mn-ea"/>
              <a:cs typeface="OPPOSans M" panose="00020600040101010101" charset="-122"/>
            </a:endParaRPr>
          </a:p>
          <a:p>
            <a:pPr marL="0" indent="0" algn="l" defTabSz="0" rtl="0" eaLnBrk="1" latinLnBrk="0" hangingPunct="1">
              <a:lnSpc>
                <a:spcPct val="170000"/>
              </a:lnSpc>
              <a:spcBef>
                <a:spcPct val="0"/>
              </a:spcBef>
              <a:spcAft>
                <a:spcPct val="0"/>
              </a:spcAft>
              <a:buNone/>
            </a:pPr>
            <a:r>
              <a:rPr lang="zh-CN" altLang="en-US" sz="1200" dirty="0">
                <a:solidFill>
                  <a:schemeClr val="bg1"/>
                </a:solidFill>
                <a:latin typeface="OPPOSans M" panose="00020600040101010101" charset="-122"/>
                <a:ea typeface="OPPOSans M" panose="00020600040101010101" charset="-122"/>
                <a:cs typeface="OPPOSans M" panose="00020600040101010101" charset="-122"/>
              </a:rPr>
              <a:t>
</a:t>
            </a:r>
            <a:endParaRPr lang="zh-CN" altLang="en-US" sz="1200" dirty="0">
              <a:solidFill>
                <a:schemeClr val="bg1"/>
              </a:solidFill>
              <a:latin typeface="OPPOSans M" panose="00020600040101010101" charset="-122"/>
              <a:ea typeface="OPPOSans M" panose="00020600040101010101" charset="-122"/>
              <a:cs typeface="OPPOSans M" panose="00020600040101010101" charset="-122"/>
            </a:endParaRPr>
          </a:p>
        </p:txBody>
      </p:sp>
      <p:sp>
        <p:nvSpPr>
          <p:cNvPr id="29" name="文本框 28"/>
          <p:cNvSpPr txBox="1"/>
          <p:nvPr/>
        </p:nvSpPr>
        <p:spPr>
          <a:xfrm>
            <a:off x="8955878" y="1804423"/>
            <a:ext cx="2907069" cy="960515"/>
          </a:xfrm>
          <a:prstGeom prst="rect">
            <a:avLst/>
          </a:prstGeom>
        </p:spPr>
        <p:txBody>
          <a:bodyPr wrap="none" rtlCol="0">
            <a:noAutofit/>
          </a:bodyPr>
          <a:lstStyle/>
          <a:p>
            <a:r>
              <a:rPr lang="zh-CN" altLang="en-US" sz="1700" dirty="0">
                <a:solidFill>
                  <a:schemeClr val="bg1"/>
                </a:solidFill>
                <a:latin typeface="OPPOSans B" panose="00020600040101010101" charset="-122"/>
                <a:ea typeface="OPPOSans B" panose="00020600040101010101" charset="-122"/>
                <a:cs typeface="OPPOSans B" panose="00020600040101010101" charset="-122"/>
              </a:rPr>
              <a:t>连接工业能力与场景需求</a:t>
            </a:r>
            <a:endParaRPr lang="zh-CN" altLang="en-US" sz="1700" dirty="0">
              <a:solidFill>
                <a:schemeClr val="bg1"/>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63525" y="1028700"/>
            <a:ext cx="11664950" cy="5249270"/>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汇集学习开发、插件与设备选型、项目协作入口，为生态伙伴提供配套服务</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开放平台能力全景</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 name="callout-text"/>
          <p:cNvSpPr>
            <a:spLocks noGrp="1"/>
          </p:cNvSpPr>
          <p:nvPr/>
        </p:nvSpPr>
        <p:spPr>
          <a:xfrm>
            <a:off x="263525" y="6359098"/>
            <a:ext cx="11664950" cy="342900"/>
          </a:xfrm>
          <a:prstGeom prst="rect">
            <a:avLst/>
          </a:prstGeom>
          <a:noFill/>
          <a:ln w="0">
            <a:noFill/>
            <a:prstDash val="solid"/>
          </a:ln>
        </p:spPr>
        <p:txBody>
          <a:bodyPr anchor="ctr">
            <a:noAutofit/>
          </a:bodyPr>
          <a:lstStyle/>
          <a:p>
            <a:pPr lvl="0" algn="ctr">
              <a:buClrTx/>
              <a:buSzTx/>
              <a:buFontTx/>
              <a:defRPr sz="1125" b="1">
                <a:solidFill>
                  <a:srgbClr val="FFFFFF"/>
                </a:solidFill>
              </a:defRPr>
            </a:pPr>
            <a:r>
              <a:rPr lang="zh-CN" altLang="en-US" sz="900" dirty="0">
                <a:solidFill>
                  <a:srgbClr val="000000"/>
                </a:solidFill>
                <a:latin typeface="+mn-ea"/>
                <a:cs typeface="OPPOSans M" panose="00020600040101010101" charset="-122"/>
                <a:sym typeface="+mn-ea"/>
              </a:rPr>
              <a:t>开放平台汇聚开发资源、插件设备供给与合作机会，支持生态伙伴持续共创</a:t>
            </a:r>
            <a:endParaRPr lang="zh-CN" altLang="en-US" sz="900" dirty="0">
              <a:solidFill>
                <a:srgbClr val="000000"/>
              </a:solidFill>
              <a:latin typeface="+mn-ea"/>
              <a:cs typeface="OPPOSans M" panose="00020600040101010101" charset="-122"/>
              <a:sym typeface="+mn-ea"/>
            </a:endParaRPr>
          </a:p>
        </p:txBody>
      </p:sp>
      <p:pic>
        <p:nvPicPr>
          <p:cNvPr id="4" name="图片 3"/>
          <p:cNvPicPr>
            <a:picLocks noChangeAspect="1"/>
          </p:cNvPicPr>
          <p:nvPr/>
        </p:nvPicPr>
        <p:blipFill>
          <a:blip r:embed="rId1"/>
          <a:stretch>
            <a:fillRect/>
          </a:stretch>
        </p:blipFill>
        <p:spPr>
          <a:xfrm>
            <a:off x="1099014" y="3461540"/>
            <a:ext cx="9919141" cy="2479785"/>
          </a:xfrm>
          <a:prstGeom prst="rect">
            <a:avLst/>
          </a:prstGeom>
        </p:spPr>
      </p:pic>
      <p:grpSp>
        <p:nvGrpSpPr>
          <p:cNvPr id="26" name="组合 25"/>
          <p:cNvGrpSpPr/>
          <p:nvPr/>
        </p:nvGrpSpPr>
        <p:grpSpPr>
          <a:xfrm>
            <a:off x="4347868" y="1263390"/>
            <a:ext cx="3496265" cy="1996484"/>
            <a:chOff x="512847" y="1263390"/>
            <a:chExt cx="3496265" cy="1996484"/>
          </a:xfrm>
        </p:grpSpPr>
        <p:sp>
          <p:nvSpPr>
            <p:cNvPr id="27" name="矩形: 圆顶角 26"/>
            <p:cNvSpPr/>
            <p:nvPr/>
          </p:nvSpPr>
          <p:spPr>
            <a:xfrm>
              <a:off x="512847"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8" name="矩形: 圆顶角 27"/>
            <p:cNvSpPr/>
            <p:nvPr/>
          </p:nvSpPr>
          <p:spPr>
            <a:xfrm flipV="1">
              <a:off x="512847" y="1606709"/>
              <a:ext cx="3496264" cy="1653165"/>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29" name="组合 28"/>
            <p:cNvGrpSpPr/>
            <p:nvPr/>
          </p:nvGrpSpPr>
          <p:grpSpPr>
            <a:xfrm>
              <a:off x="3382343" y="1382631"/>
              <a:ext cx="476057" cy="113943"/>
              <a:chOff x="5298623" y="1396154"/>
              <a:chExt cx="507580" cy="121488"/>
            </a:xfrm>
          </p:grpSpPr>
          <p:sp>
            <p:nvSpPr>
              <p:cNvPr id="31" name="椭圆 30"/>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custDataLst>
                <p:tags r:id="rId2"/>
              </p:custDataLst>
            </p:nvPr>
          </p:nvSpPr>
          <p:spPr>
            <a:xfrm>
              <a:off x="635847" y="1301503"/>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能力供给与选型</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grpSp>
      <p:sp>
        <p:nvSpPr>
          <p:cNvPr id="35" name="矩形 34"/>
          <p:cNvSpPr/>
          <p:nvPr>
            <p:custDataLst>
              <p:tags r:id="rId3"/>
            </p:custDataLst>
          </p:nvPr>
        </p:nvSpPr>
        <p:spPr>
          <a:xfrm>
            <a:off x="4470868" y="176097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插件商城</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36" name="矩形 35"/>
          <p:cNvSpPr/>
          <p:nvPr>
            <p:custDataLst>
              <p:tags r:id="rId4"/>
            </p:custDataLst>
          </p:nvPr>
        </p:nvSpPr>
        <p:spPr>
          <a:xfrm>
            <a:off x="4470868" y="1959308"/>
            <a:ext cx="3239787"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ea typeface="Noto Sans SC" panose="020B0200000000000000" charset="-122"/>
                <a:cs typeface="OPPOSans M" panose="00020600040101010101" charset="-122"/>
              </a:rPr>
              <a:t>应用、算法与各类插件的分类检索、能力说明、提供方、版本与兼容信息</a:t>
            </a:r>
            <a:endParaRPr lang="zh-CN" altLang="en-US" sz="85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37" name="矩形 36"/>
          <p:cNvSpPr/>
          <p:nvPr>
            <p:custDataLst>
              <p:tags r:id="rId5"/>
            </p:custDataLst>
          </p:nvPr>
        </p:nvSpPr>
        <p:spPr>
          <a:xfrm>
            <a:off x="4466319" y="245701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设备商城</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38" name="矩形 37"/>
          <p:cNvSpPr/>
          <p:nvPr>
            <p:custDataLst>
              <p:tags r:id="rId6"/>
            </p:custDataLst>
          </p:nvPr>
        </p:nvSpPr>
        <p:spPr>
          <a:xfrm>
            <a:off x="4466319" y="2655348"/>
            <a:ext cx="3239787"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ea typeface="Noto Sans SC" panose="020B0200000000000000" charset="-122"/>
                <a:cs typeface="OPPOSans M" panose="00020600040101010101" charset="-122"/>
              </a:rPr>
              <a:t>整机与关键部件目录、型号和规格、设备详情、三维预览与采购咨询</a:t>
            </a:r>
            <a:endParaRPr lang="zh-CN" altLang="en-US" sz="85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5" name="矩形: 圆顶角 4"/>
          <p:cNvSpPr/>
          <p:nvPr/>
        </p:nvSpPr>
        <p:spPr>
          <a:xfrm>
            <a:off x="501474"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 name="矩形: 圆顶角 5"/>
          <p:cNvSpPr/>
          <p:nvPr/>
        </p:nvSpPr>
        <p:spPr>
          <a:xfrm flipV="1">
            <a:off x="501474" y="1606709"/>
            <a:ext cx="3496264" cy="1653165"/>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8" name="组合 7"/>
          <p:cNvGrpSpPr/>
          <p:nvPr/>
        </p:nvGrpSpPr>
        <p:grpSpPr>
          <a:xfrm>
            <a:off x="3370970" y="1382631"/>
            <a:ext cx="476057" cy="113943"/>
            <a:chOff x="5298623" y="1396154"/>
            <a:chExt cx="507580" cy="121488"/>
          </a:xfrm>
        </p:grpSpPr>
        <p:sp>
          <p:nvSpPr>
            <p:cNvPr id="9" name="椭圆 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p:custDataLst>
              <p:tags r:id="rId7"/>
            </p:custDataLst>
          </p:nvPr>
        </p:nvSpPr>
        <p:spPr>
          <a:xfrm>
            <a:off x="624474" y="1301503"/>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学习与开发</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2" name="矩形 11"/>
          <p:cNvSpPr/>
          <p:nvPr>
            <p:custDataLst>
              <p:tags r:id="rId8"/>
            </p:custDataLst>
          </p:nvPr>
        </p:nvSpPr>
        <p:spPr>
          <a:xfrm>
            <a:off x="624474" y="176097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开发者中心</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13" name="矩形 12"/>
          <p:cNvSpPr/>
          <p:nvPr>
            <p:custDataLst>
              <p:tags r:id="rId9"/>
            </p:custDataLst>
          </p:nvPr>
        </p:nvSpPr>
        <p:spPr>
          <a:xfrm>
            <a:off x="624474" y="1959308"/>
            <a:ext cx="3239787"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cs typeface="OPPOSans M" panose="00020600040101010101" charset="-122"/>
              </a:rPr>
              <a:t>百川 </a:t>
            </a:r>
            <a:r>
              <a:rPr lang="en-US" altLang="zh-CN" sz="850" dirty="0">
                <a:solidFill>
                  <a:schemeClr val="tx1">
                    <a:lumMod val="75000"/>
                    <a:lumOff val="25000"/>
                  </a:schemeClr>
                </a:solidFill>
                <a:latin typeface="+mn-ea"/>
                <a:cs typeface="OPPOSans M" panose="00020600040101010101" charset="-122"/>
              </a:rPr>
              <a:t>/ </a:t>
            </a:r>
            <a:r>
              <a:rPr lang="zh-CN" altLang="en-US" sz="850" dirty="0">
                <a:solidFill>
                  <a:schemeClr val="tx1">
                    <a:lumMod val="75000"/>
                    <a:lumOff val="25000"/>
                  </a:schemeClr>
                </a:solidFill>
                <a:latin typeface="+mn-ea"/>
                <a:cs typeface="OPPOSans M" panose="00020600040101010101" charset="-122"/>
              </a:rPr>
              <a:t>天工文档、</a:t>
            </a:r>
            <a:r>
              <a:rPr lang="en-US" altLang="zh-CN" sz="850" dirty="0">
                <a:solidFill>
                  <a:schemeClr val="tx1">
                    <a:lumMod val="75000"/>
                    <a:lumOff val="25000"/>
                  </a:schemeClr>
                </a:solidFill>
                <a:latin typeface="+mn-ea"/>
                <a:cs typeface="OPPOSans M" panose="00020600040101010101" charset="-122"/>
              </a:rPr>
              <a:t>SDK </a:t>
            </a:r>
            <a:r>
              <a:rPr lang="zh-CN" altLang="en-US" sz="850" dirty="0">
                <a:solidFill>
                  <a:schemeClr val="tx1">
                    <a:lumMod val="75000"/>
                    <a:lumOff val="25000"/>
                  </a:schemeClr>
                </a:solidFill>
                <a:latin typeface="+mn-ea"/>
                <a:cs typeface="OPPOSans M" panose="00020600040101010101" charset="-122"/>
              </a:rPr>
              <a:t>与 </a:t>
            </a:r>
            <a:r>
              <a:rPr lang="en-US" altLang="zh-CN" sz="850" dirty="0" err="1">
                <a:solidFill>
                  <a:schemeClr val="tx1">
                    <a:lumMod val="75000"/>
                    <a:lumOff val="25000"/>
                  </a:schemeClr>
                </a:solidFill>
                <a:latin typeface="+mn-ea"/>
                <a:cs typeface="OPPOSans M" panose="00020600040101010101" charset="-122"/>
              </a:rPr>
              <a:t>Skil</a:t>
            </a:r>
            <a:r>
              <a:rPr lang="zh-CN" altLang="en-US" sz="850" dirty="0">
                <a:solidFill>
                  <a:schemeClr val="tx1">
                    <a:lumMod val="75000"/>
                    <a:lumOff val="25000"/>
                  </a:schemeClr>
                </a:solidFill>
                <a:latin typeface="+mn-ea"/>
                <a:cs typeface="OPPOSans M" panose="00020600040101010101" charset="-122"/>
              </a:rPr>
              <a:t>，本机 </a:t>
            </a:r>
            <a:r>
              <a:rPr lang="en-US" altLang="zh-CN" sz="850" dirty="0">
                <a:solidFill>
                  <a:schemeClr val="tx1">
                    <a:lumMod val="75000"/>
                    <a:lumOff val="25000"/>
                  </a:schemeClr>
                </a:solidFill>
                <a:latin typeface="+mn-ea"/>
                <a:cs typeface="OPPOSans M" panose="00020600040101010101" charset="-122"/>
              </a:rPr>
              <a:t>AI </a:t>
            </a:r>
            <a:r>
              <a:rPr lang="zh-CN" altLang="en-US" sz="850" dirty="0">
                <a:solidFill>
                  <a:schemeClr val="tx1">
                    <a:lumMod val="75000"/>
                    <a:lumOff val="25000"/>
                  </a:schemeClr>
                </a:solidFill>
                <a:latin typeface="+mn-ea"/>
                <a:cs typeface="OPPOSans M" panose="00020600040101010101" charset="-122"/>
              </a:rPr>
              <a:t>开发与 </a:t>
            </a:r>
            <a:r>
              <a:rPr lang="en-US" altLang="zh-CN" sz="850" dirty="0">
                <a:solidFill>
                  <a:schemeClr val="tx1">
                    <a:lumMod val="75000"/>
                    <a:lumOff val="25000"/>
                  </a:schemeClr>
                </a:solidFill>
                <a:latin typeface="+mn-ea"/>
                <a:cs typeface="OPPOSans M" panose="00020600040101010101" charset="-122"/>
              </a:rPr>
              <a:t>ZIP </a:t>
            </a:r>
            <a:r>
              <a:rPr lang="zh-CN" altLang="en-US" sz="850" dirty="0">
                <a:solidFill>
                  <a:schemeClr val="tx1">
                    <a:lumMod val="75000"/>
                    <a:lumOff val="25000"/>
                  </a:schemeClr>
                </a:solidFill>
                <a:latin typeface="+mn-ea"/>
                <a:cs typeface="OPPOSans M" panose="00020600040101010101" charset="-122"/>
              </a:rPr>
              <a:t>版本管理</a:t>
            </a:r>
            <a:endParaRPr lang="zh-CN" altLang="en-US" sz="850" dirty="0">
              <a:solidFill>
                <a:schemeClr val="tx1">
                  <a:lumMod val="75000"/>
                  <a:lumOff val="25000"/>
                </a:schemeClr>
              </a:solidFill>
              <a:latin typeface="+mn-ea"/>
              <a:cs typeface="OPPOSans M" panose="00020600040101010101" charset="-122"/>
            </a:endParaRPr>
          </a:p>
        </p:txBody>
      </p:sp>
      <p:sp>
        <p:nvSpPr>
          <p:cNvPr id="22" name="矩形 21"/>
          <p:cNvSpPr/>
          <p:nvPr>
            <p:custDataLst>
              <p:tags r:id="rId10"/>
            </p:custDataLst>
          </p:nvPr>
        </p:nvSpPr>
        <p:spPr>
          <a:xfrm>
            <a:off x="619925" y="245701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墨影学院</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3" name="矩形 22"/>
          <p:cNvSpPr/>
          <p:nvPr>
            <p:custDataLst>
              <p:tags r:id="rId11"/>
            </p:custDataLst>
          </p:nvPr>
        </p:nvSpPr>
        <p:spPr>
          <a:xfrm>
            <a:off x="619925" y="2655348"/>
            <a:ext cx="3113159"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ea typeface="Noto Sans SC" panose="020B0200000000000000" charset="-122"/>
                <a:cs typeface="OPPOSans M" panose="00020600040101010101" charset="-122"/>
              </a:rPr>
              <a:t>角色学习路径、入门课程与讲义，视频示范帮助理解插件开发流程</a:t>
            </a:r>
            <a:endParaRPr lang="zh-CN" altLang="en-US" sz="85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40" name="矩形: 圆顶角 39"/>
          <p:cNvSpPr/>
          <p:nvPr/>
        </p:nvSpPr>
        <p:spPr>
          <a:xfrm>
            <a:off x="8194262" y="1263390"/>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41" name="矩形: 圆顶角 40"/>
          <p:cNvSpPr/>
          <p:nvPr/>
        </p:nvSpPr>
        <p:spPr>
          <a:xfrm flipV="1">
            <a:off x="8194262" y="1606709"/>
            <a:ext cx="3496264" cy="1653165"/>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42" name="组合 41"/>
          <p:cNvGrpSpPr/>
          <p:nvPr/>
        </p:nvGrpSpPr>
        <p:grpSpPr>
          <a:xfrm>
            <a:off x="11063758" y="1382631"/>
            <a:ext cx="476057" cy="113943"/>
            <a:chOff x="5298623" y="1396154"/>
            <a:chExt cx="507580" cy="121488"/>
          </a:xfrm>
        </p:grpSpPr>
        <p:sp>
          <p:nvSpPr>
            <p:cNvPr id="44" name="椭圆 43"/>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42"/>
          <p:cNvSpPr/>
          <p:nvPr>
            <p:custDataLst>
              <p:tags r:id="rId12"/>
            </p:custDataLst>
          </p:nvPr>
        </p:nvSpPr>
        <p:spPr>
          <a:xfrm>
            <a:off x="8317262" y="1301503"/>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项目协作与交流</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48" name="矩形 47"/>
          <p:cNvSpPr/>
          <p:nvPr>
            <p:custDataLst>
              <p:tags r:id="rId13"/>
            </p:custDataLst>
          </p:nvPr>
        </p:nvSpPr>
        <p:spPr>
          <a:xfrm>
            <a:off x="8317262" y="176097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项目榜单</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49" name="矩形 48"/>
          <p:cNvSpPr/>
          <p:nvPr>
            <p:custDataLst>
              <p:tags r:id="rId14"/>
            </p:custDataLst>
          </p:nvPr>
        </p:nvSpPr>
        <p:spPr>
          <a:xfrm>
            <a:off x="8317261" y="1959308"/>
            <a:ext cx="3222553"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ea typeface="Noto Sans SC" panose="020B0200000000000000" charset="-122"/>
                <a:cs typeface="OPPOSans M" panose="00020600040101010101" charset="-122"/>
              </a:rPr>
              <a:t>发布需求、查找项目、提交承接意向，对接合作伙伴并记录跟进</a:t>
            </a:r>
            <a:endParaRPr lang="zh-CN" altLang="en-US" sz="85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50" name="矩形 49"/>
          <p:cNvSpPr/>
          <p:nvPr>
            <p:custDataLst>
              <p:tags r:id="rId15"/>
            </p:custDataLst>
          </p:nvPr>
        </p:nvSpPr>
        <p:spPr>
          <a:xfrm>
            <a:off x="8312713" y="2457018"/>
            <a:ext cx="3006620" cy="304165"/>
          </a:xfrm>
          <a:prstGeom prst="rect">
            <a:avLst/>
          </a:prstGeom>
          <a:noFill/>
          <a:ln>
            <a:noFill/>
          </a:ln>
        </p:spPr>
        <p:txBody>
          <a:bodyPr/>
          <a:lstStyle/>
          <a:p>
            <a:r>
              <a:rPr lang="zh-CN" altLang="en-US" sz="1200" dirty="0">
                <a:solidFill>
                  <a:srgbClr val="111827"/>
                </a:solidFill>
                <a:latin typeface="OPPOSans B" panose="00020600040101010101" charset="-122"/>
                <a:ea typeface="OPPOSans B" panose="00020600040101010101" charset="-122"/>
                <a:cs typeface="OPPOSans B" panose="00020600040101010101" charset="-122"/>
              </a:rPr>
              <a:t>开发者社区</a:t>
            </a:r>
            <a:endParaRPr lang="zh-CN" altLang="en-US" sz="12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51" name="矩形 50"/>
          <p:cNvSpPr/>
          <p:nvPr>
            <p:custDataLst>
              <p:tags r:id="rId16"/>
            </p:custDataLst>
          </p:nvPr>
        </p:nvSpPr>
        <p:spPr>
          <a:xfrm>
            <a:off x="8312713" y="2655348"/>
            <a:ext cx="3227102" cy="488771"/>
          </a:xfrm>
          <a:prstGeom prst="rect">
            <a:avLst/>
          </a:prstGeom>
          <a:noFill/>
          <a:ln>
            <a:noFill/>
          </a:ln>
        </p:spPr>
        <p:txBody>
          <a:bodyPr/>
          <a:lstStyle/>
          <a:p>
            <a:pPr algn="l">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850" dirty="0">
                <a:solidFill>
                  <a:schemeClr val="tx1">
                    <a:lumMod val="75000"/>
                    <a:lumOff val="25000"/>
                  </a:schemeClr>
                </a:solidFill>
                <a:latin typeface="+mn-ea"/>
                <a:ea typeface="Noto Sans SC" panose="020B0200000000000000" charset="-122"/>
                <a:cs typeface="OPPOSans M" panose="00020600040101010101" charset="-122"/>
              </a:rPr>
              <a:t>技术话题、经验分享与开发问答，围绕设备适配和场景方案交流</a:t>
            </a:r>
            <a:endParaRPr lang="zh-CN" altLang="en-US" sz="85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63" name="文本框 62"/>
          <p:cNvSpPr txBox="1"/>
          <p:nvPr/>
        </p:nvSpPr>
        <p:spPr>
          <a:xfrm>
            <a:off x="5593878" y="3404588"/>
            <a:ext cx="986291" cy="230832"/>
          </a:xfrm>
          <a:prstGeom prst="rect">
            <a:avLst/>
          </a:prstGeom>
          <a:noFill/>
        </p:spPr>
        <p:txBody>
          <a:bodyPr wrap="square" rtlCol="0">
            <a:spAutoFit/>
          </a:bodyPr>
          <a:lstStyle/>
          <a:p>
            <a:pPr algn="ctr"/>
            <a:r>
              <a:rPr lang="zh-CN" altLang="en-US" sz="900" dirty="0">
                <a:solidFill>
                  <a:srgbClr val="5D9CFD"/>
                </a:solidFill>
                <a:latin typeface="OPPOSans M" panose="00020600040101010101" charset="-122"/>
                <a:ea typeface="OPPOSans M" panose="00020600040101010101" charset="-122"/>
                <a:cs typeface="OPPOSans M" panose="00020600040101010101" charset="-122"/>
              </a:rPr>
              <a:t>组织工作台</a:t>
            </a:r>
            <a:endParaRPr lang="zh-CN" altLang="en-US" sz="900" dirty="0">
              <a:solidFill>
                <a:srgbClr val="5D9CFD"/>
              </a:solidFill>
              <a:latin typeface="OPPOSans M" panose="00020600040101010101" charset="-122"/>
              <a:ea typeface="OPPOSans M" panose="00020600040101010101" charset="-122"/>
              <a:cs typeface="OPPOSans M" panose="00020600040101010101" charset="-122"/>
            </a:endParaRPr>
          </a:p>
        </p:txBody>
      </p:sp>
      <p:grpSp>
        <p:nvGrpSpPr>
          <p:cNvPr id="193" name="组合 192"/>
          <p:cNvGrpSpPr/>
          <p:nvPr/>
        </p:nvGrpSpPr>
        <p:grpSpPr>
          <a:xfrm>
            <a:off x="2083235" y="3404588"/>
            <a:ext cx="7599363" cy="230832"/>
            <a:chOff x="2083235" y="3420917"/>
            <a:chExt cx="7599363" cy="230832"/>
          </a:xfrm>
        </p:grpSpPr>
        <p:sp>
          <p:nvSpPr>
            <p:cNvPr id="62" name="文本框 61"/>
            <p:cNvSpPr txBox="1"/>
            <p:nvPr/>
          </p:nvSpPr>
          <p:spPr>
            <a:xfrm>
              <a:off x="2083235" y="3420917"/>
              <a:ext cx="986291" cy="230832"/>
            </a:xfrm>
            <a:prstGeom prst="rect">
              <a:avLst/>
            </a:prstGeom>
            <a:noFill/>
          </p:spPr>
          <p:txBody>
            <a:bodyPr wrap="square" rtlCol="0">
              <a:spAutoFit/>
            </a:bodyPr>
            <a:lstStyle/>
            <a:p>
              <a:pPr algn="ctr"/>
              <a:r>
                <a:rPr lang="zh-CN" altLang="en-US" sz="900" dirty="0">
                  <a:solidFill>
                    <a:srgbClr val="5D9CFD"/>
                  </a:solidFill>
                  <a:latin typeface="OPPOSans M" panose="00020600040101010101" charset="-122"/>
                  <a:ea typeface="OPPOSans M" panose="00020600040101010101" charset="-122"/>
                  <a:cs typeface="OPPOSans M" panose="00020600040101010101" charset="-122"/>
                </a:rPr>
                <a:t>个人中心</a:t>
              </a:r>
              <a:endParaRPr lang="zh-CN" altLang="en-US" sz="900" dirty="0">
                <a:solidFill>
                  <a:srgbClr val="5D9CFD"/>
                </a:solidFill>
                <a:latin typeface="OPPOSans M" panose="00020600040101010101" charset="-122"/>
                <a:ea typeface="OPPOSans M" panose="00020600040101010101" charset="-122"/>
                <a:cs typeface="OPPOSans M" panose="00020600040101010101" charset="-122"/>
              </a:endParaRPr>
            </a:p>
          </p:txBody>
        </p:sp>
        <p:sp>
          <p:nvSpPr>
            <p:cNvPr id="192" name="文本框 191"/>
            <p:cNvSpPr txBox="1"/>
            <p:nvPr/>
          </p:nvSpPr>
          <p:spPr>
            <a:xfrm>
              <a:off x="8696307" y="3420917"/>
              <a:ext cx="986291" cy="230832"/>
            </a:xfrm>
            <a:prstGeom prst="rect">
              <a:avLst/>
            </a:prstGeom>
            <a:noFill/>
          </p:spPr>
          <p:txBody>
            <a:bodyPr wrap="square" rtlCol="0">
              <a:spAutoFit/>
            </a:bodyPr>
            <a:lstStyle/>
            <a:p>
              <a:pPr algn="ctr"/>
              <a:r>
                <a:rPr lang="zh-CN" altLang="en-US" sz="900" dirty="0">
                  <a:solidFill>
                    <a:srgbClr val="5D9CFD"/>
                  </a:solidFill>
                  <a:latin typeface="OPPOSans M" panose="00020600040101010101" charset="-122"/>
                  <a:ea typeface="OPPOSans M" panose="00020600040101010101" charset="-122"/>
                  <a:cs typeface="OPPOSans M" panose="00020600040101010101" charset="-122"/>
                </a:rPr>
                <a:t>总部控制台</a:t>
              </a:r>
              <a:endParaRPr lang="zh-CN" altLang="en-US" sz="900" dirty="0">
                <a:solidFill>
                  <a:srgbClr val="5D9CFD"/>
                </a:solidFill>
                <a:latin typeface="OPPOSans M" panose="00020600040101010101" charset="-122"/>
                <a:ea typeface="OPPOSans M" panose="00020600040101010101" charset="-122"/>
                <a:cs typeface="OPPOSans M" panose="00020600040101010101" charset="-122"/>
              </a:endParaRPr>
            </a:p>
          </p:txBody>
        </p:sp>
      </p:grpSp>
      <p:grpSp>
        <p:nvGrpSpPr>
          <p:cNvPr id="196" name="组合 195"/>
          <p:cNvGrpSpPr/>
          <p:nvPr/>
        </p:nvGrpSpPr>
        <p:grpSpPr>
          <a:xfrm>
            <a:off x="4174631" y="5852905"/>
            <a:ext cx="3842739" cy="246221"/>
            <a:chOff x="4093028" y="5907335"/>
            <a:chExt cx="3842739" cy="246221"/>
          </a:xfrm>
        </p:grpSpPr>
        <p:sp>
          <p:nvSpPr>
            <p:cNvPr id="194" name="文本框 193"/>
            <p:cNvSpPr txBox="1"/>
            <p:nvPr/>
          </p:nvSpPr>
          <p:spPr>
            <a:xfrm>
              <a:off x="4093028" y="5907335"/>
              <a:ext cx="1451864" cy="246221"/>
            </a:xfrm>
            <a:prstGeom prst="rect">
              <a:avLst/>
            </a:prstGeom>
            <a:noFill/>
          </p:spPr>
          <p:txBody>
            <a:bodyPr wrap="square" rtlCol="0">
              <a:spAutoFit/>
            </a:bodyPr>
            <a:lstStyle/>
            <a:p>
              <a:r>
                <a:rPr lang="zh-CN" altLang="en-US" sz="1000" dirty="0">
                  <a:solidFill>
                    <a:srgbClr val="5D9CFD"/>
                  </a:solidFill>
                  <a:latin typeface="OPPOSans M" panose="00020600040101010101" charset="-122"/>
                  <a:ea typeface="OPPOSans M" panose="00020600040101010101" charset="-122"/>
                  <a:cs typeface="OPPOSans B" panose="00020600040101010101" charset="-122"/>
                </a:rPr>
                <a:t>组织与服务支撑</a:t>
              </a:r>
              <a:endParaRPr lang="zh-CN" altLang="en-US" sz="1000" dirty="0">
                <a:solidFill>
                  <a:srgbClr val="5D9CFD"/>
                </a:solidFill>
                <a:latin typeface="OPPOSans M" panose="00020600040101010101" charset="-122"/>
                <a:ea typeface="OPPOSans M" panose="00020600040101010101" charset="-122"/>
                <a:cs typeface="OPPOSans B" panose="00020600040101010101" charset="-122"/>
              </a:endParaRPr>
            </a:p>
          </p:txBody>
        </p:sp>
        <p:sp>
          <p:nvSpPr>
            <p:cNvPr id="195" name="文本框 194"/>
            <p:cNvSpPr txBox="1"/>
            <p:nvPr/>
          </p:nvSpPr>
          <p:spPr>
            <a:xfrm>
              <a:off x="4946259" y="5911925"/>
              <a:ext cx="2989508" cy="230832"/>
            </a:xfrm>
            <a:prstGeom prst="rect">
              <a:avLst/>
            </a:prstGeom>
            <a:noFill/>
          </p:spPr>
          <p:txBody>
            <a:bodyPr wrap="square" rtlCol="0">
              <a:spAutoFit/>
            </a:bodyPr>
            <a:lstStyle/>
            <a:p>
              <a:pPr algn="ctr"/>
              <a:r>
                <a:rPr lang="zh-CN" altLang="en-US" sz="900" dirty="0">
                  <a:solidFill>
                    <a:schemeClr val="bg1">
                      <a:lumMod val="65000"/>
                    </a:schemeClr>
                  </a:solidFill>
                  <a:latin typeface="OPPOSans M" panose="00020600040101010101" charset="-122"/>
                  <a:ea typeface="OPPOSans M" panose="00020600040101010101" charset="-122"/>
                  <a:cs typeface="OPPOSans M" panose="00020600040101010101" charset="-122"/>
                </a:rPr>
                <a:t>成员权限、商品上架与审核、业务记录、支持工单</a:t>
              </a:r>
              <a:endParaRPr lang="zh-CN" altLang="en-US" sz="900" dirty="0">
                <a:solidFill>
                  <a:schemeClr val="bg1">
                    <a:lumMod val="65000"/>
                  </a:schemeClr>
                </a:solidFill>
                <a:latin typeface="OPPOSans M" panose="00020600040101010101" charset="-122"/>
                <a:ea typeface="OPPOSans M" panose="00020600040101010101" charset="-122"/>
                <a:cs typeface="OPPOSans M" panose="00020600040101010101"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本机</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AI</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开发与</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ZIP</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管理</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从标准接口到插件源码，为百川和天工提供统一的开发入口</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开发者中心</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文档资源与</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AI</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辅助开发</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开发文档、</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SDK</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与</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Skill</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21388"/>
            <a:ext cx="11664950" cy="565930"/>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本机开发产物按</a:t>
            </a:r>
            <a:r>
              <a:rPr lang="en-US" altLang="zh-CN" sz="900" dirty="0">
                <a:solidFill>
                  <a:schemeClr val="bg1">
                    <a:lumMod val="65000"/>
                  </a:schemeClr>
                </a:solidFill>
                <a:latin typeface="+mn-ea"/>
                <a:cs typeface="OPPOSans M" panose="00020600040101010101" charset="-122"/>
                <a:sym typeface="+mn-ea"/>
              </a:rPr>
              <a:t>ZIP</a:t>
            </a:r>
            <a:r>
              <a:rPr lang="zh-CN" altLang="en-US" sz="900" dirty="0">
                <a:solidFill>
                  <a:schemeClr val="bg1">
                    <a:lumMod val="65000"/>
                  </a:schemeClr>
                </a:solidFill>
                <a:latin typeface="+mn-ea"/>
                <a:cs typeface="OPPOSans M" panose="00020600040101010101" charset="-122"/>
                <a:sym typeface="+mn-ea"/>
              </a:rPr>
              <a:t>版本管理</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百川宿主承担插件的联调与运行验证</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781051" y="4700241"/>
            <a:ext cx="4855544" cy="1181943"/>
          </a:xfrm>
          <a:prstGeom prst="rect">
            <a:avLst/>
          </a:prstGeom>
          <a:noFill/>
          <a:ln>
            <a:noFill/>
          </a:ln>
        </p:spPr>
        <p:txBody>
          <a:bodyPr/>
          <a:lstStyle/>
          <a:p>
            <a:pP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cs typeface="OPPOSans M" panose="00020600040101010101" charset="-122"/>
              </a:rPr>
              <a:t>在线阅读百川与天工开发文档，下载 </a:t>
            </a:r>
            <a:r>
              <a:rPr lang="en-US" altLang="zh-CN" sz="1000" dirty="0">
                <a:solidFill>
                  <a:schemeClr val="tx1">
                    <a:lumMod val="75000"/>
                    <a:lumOff val="25000"/>
                  </a:schemeClr>
                </a:solidFill>
                <a:latin typeface="+mn-ea"/>
                <a:cs typeface="OPPOSans M" panose="00020600040101010101" charset="-122"/>
              </a:rPr>
              <a:t>SDK</a:t>
            </a:r>
            <a:r>
              <a:rPr lang="zh-CN" altLang="en-US" sz="1000" dirty="0">
                <a:solidFill>
                  <a:schemeClr val="tx1">
                    <a:lumMod val="75000"/>
                    <a:lumOff val="25000"/>
                  </a:schemeClr>
                </a:solidFill>
                <a:latin typeface="+mn-ea"/>
                <a:cs typeface="OPPOSans M" panose="00020600040101010101" charset="-122"/>
              </a:rPr>
              <a:t>、</a:t>
            </a:r>
            <a:r>
              <a:rPr lang="en-US" altLang="zh-CN" sz="1000" dirty="0">
                <a:solidFill>
                  <a:schemeClr val="tx1">
                    <a:lumMod val="75000"/>
                    <a:lumOff val="25000"/>
                  </a:schemeClr>
                </a:solidFill>
                <a:latin typeface="+mn-ea"/>
                <a:cs typeface="OPPOSans M" panose="00020600040101010101" charset="-122"/>
              </a:rPr>
              <a:t>AI Skill </a:t>
            </a:r>
            <a:r>
              <a:rPr lang="zh-CN" altLang="en-US" sz="1000" dirty="0">
                <a:solidFill>
                  <a:schemeClr val="tx1">
                    <a:lumMod val="75000"/>
                    <a:lumOff val="25000"/>
                  </a:schemeClr>
                </a:solidFill>
                <a:latin typeface="+mn-ea"/>
                <a:cs typeface="OPPOSans M" panose="00020600040101010101" charset="-122"/>
              </a:rPr>
              <a:t>与文档资源，了解插件结构、接口调用和交付要求</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553033" y="470024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cs typeface="OPPOSans M" panose="00020600040101010101" charset="-122"/>
              </a:rPr>
              <a:t>按平台和类型创建插件，在对应目录内对话开发、查看代码与历史会话，并管理生成的 </a:t>
            </a:r>
            <a:r>
              <a:rPr lang="en-US" altLang="zh-CN" sz="1000" dirty="0">
                <a:solidFill>
                  <a:schemeClr val="tx1">
                    <a:lumMod val="75000"/>
                    <a:lumOff val="25000"/>
                  </a:schemeClr>
                </a:solidFill>
                <a:latin typeface="+mn-ea"/>
                <a:cs typeface="OPPOSans M" panose="00020600040101010101" charset="-122"/>
              </a:rPr>
              <a:t>ZIP </a:t>
            </a:r>
            <a:r>
              <a:rPr lang="zh-CN" altLang="en-US" sz="1000" dirty="0">
                <a:solidFill>
                  <a:schemeClr val="tx1">
                    <a:lumMod val="75000"/>
                    <a:lumOff val="25000"/>
                  </a:schemeClr>
                </a:solidFill>
                <a:latin typeface="+mn-ea"/>
                <a:cs typeface="OPPOSans M" panose="00020600040101010101" charset="-122"/>
              </a:rPr>
              <a:t>版本</a:t>
            </a:r>
            <a:endParaRPr lang="zh-CN" altLang="en-US" sz="1000" dirty="0">
              <a:solidFill>
                <a:schemeClr val="tx1">
                  <a:lumMod val="75000"/>
                  <a:lumOff val="25000"/>
                </a:schemeClr>
              </a:solidFill>
              <a:latin typeface="+mn-ea"/>
              <a:cs typeface="OPPOSans M" panose="00020600040101010101" charset="-122"/>
            </a:endParaRPr>
          </a:p>
        </p:txBody>
      </p:sp>
      <p:pic>
        <p:nvPicPr>
          <p:cNvPr id="4" name="图片 3"/>
          <p:cNvPicPr>
            <a:picLocks noChangeAspect="1"/>
          </p:cNvPicPr>
          <p:nvPr/>
        </p:nvPicPr>
        <p:blipFill>
          <a:blip r:embed="rId1"/>
          <a:stretch>
            <a:fillRect/>
          </a:stretch>
        </p:blipFill>
        <p:spPr>
          <a:xfrm>
            <a:off x="853135" y="1885373"/>
            <a:ext cx="4788196" cy="2693360"/>
          </a:xfrm>
          <a:prstGeom prst="rect">
            <a:avLst/>
          </a:prstGeom>
          <a:effectLst>
            <a:outerShdw blurRad="63500" sx="102000" sy="102000" algn="ctr" rotWithShape="0">
              <a:schemeClr val="bg2">
                <a:lumMod val="90000"/>
                <a:alpha val="40000"/>
              </a:schemeClr>
            </a:outerShdw>
          </a:effectLst>
        </p:spPr>
      </p:pic>
      <p:pic>
        <p:nvPicPr>
          <p:cNvPr id="6" name="图片 5"/>
          <p:cNvPicPr>
            <a:picLocks noChangeAspect="1"/>
          </p:cNvPicPr>
          <p:nvPr/>
        </p:nvPicPr>
        <p:blipFill>
          <a:blip r:embed="rId2"/>
          <a:stretch>
            <a:fillRect/>
          </a:stretch>
        </p:blipFill>
        <p:spPr>
          <a:xfrm>
            <a:off x="6553033" y="1885373"/>
            <a:ext cx="4804764" cy="2693360"/>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资料版本与上架审核</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把开发成果整理为可查找、可评估、可管理的插件与版本</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插件市场</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能力发现与发布管理</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查找和评估所需能力</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17474"/>
            <a:ext cx="11664950" cy="56984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当前支持</a:t>
            </a:r>
            <a:r>
              <a:rPr lang="en-US" altLang="zh-CN" sz="900" dirty="0">
                <a:solidFill>
                  <a:schemeClr val="bg1">
                    <a:lumMod val="65000"/>
                  </a:schemeClr>
                </a:solidFill>
                <a:latin typeface="+mn-ea"/>
                <a:cs typeface="OPPOSans M" panose="00020600040101010101" charset="-122"/>
                <a:sym typeface="+mn-ea"/>
              </a:rPr>
              <a:t>ZIP</a:t>
            </a:r>
            <a:r>
              <a:rPr lang="zh-CN" altLang="en-US" sz="900" dirty="0">
                <a:solidFill>
                  <a:schemeClr val="bg1">
                    <a:lumMod val="65000"/>
                  </a:schemeClr>
                </a:solidFill>
                <a:latin typeface="+mn-ea"/>
                <a:cs typeface="OPPOSans M" panose="00020600040101010101" charset="-122"/>
                <a:sym typeface="+mn-ea"/>
              </a:rPr>
              <a:t>管理与基础包预检</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完整安全审核、正式支付和制品分发仍待接入</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781051" y="4835531"/>
            <a:ext cx="4855544" cy="1181943"/>
          </a:xfrm>
          <a:prstGeom prst="rect">
            <a:avLst/>
          </a:prstGeom>
          <a:noFill/>
          <a:ln>
            <a:noFill/>
          </a:ln>
        </p:spPr>
        <p:txBody>
          <a:bodyPr/>
          <a:lstStyle/>
          <a:p>
            <a:pP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按类别或关键词查找能力，查看功能、提供方、版本和兼容信息，通过详情页了解免费、试用或买断选项</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nvSpPr>
        <p:spPr>
          <a:xfrm>
            <a:off x="6553033" y="483553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关联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ZIP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版本，维护功能说明与兼容范围，补充定价和更新内容，提交审核并跟踪处理状态</a:t>
            </a:r>
            <a:endParaRPr lang="zh-CN" altLang="en-US" sz="1000" dirty="0">
              <a:solidFill>
                <a:schemeClr val="tx1">
                  <a:lumMod val="75000"/>
                  <a:lumOff val="25000"/>
                </a:schemeClr>
              </a:solidFill>
              <a:latin typeface="+mn-ea"/>
              <a:cs typeface="OPPOSans M" panose="00020600040101010101" charset="-122"/>
            </a:endParaRPr>
          </a:p>
        </p:txBody>
      </p:sp>
      <p:pic>
        <p:nvPicPr>
          <p:cNvPr id="16" name="图片 15"/>
          <p:cNvPicPr>
            <a:picLocks noChangeAspect="1"/>
          </p:cNvPicPr>
          <p:nvPr/>
        </p:nvPicPr>
        <p:blipFill>
          <a:blip r:embed="rId1"/>
          <a:stretch>
            <a:fillRect/>
          </a:stretch>
        </p:blipFill>
        <p:spPr>
          <a:xfrm>
            <a:off x="853135" y="1885372"/>
            <a:ext cx="4788194" cy="2693359"/>
          </a:xfrm>
          <a:prstGeom prst="rect">
            <a:avLst/>
          </a:prstGeom>
          <a:effectLst>
            <a:outerShdw blurRad="63500" sx="102000" sy="102000" algn="ctr" rotWithShape="0">
              <a:schemeClr val="bg2">
                <a:lumMod val="90000"/>
                <a:alpha val="40000"/>
              </a:schemeClr>
            </a:outerShdw>
          </a:effectLst>
        </p:spPr>
      </p:pic>
      <p:pic>
        <p:nvPicPr>
          <p:cNvPr id="17" name="图片 16"/>
          <p:cNvPicPr>
            <a:picLocks noChangeAspect="1"/>
          </p:cNvPicPr>
          <p:nvPr/>
        </p:nvPicPr>
        <p:blipFill>
          <a:blip r:embed="rId2"/>
          <a:stretch>
            <a:fillRect/>
          </a:stretch>
        </p:blipFill>
        <p:spPr>
          <a:xfrm>
            <a:off x="6553033" y="1885373"/>
            <a:ext cx="4799485" cy="2699710"/>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custDataLst>
              <p:tags r:id="rId1"/>
            </p:custDataLst>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custDataLst>
              <p:tags r:id="rId2"/>
            </p:custDataLst>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custDataLst>
              <p:tags r:id="rId3"/>
            </p:custDataLst>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技术详情与采购咨询</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custDataLst>
              <p:tags r:id="rId4"/>
            </p:custDataLst>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custDataLst>
              <p:tags r:id="rId5"/>
            </p:custDataLst>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把开发成果整理为可查找、可评估、可管理的插件与版本</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设备商城</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整机与关键部件的选型入口</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custDataLst>
              <p:tags r:id="rId6"/>
            </p:custDataLst>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整机与部件目录</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17474"/>
            <a:ext cx="11664950" cy="56984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商城连接设备选型与采购咨询</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数字造机资料已有选择入口，远端取数仍待接入</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custDataLst>
              <p:tags r:id="rId7"/>
            </p:custDataLst>
          </p:nvPr>
        </p:nvGrpSpPr>
        <p:grpSpPr>
          <a:xfrm>
            <a:off x="5342232" y="1382631"/>
            <a:ext cx="476057" cy="113943"/>
            <a:chOff x="5298623" y="1396154"/>
            <a:chExt cx="507580" cy="121488"/>
          </a:xfrm>
        </p:grpSpPr>
        <p:sp>
          <p:nvSpPr>
            <p:cNvPr id="38" name="椭圆 37"/>
            <p:cNvSpPr/>
            <p:nvPr>
              <p:custDataLst>
                <p:tags r:id="rId8"/>
              </p:custDataLst>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9"/>
              </p:custDataLst>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10"/>
              </p:custDataLst>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11"/>
            </p:custDataLst>
          </p:nvPr>
        </p:nvGrpSpPr>
        <p:grpSpPr>
          <a:xfrm>
            <a:off x="11037898" y="1382631"/>
            <a:ext cx="476057" cy="113943"/>
            <a:chOff x="5298623" y="1396154"/>
            <a:chExt cx="507580" cy="121488"/>
          </a:xfrm>
        </p:grpSpPr>
        <p:sp>
          <p:nvSpPr>
            <p:cNvPr id="48" name="椭圆 47"/>
            <p:cNvSpPr/>
            <p:nvPr>
              <p:custDataLst>
                <p:tags r:id="rId12"/>
              </p:custDataLst>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3"/>
              </p:custDataLst>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4"/>
              </p:custDataLst>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custDataLst>
              <p:tags r:id="rId15"/>
            </p:custDataLst>
          </p:nvPr>
        </p:nvSpPr>
        <p:spPr>
          <a:xfrm>
            <a:off x="781051" y="4835531"/>
            <a:ext cx="4855544" cy="1181943"/>
          </a:xfrm>
          <a:prstGeom prst="rect">
            <a:avLst/>
          </a:prstGeom>
          <a:noFill/>
          <a:ln>
            <a:noFill/>
          </a:ln>
        </p:spPr>
        <p:txBody>
          <a:bodyPr/>
          <a:lstStyle/>
          <a:p>
            <a:pP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按整机、部件或品牌型号浏览，结合规格、价格与交期信息筛选产品，为方案选型建立统一入口</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custDataLst>
              <p:tags r:id="rId16"/>
            </p:custDataLst>
          </p:nvPr>
        </p:nvSpPr>
        <p:spPr>
          <a:xfrm>
            <a:off x="6553033" y="483553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查看产品介绍、核心规格、适用场景与交付售后信息，使用图片或三维预览评估设备，并提交采购咨询</a:t>
            </a:r>
            <a:endParaRPr lang="zh-CN" altLang="en-US" sz="1000" dirty="0">
              <a:solidFill>
                <a:schemeClr val="tx1">
                  <a:lumMod val="75000"/>
                  <a:lumOff val="25000"/>
                </a:schemeClr>
              </a:solidFill>
              <a:latin typeface="+mn-ea"/>
              <a:cs typeface="OPPOSans M" panose="00020600040101010101" charset="-122"/>
            </a:endParaRPr>
          </a:p>
        </p:txBody>
      </p:sp>
      <p:pic>
        <p:nvPicPr>
          <p:cNvPr id="4" name="图片 3"/>
          <p:cNvPicPr>
            <a:picLocks noChangeAspect="1"/>
          </p:cNvPicPr>
          <p:nvPr>
            <p:custDataLst>
              <p:tags r:id="rId17"/>
            </p:custDataLst>
          </p:nvPr>
        </p:nvPicPr>
        <p:blipFill>
          <a:blip r:embed="rId18"/>
          <a:stretch>
            <a:fillRect/>
          </a:stretch>
        </p:blipFill>
        <p:spPr>
          <a:xfrm>
            <a:off x="853135" y="1885372"/>
            <a:ext cx="4788192" cy="2693358"/>
          </a:xfrm>
          <a:prstGeom prst="rect">
            <a:avLst/>
          </a:prstGeom>
          <a:effectLst>
            <a:outerShdw blurRad="63500" sx="102000" sy="102000" algn="ctr" rotWithShape="0">
              <a:schemeClr val="bg2">
                <a:lumMod val="90000"/>
                <a:alpha val="40000"/>
              </a:schemeClr>
            </a:outerShdw>
          </a:effectLst>
        </p:spPr>
      </p:pic>
      <p:pic>
        <p:nvPicPr>
          <p:cNvPr id="6" name="图片 5"/>
          <p:cNvPicPr>
            <a:picLocks noChangeAspect="1"/>
          </p:cNvPicPr>
          <p:nvPr>
            <p:custDataLst>
              <p:tags r:id="rId19"/>
            </p:custDataLst>
          </p:nvPr>
        </p:nvPicPr>
        <p:blipFill>
          <a:blip r:embed="rId20"/>
          <a:srcRect l="5653" r="5653"/>
          <a:stretch>
            <a:fillRect/>
          </a:stretch>
        </p:blipFill>
        <p:spPr>
          <a:xfrm>
            <a:off x="6553033" y="1885372"/>
            <a:ext cx="4788191" cy="2693357"/>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custDataLst>
              <p:tags r:id="rId1"/>
            </p:custDataLst>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custDataLst>
              <p:tags r:id="rId2"/>
            </p:custDataLst>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custDataLst>
              <p:tags r:id="rId3"/>
            </p:custDataLst>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开发问答与方案交流</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custDataLst>
              <p:tags r:id="rId4"/>
            </p:custDataLst>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custDataLst>
              <p:tags r:id="rId5"/>
            </p:custDataLst>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把开发资料、入门课程和技术讨论连接起来，帮助生态伙伴掌握开放能力</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学院与社区</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开发学习与经验交流</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custDataLst>
              <p:tags r:id="rId6"/>
            </p:custDataLst>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课程与角色学习路径</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17474"/>
            <a:ext cx="11664950" cy="56984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学院已开放入门课程首章</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社区发帖、回复与收藏当前为页面交互演示</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custDataLst>
              <p:tags r:id="rId7"/>
            </p:custDataLst>
          </p:nvPr>
        </p:nvGrpSpPr>
        <p:grpSpPr>
          <a:xfrm>
            <a:off x="5342232" y="1382631"/>
            <a:ext cx="476057" cy="113943"/>
            <a:chOff x="5298623" y="1396154"/>
            <a:chExt cx="507580" cy="121488"/>
          </a:xfrm>
        </p:grpSpPr>
        <p:sp>
          <p:nvSpPr>
            <p:cNvPr id="38" name="椭圆 37"/>
            <p:cNvSpPr/>
            <p:nvPr>
              <p:custDataLst>
                <p:tags r:id="rId8"/>
              </p:custDataLst>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9"/>
              </p:custDataLst>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10"/>
              </p:custDataLst>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11"/>
            </p:custDataLst>
          </p:nvPr>
        </p:nvGrpSpPr>
        <p:grpSpPr>
          <a:xfrm>
            <a:off x="11037898" y="1382631"/>
            <a:ext cx="476057" cy="113943"/>
            <a:chOff x="5298623" y="1396154"/>
            <a:chExt cx="507580" cy="121488"/>
          </a:xfrm>
        </p:grpSpPr>
        <p:sp>
          <p:nvSpPr>
            <p:cNvPr id="48" name="椭圆 47"/>
            <p:cNvSpPr/>
            <p:nvPr>
              <p:custDataLst>
                <p:tags r:id="rId12"/>
              </p:custDataLst>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3"/>
              </p:custDataLst>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4"/>
              </p:custDataLst>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custDataLst>
              <p:tags r:id="rId15"/>
            </p:custDataLst>
          </p:nvPr>
        </p:nvSpPr>
        <p:spPr>
          <a:xfrm>
            <a:off x="781051" y="4835531"/>
            <a:ext cx="4855544" cy="1181943"/>
          </a:xfrm>
          <a:prstGeom prst="rect">
            <a:avLst/>
          </a:prstGeom>
          <a:noFill/>
          <a:ln>
            <a:noFill/>
          </a:ln>
        </p:spPr>
        <p:txBody>
          <a:bodyPr/>
          <a:lstStyle/>
          <a:p>
            <a:pP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面向插件开发者、设备厂商和集成商组织入门内容，通过讲义与视频理解接口使用和开发交付流程</a:t>
            </a:r>
            <a:endParaRPr lang="zh-CN" altLang="en-US" sz="1000" dirty="0">
              <a:solidFill>
                <a:schemeClr val="tx1">
                  <a:lumMod val="75000"/>
                  <a:lumOff val="25000"/>
                </a:schemeClr>
              </a:solidFill>
              <a:latin typeface="+mn-ea"/>
              <a:cs typeface="OPPOSans M" panose="00020600040101010101" charset="-122"/>
            </a:endParaRPr>
          </a:p>
        </p:txBody>
      </p:sp>
      <p:sp>
        <p:nvSpPr>
          <p:cNvPr id="28" name="矩形 27"/>
          <p:cNvSpPr/>
          <p:nvPr>
            <p:custDataLst>
              <p:tags r:id="rId16"/>
            </p:custDataLst>
          </p:nvPr>
        </p:nvSpPr>
        <p:spPr>
          <a:xfrm>
            <a:off x="6553033" y="483553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围绕开发问题、设备适配和场景方案浏览话题，按分类与待解决状态筛选，支持登录后参与交流</a:t>
            </a:r>
            <a:endParaRPr lang="zh-CN" altLang="en-US" sz="1000" dirty="0">
              <a:solidFill>
                <a:schemeClr val="tx1">
                  <a:lumMod val="75000"/>
                  <a:lumOff val="25000"/>
                </a:schemeClr>
              </a:solidFill>
              <a:latin typeface="+mn-ea"/>
              <a:cs typeface="OPPOSans M" panose="00020600040101010101" charset="-122"/>
            </a:endParaRPr>
          </a:p>
        </p:txBody>
      </p:sp>
      <p:pic>
        <p:nvPicPr>
          <p:cNvPr id="9" name="图片 8"/>
          <p:cNvPicPr>
            <a:picLocks noChangeAspect="1"/>
          </p:cNvPicPr>
          <p:nvPr>
            <p:custDataLst>
              <p:tags r:id="rId17"/>
            </p:custDataLst>
          </p:nvPr>
        </p:nvPicPr>
        <p:blipFill>
          <a:blip r:embed="rId18"/>
          <a:stretch>
            <a:fillRect/>
          </a:stretch>
        </p:blipFill>
        <p:spPr>
          <a:xfrm>
            <a:off x="853135" y="1885371"/>
            <a:ext cx="4788191" cy="2693357"/>
          </a:xfrm>
          <a:prstGeom prst="rect">
            <a:avLst/>
          </a:prstGeom>
          <a:effectLst>
            <a:outerShdw blurRad="63500" sx="102000" sy="102000" algn="ctr" rotWithShape="0">
              <a:schemeClr val="bg2">
                <a:lumMod val="90000"/>
                <a:alpha val="40000"/>
              </a:schemeClr>
            </a:outerShdw>
          </a:effectLst>
        </p:spPr>
      </p:pic>
      <p:pic>
        <p:nvPicPr>
          <p:cNvPr id="10" name="图片 9"/>
          <p:cNvPicPr>
            <a:picLocks noChangeAspect="1"/>
          </p:cNvPicPr>
          <p:nvPr>
            <p:custDataLst>
              <p:tags r:id="rId19"/>
            </p:custDataLst>
          </p:nvPr>
        </p:nvPicPr>
        <p:blipFill>
          <a:blip r:embed="rId20"/>
          <a:srcRect l="5653" r="5653"/>
          <a:stretch>
            <a:fillRect/>
          </a:stretch>
        </p:blipFill>
        <p:spPr>
          <a:xfrm>
            <a:off x="6553033" y="1885371"/>
            <a:ext cx="4788189" cy="2693356"/>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需求发布与承接跟进</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公开发现项目，组织发布需求，承接方提交意向，发布方跟进合作</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项目榜单</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连接项目需求与交付伙伴</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公开榜单与项目评估</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17474"/>
            <a:ext cx="11664950" cy="56984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项目由组织自主发布，合作在线下推进</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当前承接意向与通知为本地交互原型</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781051" y="4835531"/>
            <a:ext cx="4855544" cy="1181943"/>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按合作方式、行业与状态筛选并搜索项目，查看需求范围、预算、地点、截止时间与能力要求。</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28" name="矩形 27"/>
          <p:cNvSpPr/>
          <p:nvPr/>
        </p:nvSpPr>
        <p:spPr>
          <a:xfrm>
            <a:off x="6553033" y="483553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组织发布需求，承接方提交公司与联系人资料，发布方查看意向、记录联系状态并在线下推进合作</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pic>
        <p:nvPicPr>
          <p:cNvPr id="4" name="图片 3"/>
          <p:cNvPicPr>
            <a:picLocks noChangeAspect="1"/>
          </p:cNvPicPr>
          <p:nvPr/>
        </p:nvPicPr>
        <p:blipFill>
          <a:blip r:embed="rId1"/>
          <a:stretch>
            <a:fillRect/>
          </a:stretch>
        </p:blipFill>
        <p:spPr>
          <a:xfrm>
            <a:off x="853135" y="1885371"/>
            <a:ext cx="4788189" cy="2693356"/>
          </a:xfrm>
          <a:prstGeom prst="rect">
            <a:avLst/>
          </a:prstGeom>
          <a:effectLst>
            <a:outerShdw blurRad="63500" sx="102000" sy="102000" algn="ctr" rotWithShape="0">
              <a:schemeClr val="bg2">
                <a:lumMod val="90000"/>
                <a:alpha val="40000"/>
              </a:schemeClr>
            </a:outerShdw>
          </a:effectLst>
        </p:spPr>
      </p:pic>
      <p:pic>
        <p:nvPicPr>
          <p:cNvPr id="6" name="图片 5"/>
          <p:cNvPicPr>
            <a:picLocks noChangeAspect="1"/>
          </p:cNvPicPr>
          <p:nvPr/>
        </p:nvPicPr>
        <p:blipFill>
          <a:blip r:embed="rId2"/>
          <a:stretch>
            <a:fillRect/>
          </a:stretch>
        </p:blipFill>
        <p:spPr>
          <a:xfrm>
            <a:off x="6553033" y="1885371"/>
            <a:ext cx="4788189" cy="2693356"/>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p:cNvSpPr/>
          <p:nvPr/>
        </p:nvSpPr>
        <p:spPr>
          <a:xfrm>
            <a:off x="263525" y="1016000"/>
            <a:ext cx="11664950" cy="5571318"/>
          </a:xfrm>
          <a:prstGeom prst="roundRect">
            <a:avLst>
              <a:gd name="adj" fmla="val 3755"/>
            </a:avLst>
          </a:prstGeom>
          <a:noFill/>
          <a:ln w="0">
            <a:noFill/>
            <a:prstDash val="solid"/>
          </a:ln>
        </p:spPr>
        <p:txBody>
          <a:bodyPr anchor="ctr"/>
          <a:lstStyle/>
          <a:p>
            <a:pPr algn="ctr"/>
            <a:endParaRPr lang="zh-CN" altLang="en-US" dirty="0">
              <a:solidFill>
                <a:schemeClr val="tx1">
                  <a:lumMod val="95000"/>
                  <a:lumOff val="5000"/>
                </a:schemeClr>
              </a:solidFill>
              <a:latin typeface="OPPOSans M" panose="00020600040101010101" charset="-122"/>
              <a:ea typeface="OPPOSans M" panose="00020600040101010101" charset="-122"/>
            </a:endParaRPr>
          </a:p>
        </p:txBody>
      </p:sp>
      <p:sp>
        <p:nvSpPr>
          <p:cNvPr id="29" name="矩形: 圆顶角 28"/>
          <p:cNvSpPr/>
          <p:nvPr/>
        </p:nvSpPr>
        <p:spPr>
          <a:xfrm>
            <a:off x="6215719"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30" name="矩形: 圆顶角 29"/>
          <p:cNvSpPr/>
          <p:nvPr/>
        </p:nvSpPr>
        <p:spPr>
          <a:xfrm flipV="1">
            <a:off x="6215719"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31" name="function-model-title"/>
          <p:cNvSpPr>
            <a:spLocks noGrp="1"/>
          </p:cNvSpPr>
          <p:nvPr/>
        </p:nvSpPr>
        <p:spPr>
          <a:xfrm>
            <a:off x="6353155"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总部控制台</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审核与查询</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8" name="矩形: 圆顶角 17"/>
          <p:cNvSpPr/>
          <p:nvPr/>
        </p:nvSpPr>
        <p:spPr>
          <a:xfrm>
            <a:off x="515504" y="1263390"/>
            <a:ext cx="5475863" cy="352425"/>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0" name="矩形: 圆顶角 19"/>
          <p:cNvSpPr/>
          <p:nvPr/>
        </p:nvSpPr>
        <p:spPr>
          <a:xfrm flipV="1">
            <a:off x="515504" y="1615810"/>
            <a:ext cx="5475863" cy="4416497"/>
          </a:xfrm>
          <a:prstGeom prst="round2SameRect">
            <a:avLst>
              <a:gd name="adj1" fmla="val 3297"/>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组织管理自己的开发与业务，总部负责组织管理、商品审核和跨组织查询</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pPr algn="l">
              <a:buNone/>
              <a:defRPr sz="3000" b="1">
                <a:solidFill>
                  <a:srgbClr val="111827"/>
                </a:solidFill>
              </a:defRPr>
            </a:pP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组织与总部</a:t>
            </a:r>
            <a:r>
              <a:rPr lang="en-US" altLang="zh-CN"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供给管理和生态服务</a:t>
            </a:r>
            <a:endParaRPr lang="zh-CN" altLang="en-US" sz="1500" b="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5" name="function-model-title"/>
          <p:cNvSpPr>
            <a:spLocks noGrp="1"/>
          </p:cNvSpPr>
          <p:nvPr/>
        </p:nvSpPr>
        <p:spPr>
          <a:xfrm>
            <a:off x="652940" y="1265658"/>
            <a:ext cx="2245179" cy="352424"/>
          </a:xfrm>
          <a:prstGeom prst="rect">
            <a:avLst/>
          </a:prstGeom>
          <a:noFill/>
          <a:ln w="0">
            <a:noFill/>
            <a:prstDash val="solid"/>
          </a:ln>
        </p:spPr>
        <p:txBody>
          <a:bodyPr anchor="ctr"/>
          <a:lstStyle/>
          <a:p>
            <a:r>
              <a:rPr lang="zh-CN" altLang="en-US" sz="1100" dirty="0">
                <a:solidFill>
                  <a:srgbClr val="111827"/>
                </a:solidFill>
                <a:latin typeface="OPPOSans M" panose="00020600040101010101" charset="-122"/>
                <a:ea typeface="OPPOSans M" panose="00020600040101010101" charset="-122"/>
                <a:cs typeface="OPPOSans B" panose="00020600040101010101" charset="-122"/>
              </a:rPr>
              <a:t>组织工作台</a:t>
            </a:r>
            <a:r>
              <a:rPr lang="en-US" altLang="zh-CN" sz="1100" dirty="0">
                <a:solidFill>
                  <a:srgbClr val="111827"/>
                </a:solidFill>
                <a:latin typeface="OPPOSans M" panose="00020600040101010101" charset="-122"/>
                <a:ea typeface="OPPOSans M" panose="00020600040101010101" charset="-122"/>
                <a:cs typeface="OPPOSans B" panose="00020600040101010101" charset="-122"/>
              </a:rPr>
              <a:t>:</a:t>
            </a:r>
            <a:r>
              <a:rPr lang="zh-CN" altLang="en-US" sz="1100" dirty="0">
                <a:solidFill>
                  <a:srgbClr val="111827"/>
                </a:solidFill>
                <a:latin typeface="OPPOSans M" panose="00020600040101010101" charset="-122"/>
                <a:ea typeface="OPPOSans M" panose="00020600040101010101" charset="-122"/>
                <a:cs typeface="OPPOSans B" panose="00020600040101010101" charset="-122"/>
              </a:rPr>
              <a:t>供给与服务</a:t>
            </a:r>
            <a:endParaRPr lang="zh-CN" altLang="en-US" sz="11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8" name="function-model-empty"/>
          <p:cNvSpPr>
            <a:spLocks noGrp="1"/>
          </p:cNvSpPr>
          <p:nvPr/>
        </p:nvSpPr>
        <p:spPr>
          <a:xfrm>
            <a:off x="781050" y="2232025"/>
            <a:ext cx="4800600" cy="2476500"/>
          </a:xfrm>
          <a:prstGeom prst="rect">
            <a:avLst/>
          </a:prstGeom>
          <a:noFill/>
          <a:ln w="0">
            <a:noFill/>
            <a:prstDash val="solid"/>
          </a:ln>
        </p:spPr>
        <p:txBody>
          <a:bodyPr anchor="ctr"/>
          <a:lstStyle/>
          <a:p>
            <a:pPr algn="ctr">
              <a:buNone/>
              <a:defRPr sz="1350" b="1">
                <a:solidFill>
                  <a:srgbClr val="A0A8B3"/>
                </a:solidFill>
              </a:defRPr>
            </a:pPr>
            <a:endParaRPr b="0">
              <a:latin typeface="OPPOSans M" panose="00020600040101010101" charset="-122"/>
              <a:ea typeface="OPPOSans M" panose="00020600040101010101" charset="-122"/>
            </a:endParaRPr>
          </a:p>
        </p:txBody>
      </p:sp>
      <p:sp>
        <p:nvSpPr>
          <p:cNvPr id="23" name="callout-text"/>
          <p:cNvSpPr>
            <a:spLocks noGrp="1"/>
          </p:cNvSpPr>
          <p:nvPr/>
        </p:nvSpPr>
        <p:spPr>
          <a:xfrm>
            <a:off x="263525" y="6017474"/>
            <a:ext cx="11664950" cy="56984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项目合作在线下完成</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交易与承接通知当前为交互原型，尚未接通正式服务</a:t>
            </a:r>
            <a:endParaRPr lang="zh-CN" altLang="en-US" b="0" dirty="0">
              <a:solidFill>
                <a:schemeClr val="bg1">
                  <a:lumMod val="65000"/>
                </a:schemeClr>
              </a:solidFill>
              <a:latin typeface="+mn-ea"/>
              <a:cs typeface="OPPOSans M" panose="00020600040101010101" charset="-122"/>
              <a:sym typeface="+mn-ea"/>
            </a:endParaRPr>
          </a:p>
        </p:txBody>
      </p:sp>
      <p:grpSp>
        <p:nvGrpSpPr>
          <p:cNvPr id="46" name="组合 45"/>
          <p:cNvGrpSpPr/>
          <p:nvPr/>
        </p:nvGrpSpPr>
        <p:grpSpPr>
          <a:xfrm>
            <a:off x="5342232" y="1382631"/>
            <a:ext cx="476057" cy="113943"/>
            <a:chOff x="5298623" y="1396154"/>
            <a:chExt cx="507580" cy="121488"/>
          </a:xfrm>
        </p:grpSpPr>
        <p:sp>
          <p:nvSpPr>
            <p:cNvPr id="38" name="椭圆 3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1037898" y="1382631"/>
            <a:ext cx="476057" cy="113943"/>
            <a:chOff x="5298623" y="1396154"/>
            <a:chExt cx="507580" cy="121488"/>
          </a:xfrm>
        </p:grpSpPr>
        <p:sp>
          <p:nvSpPr>
            <p:cNvPr id="48" name="椭圆 47"/>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781051" y="4835531"/>
            <a:ext cx="4855544" cy="1181943"/>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管理成员权限、插件开发、商品上架及业务服务；通过项目榜单发布需求，跟进承接意向和客户问题</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28" name="矩形 27"/>
          <p:cNvSpPr/>
          <p:nvPr/>
        </p:nvSpPr>
        <p:spPr>
          <a:xfrm>
            <a:off x="6553033" y="4835531"/>
            <a:ext cx="4804764" cy="1123630"/>
          </a:xfrm>
          <a:prstGeom prst="rect">
            <a:avLst/>
          </a:prstGeom>
          <a:noFill/>
          <a:ln>
            <a:noFill/>
          </a:ln>
        </p:spPr>
        <p:txBody>
          <a:bodyPr/>
          <a:lstStyle/>
          <a:p>
            <a:pPr algn="l">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管理组织和用户，审核插件与设备资料，按组织查询订单、授权和工单，保留各组织的经营责任</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pic>
        <p:nvPicPr>
          <p:cNvPr id="9" name="图片 8"/>
          <p:cNvPicPr>
            <a:picLocks noChangeAspect="1"/>
          </p:cNvPicPr>
          <p:nvPr/>
        </p:nvPicPr>
        <p:blipFill>
          <a:blip r:embed="rId1"/>
          <a:stretch>
            <a:fillRect/>
          </a:stretch>
        </p:blipFill>
        <p:spPr>
          <a:xfrm>
            <a:off x="853135" y="1885371"/>
            <a:ext cx="4788189" cy="2693356"/>
          </a:xfrm>
          <a:prstGeom prst="rect">
            <a:avLst/>
          </a:prstGeom>
          <a:effectLst>
            <a:outerShdw blurRad="63500" sx="102000" sy="102000" algn="ctr" rotWithShape="0">
              <a:schemeClr val="bg2">
                <a:lumMod val="90000"/>
                <a:alpha val="40000"/>
              </a:schemeClr>
            </a:outerShdw>
          </a:effectLst>
        </p:spPr>
      </p:pic>
      <p:pic>
        <p:nvPicPr>
          <p:cNvPr id="10" name="图片 9"/>
          <p:cNvPicPr>
            <a:picLocks noChangeAspect="1"/>
          </p:cNvPicPr>
          <p:nvPr/>
        </p:nvPicPr>
        <p:blipFill>
          <a:blip r:embed="rId2"/>
          <a:stretch>
            <a:fillRect/>
          </a:stretch>
        </p:blipFill>
        <p:spPr>
          <a:xfrm>
            <a:off x="6553033" y="1885371"/>
            <a:ext cx="4799478" cy="2699706"/>
          </a:xfrm>
          <a:prstGeom prst="rect">
            <a:avLst/>
          </a:prstGeom>
          <a:effectLst>
            <a:outerShdw blurRad="63500" sx="102000" sy="102000" algn="ctr" rotWithShape="0">
              <a:schemeClr val="bg2">
                <a:lumMod val="90000"/>
                <a:alpha val="40000"/>
              </a:scheme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263207" y="1022350"/>
            <a:ext cx="11664950" cy="5571318"/>
          </a:xfrm>
          <a:prstGeom prst="roundRect">
            <a:avLst>
              <a:gd name="adj" fmla="val 375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0" name="组合 619"/>
          <p:cNvGrpSpPr/>
          <p:nvPr/>
        </p:nvGrpSpPr>
        <p:grpSpPr>
          <a:xfrm>
            <a:off x="623888" y="1137664"/>
            <a:ext cx="2985815" cy="1648080"/>
            <a:chOff x="623888" y="1023936"/>
            <a:chExt cx="2985815" cy="1648080"/>
          </a:xfrm>
        </p:grpSpPr>
        <p:sp>
          <p:nvSpPr>
            <p:cNvPr id="611" name="矩形: 圆顶角 610"/>
            <p:cNvSpPr/>
            <p:nvPr/>
          </p:nvSpPr>
          <p:spPr>
            <a:xfrm>
              <a:off x="623888" y="1023936"/>
              <a:ext cx="2985815"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13" name="矩形: 圆顶角 612"/>
            <p:cNvSpPr/>
            <p:nvPr/>
          </p:nvSpPr>
          <p:spPr>
            <a:xfrm flipV="1">
              <a:off x="623888" y="1321479"/>
              <a:ext cx="2985815" cy="1350537"/>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sp>
        <p:nvSpPr>
          <p:cNvPr id="587" name="椭圆 586"/>
          <p:cNvSpPr/>
          <p:nvPr/>
        </p:nvSpPr>
        <p:spPr>
          <a:xfrm>
            <a:off x="3994582" y="1146116"/>
            <a:ext cx="4202836" cy="4202836"/>
          </a:xfrm>
          <a:prstGeom prst="ellipse">
            <a:avLst/>
          </a:prstGeom>
          <a:solidFill>
            <a:schemeClr val="bg1"/>
          </a:solidFill>
          <a:ln>
            <a:noFill/>
          </a:ln>
          <a:effectLst>
            <a:outerShdw blurRad="88900" sx="102000" sy="102000" algn="ctr" rotWithShape="0">
              <a:schemeClr val="bg2">
                <a:lumMod val="90000"/>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F1920"/>
              </a:solidFill>
              <a:latin typeface="+mn-ea"/>
            </a:endParaRPr>
          </a:p>
        </p:txBody>
      </p:sp>
      <p:sp>
        <p:nvSpPr>
          <p:cNvPr id="20" name="椭圆 19"/>
          <p:cNvSpPr/>
          <p:nvPr/>
        </p:nvSpPr>
        <p:spPr>
          <a:xfrm>
            <a:off x="4976311" y="2127845"/>
            <a:ext cx="2239378" cy="2239378"/>
          </a:xfrm>
          <a:prstGeom prst="ellipse">
            <a:avLst/>
          </a:prstGeom>
          <a:solidFill>
            <a:schemeClr val="bg1"/>
          </a:solidFill>
          <a:ln>
            <a:noFill/>
          </a:ln>
          <a:effectLst>
            <a:outerShdw blurRad="63500" sx="102000" sy="1020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F1920"/>
              </a:solidFill>
              <a:latin typeface="+mn-ea"/>
            </a:endParaRPr>
          </a:p>
        </p:txBody>
      </p:sp>
      <p:sp>
        <p:nvSpPr>
          <p:cNvPr id="708" name="矩形: 圆角 707"/>
          <p:cNvSpPr/>
          <p:nvPr/>
        </p:nvSpPr>
        <p:spPr>
          <a:xfrm>
            <a:off x="545420" y="5678410"/>
            <a:ext cx="11107484" cy="571499"/>
          </a:xfrm>
          <a:prstGeom prst="roundRect">
            <a:avLst>
              <a:gd name="adj" fmla="val 25385"/>
            </a:avLst>
          </a:prstGeom>
          <a:solidFill>
            <a:schemeClr val="bg1"/>
          </a:solidFill>
          <a:ln>
            <a:noFill/>
          </a:ln>
          <a:effectLst>
            <a:outerShdw blurRad="63500" algn="ctr"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F1920"/>
              </a:solidFill>
              <a:latin typeface="+mn-ea"/>
            </a:endParaRPr>
          </a:p>
        </p:txBody>
      </p:sp>
      <p:sp>
        <p:nvSpPr>
          <p:cNvPr id="3" name="subtitle"/>
          <p:cNvSpPr>
            <a:spLocks noGrp="1"/>
          </p:cNvSpPr>
          <p:nvPr/>
        </p:nvSpPr>
        <p:spPr>
          <a:xfrm>
            <a:off x="0" y="461521"/>
            <a:ext cx="12192635" cy="554479"/>
          </a:xfrm>
          <a:prstGeom prst="rect">
            <a:avLst/>
          </a:prstGeom>
          <a:noFill/>
          <a:ln w="0">
            <a:noFill/>
            <a:prstDash val="solid"/>
          </a:ln>
        </p:spPr>
        <p:txBody>
          <a:bodyPr anchor="ctr"/>
          <a:lstStyle/>
          <a:p>
            <a:pPr algn="ctr">
              <a:lnSpc>
                <a:spcPct val="110000"/>
              </a:lnSpc>
              <a:buNone/>
              <a:defRPr sz="135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400" dirty="0">
                <a:solidFill>
                  <a:schemeClr val="tx1">
                    <a:lumMod val="95000"/>
                    <a:lumOff val="5000"/>
                  </a:schemeClr>
                </a:solidFill>
                <a:latin typeface="OPPOSans M" panose="00020600040101010101" charset="-122"/>
                <a:ea typeface="OPPOSans M" panose="00020600040101010101" charset="-122"/>
              </a:rPr>
              <a:t>开放平台连接生态参与者，百川承接设备构建、运行与现场交付</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4" name="文本框 3"/>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百川与开放平台</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rPr>
              <a:t>运行底座与生态协作分工</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endParaRPr>
          </a:p>
        </p:txBody>
      </p:sp>
      <p:sp>
        <p:nvSpPr>
          <p:cNvPr id="615" name="core-cap-body-0"/>
          <p:cNvSpPr>
            <a:spLocks noGrp="1"/>
          </p:cNvSpPr>
          <p:nvPr/>
        </p:nvSpPr>
        <p:spPr>
          <a:xfrm>
            <a:off x="638867" y="1673124"/>
            <a:ext cx="2970836" cy="580869"/>
          </a:xfrm>
          <a:prstGeom prst="rect">
            <a:avLst/>
          </a:prstGeom>
          <a:noFill/>
          <a:ln w="0">
            <a:noFill/>
            <a:prstDash val="solid"/>
          </a:ln>
        </p:spPr>
        <p:txBody>
          <a:bodyPr anchor="ctr"/>
          <a:lstStyle/>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rgbClr val="000000"/>
                </a:solidFill>
                <a:latin typeface="OPPOSans M" panose="00020600040101010101" charset="-122"/>
                <a:ea typeface="OPPOSans M" panose="00020600040101010101" charset="-122"/>
                <a:cs typeface="OPPOSans M" panose="00020600040101010101" charset="-122"/>
              </a:rPr>
              <a:t>提供设备、部件与适配资料</a:t>
            </a:r>
            <a:endParaRPr lang="en-US" altLang="zh-CN" sz="1000" dirty="0">
              <a:solidFill>
                <a:srgbClr val="000000"/>
              </a:solidFill>
              <a:latin typeface="OPPOSans M" panose="00020600040101010101" charset="-122"/>
              <a:ea typeface="OPPOSans M" panose="00020600040101010101" charset="-122"/>
              <a:cs typeface="OPPOSans M" panose="00020600040101010101" charset="-122"/>
            </a:endParaRPr>
          </a:p>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rgbClr val="000000"/>
                </a:solidFill>
                <a:latin typeface="OPPOSans M" panose="00020600040101010101" charset="-122"/>
                <a:ea typeface="OPPOSans M" panose="00020600040101010101" charset="-122"/>
                <a:cs typeface="OPPOSans M" panose="00020600040101010101" charset="-122"/>
              </a:rPr>
              <a:t>支撑硬件选型与设备接入</a:t>
            </a:r>
            <a:endParaRPr lang="zh-CN" altLang="en-US" sz="10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60" name="shared-body"/>
          <p:cNvSpPr>
            <a:spLocks noGrp="1"/>
          </p:cNvSpPr>
          <p:nvPr/>
        </p:nvSpPr>
        <p:spPr>
          <a:xfrm>
            <a:off x="7394244" y="5802234"/>
            <a:ext cx="3661881" cy="323850"/>
          </a:xfrm>
          <a:prstGeom prst="rect">
            <a:avLst/>
          </a:prstGeom>
          <a:noFill/>
          <a:ln w="0">
            <a:noFill/>
            <a:prstDash val="solid"/>
          </a:ln>
        </p:spPr>
        <p:txBody>
          <a:bodyPr anchor="ctr"/>
          <a:lstStyle/>
          <a:p>
            <a:pPr algn="l">
              <a:buNone/>
              <a:defRPr sz="1125" b="0">
                <a:solidFill>
                  <a:srgbClr val="5E6978"/>
                </a:solidFill>
              </a:defRPr>
            </a:pPr>
            <a:r>
              <a:rPr lang="zh-CN" altLang="en-US"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rPr>
              <a:t>百川集成与基础服务提供统一能力接口和运行支撑</a:t>
            </a:r>
            <a:endParaRPr sz="900" dirty="0">
              <a:solidFill>
                <a:srgbClr val="00000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8" name="callout-text"/>
          <p:cNvSpPr>
            <a:spLocks noGrp="1"/>
          </p:cNvSpPr>
          <p:nvPr/>
        </p:nvSpPr>
        <p:spPr>
          <a:xfrm>
            <a:off x="263525" y="6250104"/>
            <a:ext cx="11664950" cy="337214"/>
          </a:xfrm>
          <a:prstGeom prst="rect">
            <a:avLst/>
          </a:prstGeom>
          <a:noFill/>
          <a:ln w="0">
            <a:noFill/>
            <a:prstDash val="solid"/>
          </a:ln>
        </p:spPr>
        <p:txBody>
          <a:bodyPr anchor="ctr">
            <a:noAutofit/>
          </a:bodyPr>
          <a:lstStyle/>
          <a:p>
            <a:pPr algn="ctr"/>
            <a:r>
              <a:rPr lang="zh-CN" altLang="en-US" sz="900" dirty="0">
                <a:solidFill>
                  <a:schemeClr val="bg1">
                    <a:lumMod val="65000"/>
                  </a:schemeClr>
                </a:solidFill>
                <a:latin typeface="+mn-ea"/>
                <a:cs typeface="OPPOSans M" panose="00020600040101010101" charset="-122"/>
                <a:sym typeface="+mn-ea"/>
              </a:rPr>
              <a:t>百川运维不是独立的日志查看器</a:t>
            </a:r>
            <a:r>
              <a:rPr lang="en-US" altLang="zh-CN" sz="900" dirty="0">
                <a:solidFill>
                  <a:schemeClr val="bg1">
                    <a:lumMod val="65000"/>
                  </a:schemeClr>
                </a:solidFill>
                <a:latin typeface="+mn-ea"/>
                <a:cs typeface="OPPOSans M" panose="00020600040101010101" charset="-122"/>
                <a:sym typeface="+mn-ea"/>
              </a:rPr>
              <a:t>.,</a:t>
            </a:r>
            <a:r>
              <a:rPr lang="zh-CN" altLang="en-US" sz="900" dirty="0">
                <a:solidFill>
                  <a:schemeClr val="bg1">
                    <a:lumMod val="65000"/>
                  </a:schemeClr>
                </a:solidFill>
                <a:latin typeface="+mn-ea"/>
                <a:cs typeface="OPPOSans M" panose="00020600040101010101" charset="-122"/>
                <a:sym typeface="+mn-ea"/>
              </a:rPr>
              <a:t>而是把运行数据、维修过程和问题经验沉淀为持续改进资产的设备黑匣子</a:t>
            </a:r>
            <a:endParaRPr lang="zh-CN" altLang="en-US" sz="900" dirty="0">
              <a:solidFill>
                <a:schemeClr val="bg1">
                  <a:lumMod val="65000"/>
                </a:schemeClr>
              </a:solidFill>
              <a:latin typeface="+mn-ea"/>
              <a:cs typeface="OPPOSans M" panose="00020600040101010101" charset="-122"/>
              <a:sym typeface="+mn-ea"/>
            </a:endParaRPr>
          </a:p>
        </p:txBody>
      </p:sp>
      <p:sp>
        <p:nvSpPr>
          <p:cNvPr id="21" name="文本框 20"/>
          <p:cNvSpPr txBox="1"/>
          <p:nvPr/>
        </p:nvSpPr>
        <p:spPr>
          <a:xfrm>
            <a:off x="638867" y="1164364"/>
            <a:ext cx="2970836" cy="261610"/>
          </a:xfrm>
          <a:prstGeom prst="rect">
            <a:avLst/>
          </a:prstGeom>
          <a:noFill/>
        </p:spPr>
        <p:txBody>
          <a:bodyPr wrap="square" rtlCol="0">
            <a:spAutoFit/>
          </a:bodyPr>
          <a:lstStyle/>
          <a:p>
            <a:r>
              <a:rPr lang="zh-CN" altLang="en-US" sz="1100" dirty="0">
                <a:solidFill>
                  <a:srgbClr val="000000"/>
                </a:solidFill>
                <a:latin typeface="OPPOSans M" panose="00020600040101010101" charset="-122"/>
                <a:ea typeface="OPPOSans M" panose="00020600040101010101" charset="-122"/>
                <a:cs typeface="OPPOSans M" panose="00020600040101010101" charset="-122"/>
              </a:rPr>
              <a:t>设备与部件厂商</a:t>
            </a:r>
            <a:endParaRPr lang="zh-CN" altLang="en-US" sz="11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709" name="文本框 708"/>
          <p:cNvSpPr txBox="1"/>
          <p:nvPr/>
        </p:nvSpPr>
        <p:spPr>
          <a:xfrm>
            <a:off x="620890" y="5810271"/>
            <a:ext cx="1299789" cy="307777"/>
          </a:xfrm>
          <a:prstGeom prst="rect">
            <a:avLst/>
          </a:prstGeom>
          <a:noFill/>
        </p:spPr>
        <p:txBody>
          <a:bodyPr wrap="square" rtlCol="0">
            <a:spAutoFit/>
          </a:bodyPr>
          <a:lstStyle/>
          <a:p>
            <a:r>
              <a:rPr lang="zh-CN" altLang="en-US" sz="1400" dirty="0">
                <a:latin typeface="OPPOSans B" panose="00020600040101010101" charset="-122"/>
                <a:ea typeface="OPPOSans B" panose="00020600040101010101" charset="-122"/>
                <a:cs typeface="OPPOSans B" panose="00020600040101010101" charset="-122"/>
              </a:rPr>
              <a:t>百川产品体系</a:t>
            </a:r>
            <a:endParaRPr lang="zh-CN" altLang="en-US" sz="1400" dirty="0">
              <a:latin typeface="OPPOSans B" panose="00020600040101010101" charset="-122"/>
              <a:ea typeface="OPPOSans B" panose="00020600040101010101" charset="-122"/>
              <a:cs typeface="OPPOSans B" panose="00020600040101010101" charset="-122"/>
            </a:endParaRPr>
          </a:p>
        </p:txBody>
      </p:sp>
      <p:sp>
        <p:nvSpPr>
          <p:cNvPr id="710" name="文本框 709"/>
          <p:cNvSpPr txBox="1"/>
          <p:nvPr/>
        </p:nvSpPr>
        <p:spPr>
          <a:xfrm>
            <a:off x="1854634" y="5841049"/>
            <a:ext cx="1998433" cy="246221"/>
          </a:xfrm>
          <a:prstGeom prst="rect">
            <a:avLst/>
          </a:prstGeom>
          <a:noFill/>
        </p:spPr>
        <p:txBody>
          <a:bodyPr wrap="square" rtlCol="0">
            <a:spAutoFit/>
          </a:bodyPr>
          <a:lstStyle/>
          <a:p>
            <a:r>
              <a:rPr lang="zh-CN" altLang="en-US" sz="1000" dirty="0">
                <a:latin typeface="+mj-ea"/>
                <a:ea typeface="+mj-ea"/>
              </a:rPr>
              <a:t>设备构建与运行底座</a:t>
            </a:r>
            <a:endParaRPr lang="zh-CN" altLang="en-US" sz="1000" dirty="0">
              <a:latin typeface="+mj-ea"/>
              <a:ea typeface="+mj-ea"/>
            </a:endParaRPr>
          </a:p>
        </p:txBody>
      </p:sp>
      <p:sp>
        <p:nvSpPr>
          <p:cNvPr id="713" name="文本框 712"/>
          <p:cNvSpPr txBox="1"/>
          <p:nvPr/>
        </p:nvSpPr>
        <p:spPr>
          <a:xfrm>
            <a:off x="5406978" y="2985924"/>
            <a:ext cx="1639306" cy="461665"/>
          </a:xfrm>
          <a:prstGeom prst="rect">
            <a:avLst/>
          </a:prstGeom>
          <a:noFill/>
        </p:spPr>
        <p:txBody>
          <a:bodyPr wrap="square" rtlCol="0">
            <a:spAutoFit/>
          </a:bodyPr>
          <a:lstStyle/>
          <a:p>
            <a:r>
              <a:rPr lang="zh-CN" altLang="en-US" sz="2400" dirty="0">
                <a:solidFill>
                  <a:srgbClr val="BF1920"/>
                </a:solidFill>
                <a:latin typeface="OPPOSans R" panose="00020600040101010101" pitchFamily="18" charset="-122"/>
                <a:ea typeface="OPPOSans R" panose="00020600040101010101" pitchFamily="18" charset="-122"/>
                <a:cs typeface="OPPOSans R" panose="00020600040101010101" pitchFamily="18" charset="-122"/>
              </a:rPr>
              <a:t>开放平台</a:t>
            </a:r>
            <a:endParaRPr lang="zh-CN" altLang="en-US" sz="2400" dirty="0">
              <a:solidFill>
                <a:srgbClr val="BF1920"/>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36" name="open-platform-subtitle"/>
          <p:cNvSpPr>
            <a:spLocks noGrp="1"/>
          </p:cNvSpPr>
          <p:nvPr/>
        </p:nvSpPr>
        <p:spPr>
          <a:xfrm>
            <a:off x="5482748" y="3342853"/>
            <a:ext cx="1226505" cy="285750"/>
          </a:xfrm>
          <a:prstGeom prst="rect">
            <a:avLst/>
          </a:prstGeom>
          <a:noFill/>
          <a:ln w="0">
            <a:noFill/>
          </a:ln>
        </p:spPr>
        <p:txBody>
          <a:bodyPr wrap="square" lIns="0" tIns="0" rIns="0" bIns="0" anchor="ctr">
            <a:noAutofit/>
          </a:bodyPr>
          <a:lstStyle/>
          <a:p>
            <a:pPr algn="ctr">
              <a:lnSpc>
                <a:spcPct val="11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sz="1000" dirty="0" err="1">
                <a:solidFill>
                  <a:srgbClr val="111827"/>
                </a:solidFill>
                <a:latin typeface="OPPOSans M" panose="00020600040101010101" charset="-122"/>
                <a:ea typeface="OPPOSans M" panose="00020600040101010101" charset="-122"/>
                <a:cs typeface="OPPOSans M" panose="00020600040101010101" charset="-122"/>
              </a:rPr>
              <a:t>能力供给与生态协作</a:t>
            </a:r>
            <a:endParaRPr sz="1000" dirty="0">
              <a:solidFill>
                <a:srgbClr val="111827"/>
              </a:solidFill>
              <a:latin typeface="OPPOSans M" panose="00020600040101010101" charset="-122"/>
              <a:ea typeface="OPPOSans M" panose="00020600040101010101" charset="-122"/>
              <a:cs typeface="OPPOSans M" panose="00020600040101010101" charset="-122"/>
            </a:endParaRPr>
          </a:p>
        </p:txBody>
      </p:sp>
      <p:sp>
        <p:nvSpPr>
          <p:cNvPr id="38" name="platform-function-detail-0"/>
          <p:cNvSpPr>
            <a:spLocks noGrp="1"/>
          </p:cNvSpPr>
          <p:nvPr/>
        </p:nvSpPr>
        <p:spPr>
          <a:xfrm>
            <a:off x="5597783" y="1503995"/>
            <a:ext cx="972907" cy="417689"/>
          </a:xfrm>
          <a:prstGeom prst="rect">
            <a:avLst/>
          </a:prstGeom>
          <a:noFill/>
          <a:ln w="0">
            <a:noFill/>
          </a:ln>
        </p:spPr>
        <p:txBody>
          <a:bodyPr wrap="square" lIns="0" tIns="0" rIns="0" bIns="0" anchor="ctr">
            <a:noAutofit/>
          </a:bodyPr>
          <a:lstStyle/>
          <a:p>
            <a:pPr algn="ctr">
              <a:lnSpc>
                <a:spcPct val="150000"/>
              </a:lnSpc>
              <a:buNone/>
              <a:defRPr sz="1200" b="0">
                <a:solidFill>
                  <a:srgbClr val="111827"/>
                </a:solidFill>
                <a:latin typeface="Noto Sans SC" panose="020B0200000000000000" charset="-122"/>
                <a:ea typeface="Noto Sans SC" panose="020B0200000000000000" charset="-122"/>
                <a:cs typeface="Noto Sans SC" panose="020B0200000000000000" charset="-122"/>
              </a:defRPr>
            </a:pPr>
            <a:r>
              <a:rPr sz="900" b="0" dirty="0" err="1">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文档、SDK、Skill</a:t>
            </a:r>
            <a:r>
              <a:rPr sz="900" b="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 </a:t>
            </a:r>
            <a:r>
              <a:rPr sz="900" b="0" dirty="0" err="1">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与本机开发</a:t>
            </a:r>
            <a:endParaRPr sz="900" b="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588" name="文本框 587"/>
          <p:cNvSpPr txBox="1"/>
          <p:nvPr/>
        </p:nvSpPr>
        <p:spPr>
          <a:xfrm>
            <a:off x="5706020" y="1260854"/>
            <a:ext cx="908838" cy="276999"/>
          </a:xfrm>
          <a:prstGeom prst="rect">
            <a:avLst/>
          </a:prstGeom>
          <a:noFill/>
        </p:spPr>
        <p:txBody>
          <a:bodyPr wrap="square" rtlCol="0">
            <a:spAutoFit/>
          </a:bodyPr>
          <a:lstStyle/>
          <a:p>
            <a:r>
              <a:rPr lang="zh-CN" altLang="en-US" sz="1200" dirty="0">
                <a:solidFill>
                  <a:srgbClr val="C00000"/>
                </a:solidFill>
                <a:latin typeface="OPPOSans M" panose="00020600040101010101" charset="-122"/>
                <a:ea typeface="OPPOSans M" panose="00020600040101010101" charset="-122"/>
                <a:cs typeface="OPPOSans M" panose="00020600040101010101" charset="-122"/>
              </a:rPr>
              <a:t>学习开发</a:t>
            </a:r>
            <a:endParaRPr lang="zh-CN" altLang="en-US" sz="1200" dirty="0">
              <a:solidFill>
                <a:srgbClr val="C00000"/>
              </a:solidFill>
              <a:latin typeface="OPPOSans M" panose="00020600040101010101" charset="-122"/>
              <a:ea typeface="OPPOSans M" panose="00020600040101010101" charset="-122"/>
              <a:cs typeface="OPPOSans M" panose="00020600040101010101" charset="-122"/>
            </a:endParaRPr>
          </a:p>
        </p:txBody>
      </p:sp>
      <p:sp>
        <p:nvSpPr>
          <p:cNvPr id="599" name="platform-function-detail-0"/>
          <p:cNvSpPr>
            <a:spLocks noGrp="1"/>
          </p:cNvSpPr>
          <p:nvPr/>
        </p:nvSpPr>
        <p:spPr>
          <a:xfrm>
            <a:off x="5597783" y="4791209"/>
            <a:ext cx="972907" cy="417689"/>
          </a:xfrm>
          <a:prstGeom prst="rect">
            <a:avLst/>
          </a:prstGeom>
          <a:noFill/>
          <a:ln w="0">
            <a:noFill/>
          </a:ln>
        </p:spPr>
        <p:txBody>
          <a:bodyPr wrap="square" lIns="0" tIns="0" rIns="0" bIns="0" anchor="ctr">
            <a:noAutofit/>
          </a:bodyPr>
          <a:lstStyle/>
          <a:p>
            <a:pPr algn="ctr">
              <a:lnSpc>
                <a:spcPct val="150000"/>
              </a:lnSpc>
              <a:buNone/>
              <a:defRPr sz="1200" b="0">
                <a:solidFill>
                  <a:srgbClr val="111827"/>
                </a:solidFill>
                <a:latin typeface="Noto Sans SC" panose="020B0200000000000000" charset="-122"/>
                <a:ea typeface="Noto Sans SC" panose="020B0200000000000000" charset="-122"/>
                <a:cs typeface="Noto Sans SC" panose="020B0200000000000000" charset="-122"/>
              </a:defRPr>
            </a:pPr>
            <a:r>
              <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需求发布、承接意向与线下跟进</a:t>
            </a:r>
            <a:endPar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00" name="文本框 599"/>
          <p:cNvSpPr txBox="1"/>
          <p:nvPr/>
        </p:nvSpPr>
        <p:spPr>
          <a:xfrm>
            <a:off x="5706020" y="4527652"/>
            <a:ext cx="908838" cy="276999"/>
          </a:xfrm>
          <a:prstGeom prst="rect">
            <a:avLst/>
          </a:prstGeom>
          <a:noFill/>
        </p:spPr>
        <p:txBody>
          <a:bodyPr wrap="square" rtlCol="0">
            <a:spAutoFit/>
          </a:bodyPr>
          <a:lstStyle/>
          <a:p>
            <a:r>
              <a:rPr lang="zh-CN" altLang="en-US" sz="1200" dirty="0">
                <a:solidFill>
                  <a:srgbClr val="C00000"/>
                </a:solidFill>
                <a:latin typeface="OPPOSans M" panose="00020600040101010101" charset="-122"/>
                <a:ea typeface="OPPOSans M" panose="00020600040101010101" charset="-122"/>
                <a:cs typeface="OPPOSans M" panose="00020600040101010101" charset="-122"/>
              </a:rPr>
              <a:t>项目协作</a:t>
            </a:r>
            <a:endParaRPr lang="zh-CN" altLang="en-US" sz="1200" dirty="0">
              <a:solidFill>
                <a:srgbClr val="C00000"/>
              </a:solidFill>
              <a:latin typeface="OPPOSans M" panose="00020600040101010101" charset="-122"/>
              <a:ea typeface="OPPOSans M" panose="00020600040101010101" charset="-122"/>
              <a:cs typeface="OPPOSans M" panose="00020600040101010101" charset="-122"/>
            </a:endParaRPr>
          </a:p>
        </p:txBody>
      </p:sp>
      <p:sp>
        <p:nvSpPr>
          <p:cNvPr id="601" name="platform-function-detail-0"/>
          <p:cNvSpPr>
            <a:spLocks noGrp="1"/>
          </p:cNvSpPr>
          <p:nvPr/>
        </p:nvSpPr>
        <p:spPr>
          <a:xfrm>
            <a:off x="7328930" y="3252239"/>
            <a:ext cx="842821" cy="417689"/>
          </a:xfrm>
          <a:prstGeom prst="rect">
            <a:avLst/>
          </a:prstGeom>
          <a:noFill/>
          <a:ln w="0">
            <a:noFill/>
          </a:ln>
        </p:spPr>
        <p:txBody>
          <a:bodyPr wrap="square" lIns="0" tIns="0" rIns="0" bIns="0" anchor="ctr">
            <a:noAutofit/>
          </a:bodyPr>
          <a:lstStyle/>
          <a:p>
            <a:pPr algn="ctr">
              <a:lnSpc>
                <a:spcPct val="150000"/>
              </a:lnSpc>
              <a:buNone/>
              <a:defRPr sz="1200" b="0">
                <a:solidFill>
                  <a:srgbClr val="111827"/>
                </a:solidFill>
                <a:latin typeface="Noto Sans SC" panose="020B0200000000000000" charset="-122"/>
                <a:ea typeface="Noto Sans SC" panose="020B0200000000000000" charset="-122"/>
                <a:cs typeface="Noto Sans SC" panose="020B0200000000000000" charset="-122"/>
              </a:defRPr>
            </a:pPr>
            <a:r>
              <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插件市场、设备商城</a:t>
            </a:r>
            <a:endPar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02" name="文本框 601"/>
          <p:cNvSpPr txBox="1"/>
          <p:nvPr/>
        </p:nvSpPr>
        <p:spPr>
          <a:xfrm>
            <a:off x="7355919" y="2988682"/>
            <a:ext cx="908838" cy="276999"/>
          </a:xfrm>
          <a:prstGeom prst="rect">
            <a:avLst/>
          </a:prstGeom>
          <a:noFill/>
        </p:spPr>
        <p:txBody>
          <a:bodyPr wrap="square" rtlCol="0">
            <a:spAutoFit/>
          </a:bodyPr>
          <a:lstStyle/>
          <a:p>
            <a:r>
              <a:rPr lang="zh-CN" altLang="en-US" sz="1200" dirty="0">
                <a:solidFill>
                  <a:srgbClr val="C00000"/>
                </a:solidFill>
                <a:latin typeface="OPPOSans M" panose="00020600040101010101" charset="-122"/>
                <a:ea typeface="OPPOSans M" panose="00020600040101010101" charset="-122"/>
                <a:cs typeface="OPPOSans M" panose="00020600040101010101" charset="-122"/>
              </a:rPr>
              <a:t>供给展示</a:t>
            </a:r>
            <a:endParaRPr lang="zh-CN" altLang="en-US" sz="1200" dirty="0">
              <a:solidFill>
                <a:srgbClr val="C00000"/>
              </a:solidFill>
              <a:latin typeface="OPPOSans M" panose="00020600040101010101" charset="-122"/>
              <a:ea typeface="OPPOSans M" panose="00020600040101010101" charset="-122"/>
              <a:cs typeface="OPPOSans M" panose="00020600040101010101" charset="-122"/>
            </a:endParaRPr>
          </a:p>
        </p:txBody>
      </p:sp>
      <p:sp>
        <p:nvSpPr>
          <p:cNvPr id="603" name="platform-function-detail-0"/>
          <p:cNvSpPr>
            <a:spLocks noGrp="1"/>
          </p:cNvSpPr>
          <p:nvPr/>
        </p:nvSpPr>
        <p:spPr>
          <a:xfrm>
            <a:off x="4080109" y="3252239"/>
            <a:ext cx="835043" cy="417689"/>
          </a:xfrm>
          <a:prstGeom prst="rect">
            <a:avLst/>
          </a:prstGeom>
          <a:noFill/>
          <a:ln w="0">
            <a:noFill/>
          </a:ln>
        </p:spPr>
        <p:txBody>
          <a:bodyPr wrap="square" lIns="0" tIns="0" rIns="0" bIns="0" anchor="ctr">
            <a:noAutofit/>
          </a:bodyPr>
          <a:lstStyle/>
          <a:p>
            <a:pPr algn="l">
              <a:lnSpc>
                <a:spcPct val="150000"/>
              </a:lnSpc>
              <a:buNone/>
              <a:defRPr sz="1200" b="0">
                <a:solidFill>
                  <a:srgbClr val="111827"/>
                </a:solidFill>
                <a:latin typeface="Noto Sans SC" panose="020B0200000000000000" charset="-122"/>
                <a:ea typeface="Noto Sans SC" panose="020B0200000000000000" charset="-122"/>
                <a:cs typeface="Noto Sans SC" panose="020B0200000000000000" charset="-122"/>
              </a:defRPr>
            </a:pPr>
            <a:r>
              <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学院社区、组织管理与支持工单</a:t>
            </a:r>
            <a:endParaRPr lang="zh-CN" altLang="en-US" sz="90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04" name="文本框 603"/>
          <p:cNvSpPr txBox="1"/>
          <p:nvPr/>
        </p:nvSpPr>
        <p:spPr>
          <a:xfrm>
            <a:off x="4067475" y="2988682"/>
            <a:ext cx="908838" cy="276999"/>
          </a:xfrm>
          <a:prstGeom prst="rect">
            <a:avLst/>
          </a:prstGeom>
          <a:noFill/>
        </p:spPr>
        <p:txBody>
          <a:bodyPr wrap="square" rtlCol="0">
            <a:spAutoFit/>
          </a:bodyPr>
          <a:lstStyle/>
          <a:p>
            <a:r>
              <a:rPr lang="zh-CN" altLang="en-US" sz="1200" dirty="0">
                <a:solidFill>
                  <a:srgbClr val="C00000"/>
                </a:solidFill>
                <a:latin typeface="OPPOSans M" panose="00020600040101010101" charset="-122"/>
                <a:ea typeface="OPPOSans M" panose="00020600040101010101" charset="-122"/>
                <a:cs typeface="OPPOSans M" panose="00020600040101010101" charset="-122"/>
              </a:rPr>
              <a:t>运营服务</a:t>
            </a:r>
            <a:endParaRPr lang="zh-CN" altLang="en-US" sz="1200" dirty="0">
              <a:solidFill>
                <a:srgbClr val="C00000"/>
              </a:solidFill>
              <a:latin typeface="OPPOSans M" panose="00020600040101010101" charset="-122"/>
              <a:ea typeface="OPPOSans M" panose="00020600040101010101" charset="-122"/>
              <a:cs typeface="OPPOSans M" panose="00020600040101010101" charset="-122"/>
            </a:endParaRPr>
          </a:p>
        </p:txBody>
      </p:sp>
      <p:sp>
        <p:nvSpPr>
          <p:cNvPr id="605" name="右箭头 16"/>
          <p:cNvSpPr>
            <a:spLocks noChangeAspect="1"/>
          </p:cNvSpPr>
          <p:nvPr/>
        </p:nvSpPr>
        <p:spPr>
          <a:xfrm rot="5400000">
            <a:off x="5978346" y="5392841"/>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606" name="右箭头 16"/>
          <p:cNvSpPr>
            <a:spLocks noChangeAspect="1"/>
          </p:cNvSpPr>
          <p:nvPr/>
        </p:nvSpPr>
        <p:spPr>
          <a:xfrm rot="2700000">
            <a:off x="3834123" y="1960084"/>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grpSp>
        <p:nvGrpSpPr>
          <p:cNvPr id="621" name="组合 620"/>
          <p:cNvGrpSpPr/>
          <p:nvPr/>
        </p:nvGrpSpPr>
        <p:grpSpPr>
          <a:xfrm>
            <a:off x="8582297" y="1137664"/>
            <a:ext cx="2985815" cy="1648080"/>
            <a:chOff x="623888" y="1023936"/>
            <a:chExt cx="2985815" cy="1648080"/>
          </a:xfrm>
        </p:grpSpPr>
        <p:sp>
          <p:nvSpPr>
            <p:cNvPr id="622" name="矩形: 圆顶角 621"/>
            <p:cNvSpPr/>
            <p:nvPr/>
          </p:nvSpPr>
          <p:spPr>
            <a:xfrm>
              <a:off x="623888" y="1023936"/>
              <a:ext cx="2985815"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23" name="矩形: 圆顶角 622"/>
            <p:cNvSpPr/>
            <p:nvPr/>
          </p:nvSpPr>
          <p:spPr>
            <a:xfrm flipV="1">
              <a:off x="623888" y="1321479"/>
              <a:ext cx="2985815" cy="1350537"/>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sp>
        <p:nvSpPr>
          <p:cNvPr id="624" name="core-cap-body-0"/>
          <p:cNvSpPr>
            <a:spLocks noGrp="1"/>
          </p:cNvSpPr>
          <p:nvPr/>
        </p:nvSpPr>
        <p:spPr>
          <a:xfrm>
            <a:off x="8597276" y="1673124"/>
            <a:ext cx="2970836" cy="580869"/>
          </a:xfrm>
          <a:prstGeom prst="rect">
            <a:avLst/>
          </a:prstGeom>
          <a:noFill/>
          <a:ln w="0">
            <a:noFill/>
            <a:prstDash val="solid"/>
          </a:ln>
        </p:spPr>
        <p:txBody>
          <a:bodyPr anchor="ctr"/>
          <a:lstStyle/>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通过项目榜单发现需求</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完成方案实施与现场交付</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25" name="文本框 624"/>
          <p:cNvSpPr txBox="1"/>
          <p:nvPr/>
        </p:nvSpPr>
        <p:spPr>
          <a:xfrm>
            <a:off x="8597276" y="1164364"/>
            <a:ext cx="2970836" cy="261610"/>
          </a:xfrm>
          <a:prstGeom prst="rect">
            <a:avLst/>
          </a:prstGeom>
          <a:noFill/>
        </p:spPr>
        <p:txBody>
          <a:bodyPr wrap="square" rtlCol="0">
            <a:spAutoFit/>
          </a:bodyPr>
          <a:lstStyle/>
          <a:p>
            <a:r>
              <a:rPr lang="zh-CN" altLang="en-US" sz="1100" dirty="0">
                <a:solidFill>
                  <a:srgbClr val="000000"/>
                </a:solidFill>
                <a:latin typeface="OPPOSans M" panose="00020600040101010101" charset="-122"/>
                <a:ea typeface="OPPOSans M" panose="00020600040101010101" charset="-122"/>
                <a:cs typeface="OPPOSans M" panose="00020600040101010101" charset="-122"/>
              </a:rPr>
              <a:t>集成商与交付团队</a:t>
            </a:r>
            <a:endParaRPr lang="zh-CN" altLang="en-US" sz="11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26" name="右箭头 16"/>
          <p:cNvSpPr>
            <a:spLocks noChangeAspect="1"/>
          </p:cNvSpPr>
          <p:nvPr/>
        </p:nvSpPr>
        <p:spPr>
          <a:xfrm rot="9000000">
            <a:off x="8119131" y="1965903"/>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grpSp>
        <p:nvGrpSpPr>
          <p:cNvPr id="627" name="组合 626"/>
          <p:cNvGrpSpPr/>
          <p:nvPr/>
        </p:nvGrpSpPr>
        <p:grpSpPr>
          <a:xfrm>
            <a:off x="623888" y="3652264"/>
            <a:ext cx="2985815" cy="1648080"/>
            <a:chOff x="623888" y="1023936"/>
            <a:chExt cx="2985815" cy="1648080"/>
          </a:xfrm>
        </p:grpSpPr>
        <p:sp>
          <p:nvSpPr>
            <p:cNvPr id="628" name="矩形: 圆顶角 627"/>
            <p:cNvSpPr/>
            <p:nvPr/>
          </p:nvSpPr>
          <p:spPr>
            <a:xfrm>
              <a:off x="623888" y="1023936"/>
              <a:ext cx="2985815"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29" name="矩形: 圆顶角 628"/>
            <p:cNvSpPr/>
            <p:nvPr/>
          </p:nvSpPr>
          <p:spPr>
            <a:xfrm flipV="1">
              <a:off x="623888" y="1321479"/>
              <a:ext cx="2985815" cy="1350537"/>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sp>
        <p:nvSpPr>
          <p:cNvPr id="630" name="core-cap-body-0"/>
          <p:cNvSpPr>
            <a:spLocks noGrp="1"/>
          </p:cNvSpPr>
          <p:nvPr/>
        </p:nvSpPr>
        <p:spPr>
          <a:xfrm>
            <a:off x="638867" y="4187724"/>
            <a:ext cx="2970836" cy="580869"/>
          </a:xfrm>
          <a:prstGeom prst="rect">
            <a:avLst/>
          </a:prstGeom>
          <a:noFill/>
          <a:ln w="0">
            <a:noFill/>
            <a:prstDash val="solid"/>
          </a:ln>
        </p:spPr>
        <p:txBody>
          <a:bodyPr anchor="ctr"/>
          <a:lstStyle/>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开发插件、算法与设备协议</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形成可复用的软件能力和版本</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31" name="文本框 630"/>
          <p:cNvSpPr txBox="1"/>
          <p:nvPr/>
        </p:nvSpPr>
        <p:spPr>
          <a:xfrm>
            <a:off x="638867" y="3678964"/>
            <a:ext cx="2970836" cy="261610"/>
          </a:xfrm>
          <a:prstGeom prst="rect">
            <a:avLst/>
          </a:prstGeom>
          <a:noFill/>
        </p:spPr>
        <p:txBody>
          <a:bodyPr wrap="square" rtlCol="0">
            <a:spAutoFit/>
          </a:bodyPr>
          <a:lstStyle/>
          <a:p>
            <a:r>
              <a:rPr lang="zh-CN" altLang="en-US" sz="1100" dirty="0">
                <a:solidFill>
                  <a:srgbClr val="000000"/>
                </a:solidFill>
                <a:latin typeface="OPPOSans M" panose="00020600040101010101" charset="-122"/>
                <a:ea typeface="OPPOSans M" panose="00020600040101010101" charset="-122"/>
                <a:cs typeface="OPPOSans M" panose="00020600040101010101" charset="-122"/>
              </a:rPr>
              <a:t>开发者</a:t>
            </a:r>
            <a:endParaRPr lang="zh-CN" altLang="en-US" sz="1100" dirty="0">
              <a:solidFill>
                <a:srgbClr val="000000"/>
              </a:solidFill>
              <a:latin typeface="OPPOSans M" panose="00020600040101010101" charset="-122"/>
              <a:ea typeface="OPPOSans M" panose="00020600040101010101" charset="-122"/>
              <a:cs typeface="OPPOSans M" panose="00020600040101010101" charset="-122"/>
            </a:endParaRPr>
          </a:p>
        </p:txBody>
      </p:sp>
      <p:grpSp>
        <p:nvGrpSpPr>
          <p:cNvPr id="632" name="组合 631"/>
          <p:cNvGrpSpPr/>
          <p:nvPr/>
        </p:nvGrpSpPr>
        <p:grpSpPr>
          <a:xfrm>
            <a:off x="8582297" y="3652264"/>
            <a:ext cx="2985815" cy="1648080"/>
            <a:chOff x="623888" y="1023936"/>
            <a:chExt cx="2985815" cy="1648080"/>
          </a:xfrm>
        </p:grpSpPr>
        <p:sp>
          <p:nvSpPr>
            <p:cNvPr id="633" name="矩形: 圆顶角 632"/>
            <p:cNvSpPr/>
            <p:nvPr/>
          </p:nvSpPr>
          <p:spPr>
            <a:xfrm>
              <a:off x="623888" y="1023936"/>
              <a:ext cx="2985815" cy="312671"/>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34" name="矩形: 圆顶角 633"/>
            <p:cNvSpPr/>
            <p:nvPr/>
          </p:nvSpPr>
          <p:spPr>
            <a:xfrm flipV="1">
              <a:off x="623888" y="1321479"/>
              <a:ext cx="2985815" cy="1350537"/>
            </a:xfrm>
            <a:prstGeom prst="round2SameRect">
              <a:avLst>
                <a:gd name="adj1" fmla="val 8678"/>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V</a:t>
              </a:r>
              <a:endParaRPr lang="zh-CN" altLang="en-US" dirty="0"/>
            </a:p>
          </p:txBody>
        </p:sp>
      </p:grpSp>
      <p:sp>
        <p:nvSpPr>
          <p:cNvPr id="635" name="core-cap-body-0"/>
          <p:cNvSpPr>
            <a:spLocks noGrp="1"/>
          </p:cNvSpPr>
          <p:nvPr/>
        </p:nvSpPr>
        <p:spPr>
          <a:xfrm>
            <a:off x="8597276" y="4187724"/>
            <a:ext cx="2970836" cy="580869"/>
          </a:xfrm>
          <a:prstGeom prst="rect">
            <a:avLst/>
          </a:prstGeom>
          <a:noFill/>
          <a:ln w="0">
            <a:noFill/>
            <a:prstDash val="solid"/>
          </a:ln>
        </p:spPr>
        <p:txBody>
          <a:bodyPr anchor="ctr"/>
          <a:lstStyle/>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发布需求并选择合作伙伴</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900" dirty="0">
                <a:solidFill>
                  <a:srgbClr val="000000"/>
                </a:solidFill>
                <a:latin typeface="OPPOSans M" panose="00020600040101010101" charset="-122"/>
                <a:ea typeface="OPPOSans M" panose="00020600040101010101" charset="-122"/>
                <a:cs typeface="OPPOSans M" panose="00020600040101010101" charset="-122"/>
              </a:rPr>
              <a:t>反馈使用问题与改进建议</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36" name="文本框 635"/>
          <p:cNvSpPr txBox="1"/>
          <p:nvPr/>
        </p:nvSpPr>
        <p:spPr>
          <a:xfrm>
            <a:off x="8597276" y="3678964"/>
            <a:ext cx="2970836" cy="261610"/>
          </a:xfrm>
          <a:prstGeom prst="rect">
            <a:avLst/>
          </a:prstGeom>
          <a:noFill/>
        </p:spPr>
        <p:txBody>
          <a:bodyPr wrap="square" rtlCol="0">
            <a:spAutoFit/>
          </a:bodyPr>
          <a:lstStyle/>
          <a:p>
            <a:r>
              <a:rPr lang="zh-CN" altLang="en-US" sz="1100" dirty="0">
                <a:solidFill>
                  <a:srgbClr val="000000"/>
                </a:solidFill>
                <a:latin typeface="OPPOSans M" panose="00020600040101010101" charset="-122"/>
                <a:ea typeface="OPPOSans M" panose="00020600040101010101" charset="-122"/>
                <a:cs typeface="OPPOSans M" panose="00020600040101010101" charset="-122"/>
              </a:rPr>
              <a:t>企业用户</a:t>
            </a:r>
            <a:endParaRPr lang="zh-CN" altLang="en-US" sz="11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44" name="右箭头 16"/>
          <p:cNvSpPr>
            <a:spLocks noChangeAspect="1"/>
          </p:cNvSpPr>
          <p:nvPr/>
        </p:nvSpPr>
        <p:spPr>
          <a:xfrm rot="18900000" flipV="1">
            <a:off x="3834123" y="4376711"/>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645" name="右箭头 16"/>
          <p:cNvSpPr>
            <a:spLocks noChangeAspect="1"/>
          </p:cNvSpPr>
          <p:nvPr/>
        </p:nvSpPr>
        <p:spPr>
          <a:xfrm rot="12600000" flipV="1">
            <a:off x="8119131" y="4382530"/>
            <a:ext cx="241633" cy="241679"/>
          </a:xfrm>
          <a:prstGeom prst="rightArrow">
            <a:avLst/>
          </a:prstGeom>
          <a:solidFill>
            <a:srgbClr val="BF192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rgbClr val="241F7D"/>
                </a:solidFill>
              </a:rPr>
              <a:t> </a:t>
            </a:r>
            <a:endParaRPr lang="zh-CN" altLang="en-US" dirty="0">
              <a:solidFill>
                <a:srgbClr val="241F7D"/>
              </a:solidFill>
            </a:endParaRPr>
          </a:p>
        </p:txBody>
      </p:sp>
      <p:sp>
        <p:nvSpPr>
          <p:cNvPr id="647" name="文本框 646"/>
          <p:cNvSpPr txBox="1"/>
          <p:nvPr/>
        </p:nvSpPr>
        <p:spPr>
          <a:xfrm>
            <a:off x="6358117" y="5406648"/>
            <a:ext cx="1597088" cy="230832"/>
          </a:xfrm>
          <a:prstGeom prst="rect">
            <a:avLst/>
          </a:prstGeom>
          <a:noFill/>
        </p:spPr>
        <p:txBody>
          <a:bodyPr wrap="square" rtlCol="0">
            <a:spAutoFit/>
          </a:bodyPr>
          <a:lstStyle/>
          <a:p>
            <a:r>
              <a:rPr lang="zh-CN" altLang="en-US" sz="900" dirty="0">
                <a:solidFill>
                  <a:srgbClr val="000000"/>
                </a:solidFill>
                <a:latin typeface="OPPOSans M" panose="00020600040101010101" charset="-122"/>
                <a:ea typeface="OPPOSans M" panose="00020600040101010101" charset="-122"/>
                <a:cs typeface="OPPOSans M" panose="00020600040101010101" charset="-122"/>
              </a:rPr>
              <a:t>设备侧落地</a:t>
            </a:r>
            <a:endParaRPr lang="zh-CN" altLang="en-US" sz="900" dirty="0">
              <a:solidFill>
                <a:srgbClr val="000000"/>
              </a:solidFill>
              <a:latin typeface="OPPOSans M" panose="00020600040101010101" charset="-122"/>
              <a:ea typeface="OPPOSans M" panose="00020600040101010101" charset="-122"/>
              <a:cs typeface="OPPOSans M" panose="00020600040101010101" charset="-122"/>
            </a:endParaRPr>
          </a:p>
        </p:txBody>
      </p:sp>
      <p:sp>
        <p:nvSpPr>
          <p:cNvPr id="648" name="文本框 647"/>
          <p:cNvSpPr txBox="1"/>
          <p:nvPr/>
        </p:nvSpPr>
        <p:spPr>
          <a:xfrm>
            <a:off x="4893824" y="5841049"/>
            <a:ext cx="2753250" cy="246221"/>
          </a:xfrm>
          <a:prstGeom prst="rect">
            <a:avLst/>
          </a:prstGeom>
          <a:noFill/>
        </p:spPr>
        <p:txBody>
          <a:bodyPr wrap="square" rtlCol="0">
            <a:spAutoFit/>
          </a:bodyPr>
          <a:lstStyle/>
          <a:p>
            <a:r>
              <a:rPr lang="zh-CN" altLang="en-US" sz="1000" dirty="0">
                <a:latin typeface="+mj-ea"/>
                <a:ea typeface="+mj-ea"/>
              </a:rPr>
              <a:t>数字造机</a:t>
            </a:r>
            <a:r>
              <a:rPr lang="en-US" altLang="zh-CN" sz="1000" dirty="0">
                <a:latin typeface="+mj-ea"/>
                <a:ea typeface="+mj-ea"/>
              </a:rPr>
              <a:t>·</a:t>
            </a:r>
            <a:r>
              <a:rPr lang="zh-CN" altLang="en-US" sz="1000" dirty="0">
                <a:latin typeface="+mj-ea"/>
                <a:ea typeface="+mj-ea"/>
              </a:rPr>
              <a:t>百川装机</a:t>
            </a:r>
            <a:r>
              <a:rPr lang="en-US" altLang="zh-CN" sz="1000" dirty="0">
                <a:latin typeface="+mj-ea"/>
                <a:ea typeface="+mj-ea"/>
              </a:rPr>
              <a:t>·</a:t>
            </a:r>
            <a:r>
              <a:rPr lang="zh-CN" altLang="en-US" sz="1000" dirty="0">
                <a:latin typeface="+mj-ea"/>
                <a:ea typeface="+mj-ea"/>
              </a:rPr>
              <a:t>百川轻搭</a:t>
            </a:r>
            <a:r>
              <a:rPr lang="en-US" altLang="zh-CN" sz="1000" dirty="0">
                <a:latin typeface="+mj-ea"/>
                <a:ea typeface="+mj-ea"/>
              </a:rPr>
              <a:t>·</a:t>
            </a:r>
            <a:r>
              <a:rPr lang="zh-CN" altLang="en-US" sz="1000" dirty="0">
                <a:latin typeface="+mj-ea"/>
                <a:ea typeface="+mj-ea"/>
              </a:rPr>
              <a:t>百川运维</a:t>
            </a:r>
            <a:endParaRPr lang="zh-CN" altLang="en-US" sz="1000" dirty="0">
              <a:latin typeface="+mj-ea"/>
              <a:ea typeface="+mj-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016000"/>
            <a:ext cx="12192000" cy="5243285"/>
          </a:xfrm>
          <a:prstGeom prst="rect">
            <a:avLst/>
          </a:prstGeom>
          <a:solidFill>
            <a:srgbClr val="F6F8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buNone/>
              <a:defRPr sz="1350" b="0">
                <a:solidFill>
                  <a:srgbClr val="5E6978"/>
                </a:solidFill>
              </a:defRPr>
            </a:pPr>
            <a:r>
              <a:rPr lang="zh-CN" altLang="en-US" sz="1400" dirty="0">
                <a:solidFill>
                  <a:schemeClr val="tx1">
                    <a:lumMod val="95000"/>
                    <a:lumOff val="5000"/>
                  </a:schemeClr>
                </a:solidFill>
                <a:latin typeface="OPPOSans M" panose="00020600040101010101" charset="-122"/>
                <a:ea typeface="OPPOSans M" panose="00020600040101010101" charset="-122"/>
                <a:sym typeface="+mn-ea"/>
              </a:rPr>
              <a:t>开发者贡献应用与插件，厂商及集成商构建多种设备，共同扩展场景能力</a:t>
            </a:r>
            <a:endParaRPr lang="zh-CN" altLang="en-US" sz="1400" dirty="0">
              <a:solidFill>
                <a:schemeClr val="tx1">
                  <a:lumMod val="95000"/>
                  <a:lumOff val="5000"/>
                </a:schemeClr>
              </a:solidFill>
              <a:latin typeface="OPPOSans M" panose="00020600040101010101" charset="-122"/>
              <a:ea typeface="OPPOSans M" panose="00020600040101010101" charset="-122"/>
              <a:sym typeface="+mn-ea"/>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生态共创</a:t>
            </a:r>
            <a:r>
              <a:rPr lang="en-US" altLang="zh-CN"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a:t>
            </a:r>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多元角色、丰富应用与异构设备</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 name="callout-text"/>
          <p:cNvSpPr>
            <a:spLocks noGrp="1"/>
          </p:cNvSpPr>
          <p:nvPr/>
        </p:nvSpPr>
        <p:spPr>
          <a:xfrm>
            <a:off x="263525" y="6259285"/>
            <a:ext cx="11664950" cy="467394"/>
          </a:xfrm>
          <a:prstGeom prst="rect">
            <a:avLst/>
          </a:prstGeom>
          <a:noFill/>
          <a:ln w="0">
            <a:noFill/>
            <a:prstDash val="solid"/>
          </a:ln>
        </p:spPr>
        <p:txBody>
          <a:bodyPr anchor="ctr">
            <a:noAutofit/>
          </a:bodyPr>
          <a:lstStyle/>
          <a:p>
            <a:pPr lvl="0" algn="ctr">
              <a:buClrTx/>
              <a:buSzTx/>
              <a:buFontTx/>
              <a:defRPr sz="1125" b="1">
                <a:solidFill>
                  <a:srgbClr val="FFFFFF"/>
                </a:solidFill>
              </a:defRPr>
            </a:pPr>
            <a:r>
              <a:rPr lang="zh-CN" altLang="en-US" sz="900" dirty="0">
                <a:solidFill>
                  <a:srgbClr val="000000"/>
                </a:solidFill>
                <a:latin typeface="+mn-ea"/>
                <a:cs typeface="OPPOSans M" panose="00020600040101010101" charset="-122"/>
                <a:sym typeface="+mn-ea"/>
              </a:rPr>
              <a:t>开放平台连接共创者，百川承载应用与设备，共同扩展工业场景</a:t>
            </a:r>
            <a:endParaRPr lang="zh-CN" altLang="en-US" sz="900" dirty="0">
              <a:solidFill>
                <a:srgbClr val="000000"/>
              </a:solidFill>
              <a:latin typeface="+mn-ea"/>
              <a:cs typeface="OPPOSans M" panose="00020600040101010101" charset="-122"/>
              <a:sym typeface="+mn-ea"/>
            </a:endParaRPr>
          </a:p>
        </p:txBody>
      </p:sp>
      <p:pic>
        <p:nvPicPr>
          <p:cNvPr id="3" name="图片 2"/>
          <p:cNvPicPr>
            <a:picLocks noChangeAspect="1"/>
          </p:cNvPicPr>
          <p:nvPr/>
        </p:nvPicPr>
        <p:blipFill>
          <a:blip r:embed="rId1"/>
          <a:stretch>
            <a:fillRect/>
          </a:stretch>
        </p:blipFill>
        <p:spPr>
          <a:xfrm>
            <a:off x="105682" y="1016001"/>
            <a:ext cx="11918576" cy="3972858"/>
          </a:xfrm>
          <a:prstGeom prst="rect">
            <a:avLst/>
          </a:prstGeom>
        </p:spPr>
      </p:pic>
      <p:sp>
        <p:nvSpPr>
          <p:cNvPr id="13" name="people-caption"/>
          <p:cNvSpPr>
            <a:spLocks noGrp="1"/>
          </p:cNvSpPr>
          <p:nvPr/>
        </p:nvSpPr>
        <p:spPr>
          <a:xfrm>
            <a:off x="652463" y="5304411"/>
            <a:ext cx="3276600" cy="561975"/>
          </a:xfrm>
          <a:prstGeom prst="rect">
            <a:avLst/>
          </a:prstGeom>
          <a:noFill/>
          <a:ln w="0">
            <a:noFill/>
          </a:ln>
        </p:spPr>
        <p:txBody>
          <a:bodyPr wrap="square" lIns="0" tIns="0" rIns="0" bIns="0" anchor="ctr">
            <a:noAutofit/>
          </a:bodyPr>
          <a:lstStyle/>
          <a:p>
            <a:pPr algn="ctr">
              <a:lnSpc>
                <a:spcPct val="150000"/>
              </a:lnSpc>
              <a:buNone/>
              <a:defRPr sz="1125" b="0">
                <a:solidFill>
                  <a:srgbClr val="5E6978"/>
                </a:solidFill>
                <a:latin typeface="Noto Sans SC" panose="020B0200000000000000" charset="-122"/>
                <a:ea typeface="Noto Sans SC" panose="020B0200000000000000" charset="-122"/>
                <a:cs typeface="Noto Sans SC" panose="020B0200000000000000" charset="-122"/>
              </a:defRPr>
            </a:pPr>
            <a:r>
              <a:rPr sz="1000" dirty="0" err="1">
                <a:solidFill>
                  <a:schemeClr val="tx1">
                    <a:lumMod val="75000"/>
                    <a:lumOff val="25000"/>
                  </a:schemeClr>
                </a:solidFill>
                <a:latin typeface="+mn-ea"/>
                <a:ea typeface="Noto Sans SC" panose="020B0200000000000000" charset="-122"/>
                <a:cs typeface="OPPOSans M" panose="00020600040101010101" charset="-122"/>
              </a:rPr>
              <a:t>应用开发者、算法工程师、硬件工程师</a:t>
            </a:r>
            <a:endParaRPr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125" b="0">
                <a:solidFill>
                  <a:srgbClr val="5E6978"/>
                </a:solidFill>
                <a:latin typeface="Noto Sans SC" panose="020B0200000000000000" charset="-122"/>
                <a:ea typeface="Noto Sans SC" panose="020B0200000000000000" charset="-122"/>
                <a:cs typeface="Noto Sans SC" panose="020B0200000000000000" charset="-122"/>
              </a:defRPr>
            </a:pPr>
            <a:r>
              <a:rPr sz="1000" dirty="0" err="1">
                <a:solidFill>
                  <a:schemeClr val="tx1">
                    <a:lumMod val="75000"/>
                    <a:lumOff val="25000"/>
                  </a:schemeClr>
                </a:solidFill>
                <a:latin typeface="+mn-ea"/>
                <a:ea typeface="Noto Sans SC" panose="020B0200000000000000" charset="-122"/>
                <a:cs typeface="OPPOSans M" panose="00020600040101010101" charset="-122"/>
              </a:rPr>
              <a:t>设备厂商、机械工程师、系统集成商</a:t>
            </a:r>
            <a:endParaRPr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125" b="0">
                <a:solidFill>
                  <a:srgbClr val="5E6978"/>
                </a:solidFill>
                <a:latin typeface="Noto Sans SC" panose="020B0200000000000000" charset="-122"/>
                <a:ea typeface="Noto Sans SC" panose="020B0200000000000000" charset="-122"/>
                <a:cs typeface="Noto Sans SC" panose="020B0200000000000000" charset="-122"/>
              </a:defRPr>
            </a:pPr>
            <a:r>
              <a:rPr sz="1000" dirty="0" err="1">
                <a:solidFill>
                  <a:schemeClr val="tx1">
                    <a:lumMod val="75000"/>
                    <a:lumOff val="25000"/>
                  </a:schemeClr>
                </a:solidFill>
                <a:latin typeface="+mn-ea"/>
                <a:ea typeface="Noto Sans SC" panose="020B0200000000000000" charset="-122"/>
                <a:cs typeface="OPPOSans M" panose="00020600040101010101" charset="-122"/>
              </a:rPr>
              <a:t>交付工程师、行业专家</a:t>
            </a:r>
            <a:endParaRPr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16" name="function-model-title"/>
          <p:cNvSpPr>
            <a:spLocks noGrp="1"/>
          </p:cNvSpPr>
          <p:nvPr/>
        </p:nvSpPr>
        <p:spPr>
          <a:xfrm>
            <a:off x="623888" y="4874447"/>
            <a:ext cx="3276600" cy="352424"/>
          </a:xfrm>
          <a:prstGeom prst="rect">
            <a:avLst/>
          </a:prstGeom>
          <a:noFill/>
          <a:ln w="0">
            <a:noFill/>
            <a:prstDash val="solid"/>
          </a:ln>
        </p:spPr>
        <p:txBody>
          <a:bodyPr anchor="ctr"/>
          <a:lstStyle/>
          <a:p>
            <a:pPr algn="ctr"/>
            <a:r>
              <a:rPr lang="zh-CN" altLang="en-US" sz="1400" dirty="0">
                <a:solidFill>
                  <a:srgbClr val="111827"/>
                </a:solidFill>
                <a:latin typeface="OPPOSans B" panose="00020600040101010101" charset="-122"/>
                <a:ea typeface="OPPOSans B" panose="00020600040101010101" charset="-122"/>
                <a:cs typeface="OPPOSans B" panose="00020600040101010101" charset="-122"/>
              </a:rPr>
              <a:t>多元参与者</a:t>
            </a:r>
            <a:endParaRPr lang="zh-CN" altLang="en-US"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0" name="people-caption"/>
          <p:cNvSpPr>
            <a:spLocks noGrp="1"/>
          </p:cNvSpPr>
          <p:nvPr/>
        </p:nvSpPr>
        <p:spPr>
          <a:xfrm>
            <a:off x="4495120" y="5163460"/>
            <a:ext cx="3276600" cy="561975"/>
          </a:xfrm>
          <a:prstGeom prst="rect">
            <a:avLst/>
          </a:prstGeom>
          <a:noFill/>
          <a:ln w="0">
            <a:noFill/>
          </a:ln>
        </p:spPr>
        <p:txBody>
          <a:bodyPr wrap="square" lIns="0" tIns="0" rIns="0" bIns="0" anchor="ctr">
            <a:noAutofit/>
          </a:bodyPr>
          <a:lstStyle/>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行业应用、算法插件</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275"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设备适配插件、业务功能插件</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21" name="function-model-title"/>
          <p:cNvSpPr>
            <a:spLocks noGrp="1"/>
          </p:cNvSpPr>
          <p:nvPr/>
        </p:nvSpPr>
        <p:spPr>
          <a:xfrm>
            <a:off x="4466545" y="4874447"/>
            <a:ext cx="3276600" cy="352424"/>
          </a:xfrm>
          <a:prstGeom prst="rect">
            <a:avLst/>
          </a:prstGeom>
          <a:noFill/>
          <a:ln w="0">
            <a:noFill/>
            <a:prstDash val="solid"/>
          </a:ln>
        </p:spPr>
        <p:txBody>
          <a:bodyPr anchor="ctr"/>
          <a:lstStyle/>
          <a:p>
            <a:pPr algn="ctr"/>
            <a:r>
              <a:rPr lang="zh-CN" altLang="en-US" sz="1400" dirty="0">
                <a:solidFill>
                  <a:srgbClr val="111827"/>
                </a:solidFill>
                <a:latin typeface="OPPOSans B" panose="00020600040101010101" charset="-122"/>
                <a:ea typeface="OPPOSans B" panose="00020600040101010101" charset="-122"/>
                <a:cs typeface="OPPOSans B" panose="00020600040101010101" charset="-122"/>
              </a:rPr>
              <a:t>可复用的软件能力</a:t>
            </a:r>
            <a:endParaRPr lang="zh-CN" altLang="en-US"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4" name="people-caption"/>
          <p:cNvSpPr>
            <a:spLocks noGrp="1"/>
          </p:cNvSpPr>
          <p:nvPr/>
        </p:nvSpPr>
        <p:spPr>
          <a:xfrm>
            <a:off x="8310563" y="5163460"/>
            <a:ext cx="3276600" cy="561975"/>
          </a:xfrm>
          <a:prstGeom prst="rect">
            <a:avLst/>
          </a:prstGeom>
          <a:noFill/>
          <a:ln w="0">
            <a:noFill/>
          </a:ln>
        </p:spPr>
        <p:txBody>
          <a:bodyPr wrap="square" lIns="0" tIns="0" rIns="0" bIns="0" anchor="ctr">
            <a:noAutofit/>
          </a:bodyPr>
          <a:lstStyle/>
          <a:p>
            <a:pPr algn="ct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移动机器人、机械臂、复合机器人</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200" b="0">
                <a:solidFill>
                  <a:srgbClr val="5E6978"/>
                </a:solidFill>
                <a:latin typeface="Noto Sans SC" panose="020B0200000000000000" charset="-122"/>
                <a:ea typeface="Noto Sans SC" panose="020B0200000000000000" charset="-122"/>
                <a:cs typeface="Noto Sans SC" panose="020B0200000000000000" charset="-122"/>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四足机器人、无人叉车、视觉检测设备</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25" name="function-model-title"/>
          <p:cNvSpPr>
            <a:spLocks noGrp="1"/>
          </p:cNvSpPr>
          <p:nvPr/>
        </p:nvSpPr>
        <p:spPr>
          <a:xfrm>
            <a:off x="8281988" y="4874447"/>
            <a:ext cx="3276600" cy="352424"/>
          </a:xfrm>
          <a:prstGeom prst="rect">
            <a:avLst/>
          </a:prstGeom>
          <a:noFill/>
          <a:ln w="0">
            <a:noFill/>
            <a:prstDash val="solid"/>
          </a:ln>
        </p:spPr>
        <p:txBody>
          <a:bodyPr anchor="ctr"/>
          <a:lstStyle/>
          <a:p>
            <a:pPr algn="ctr"/>
            <a:r>
              <a:rPr lang="zh-CN" altLang="en-US" sz="1400" dirty="0">
                <a:solidFill>
                  <a:srgbClr val="111827"/>
                </a:solidFill>
                <a:latin typeface="OPPOSans B" panose="00020600040101010101" charset="-122"/>
                <a:ea typeface="OPPOSans B" panose="00020600040101010101" charset="-122"/>
                <a:cs typeface="OPPOSans B" panose="00020600040101010101" charset="-122"/>
              </a:rPr>
              <a:t>多形态的异构设备</a:t>
            </a:r>
            <a:endParaRPr lang="zh-CN" altLang="en-US" sz="1400" dirty="0">
              <a:solidFill>
                <a:srgbClr val="111827"/>
              </a:solidFill>
              <a:latin typeface="OPPOSans B" panose="00020600040101010101" charset="-122"/>
              <a:ea typeface="OPPOSans B" panose="00020600040101010101" charset="-122"/>
              <a:cs typeface="OPPOSans B" panose="00020600040101010101" charset="-122"/>
            </a:endParaRPr>
          </a:p>
        </p:txBody>
      </p:sp>
      <p:sp>
        <p:nvSpPr>
          <p:cNvPr id="26" name="illustration-disclosure"/>
          <p:cNvSpPr>
            <a:spLocks noGrp="1"/>
          </p:cNvSpPr>
          <p:nvPr/>
        </p:nvSpPr>
        <p:spPr>
          <a:xfrm>
            <a:off x="-634" y="5900037"/>
            <a:ext cx="12241620" cy="359248"/>
          </a:xfrm>
          <a:prstGeom prst="rect">
            <a:avLst/>
          </a:prstGeom>
          <a:noFill/>
          <a:ln w="0">
            <a:noFill/>
          </a:ln>
        </p:spPr>
        <p:txBody>
          <a:bodyPr wrap="square" lIns="0" tIns="0" rIns="0" bIns="0" anchor="ctr">
            <a:noAutofit/>
          </a:bodyPr>
          <a:lstStyle/>
          <a:p>
            <a:pPr algn="ctr">
              <a:lnSpc>
                <a:spcPct val="110000"/>
              </a:lnSpc>
              <a:buNone/>
              <a:defRPr sz="900" b="0">
                <a:solidFill>
                  <a:srgbClr val="5E6978"/>
                </a:solidFill>
                <a:latin typeface="Noto Sans SC" panose="020B0200000000000000" charset="-122"/>
                <a:ea typeface="Noto Sans SC" panose="020B0200000000000000" charset="-122"/>
                <a:cs typeface="Noto Sans SC" panose="020B0200000000000000" charset="-122"/>
              </a:defRPr>
            </a:pPr>
            <a:r>
              <a:rPr sz="900" b="0" dirty="0" err="1">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生态愿景示意，人物与成果均为</a:t>
            </a:r>
            <a:r>
              <a:rPr sz="900" b="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 AI </a:t>
            </a:r>
            <a:r>
              <a:rPr sz="900" b="0" dirty="0" err="1">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rPr>
              <a:t>生成</a:t>
            </a:r>
            <a:endParaRPr sz="900" b="0" dirty="0">
              <a:solidFill>
                <a:schemeClr val="bg1">
                  <a:lumMod val="50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501473" y="3046350"/>
            <a:ext cx="11189053" cy="3551300"/>
          </a:xfrm>
          <a:prstGeom prst="roundRect">
            <a:avLst>
              <a:gd name="adj" fmla="val 3755"/>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221" name="subtitle"/>
          <p:cNvSpPr>
            <a:spLocks noGrp="1"/>
          </p:cNvSpPr>
          <p:nvPr/>
        </p:nvSpPr>
        <p:spPr>
          <a:xfrm>
            <a:off x="-635" y="474221"/>
            <a:ext cx="12192635" cy="554479"/>
          </a:xfrm>
          <a:prstGeom prst="rect">
            <a:avLst/>
          </a:prstGeom>
          <a:noFill/>
          <a:ln w="0">
            <a:noFill/>
            <a:prstDash val="solid"/>
          </a:ln>
        </p:spPr>
        <p:txBody>
          <a:bodyPr anchor="ctr"/>
          <a:lstStyle/>
          <a:p>
            <a:pPr algn="ctr"/>
            <a:r>
              <a:rPr lang="zh-CN" altLang="en-US" sz="1400" dirty="0">
                <a:solidFill>
                  <a:schemeClr val="tx1">
                    <a:lumMod val="95000"/>
                    <a:lumOff val="5000"/>
                  </a:schemeClr>
                </a:solidFill>
                <a:latin typeface="OPPOSans M" panose="00020600040101010101" charset="-122"/>
                <a:ea typeface="OPPOSans M" panose="00020600040101010101" charset="-122"/>
              </a:rPr>
              <a:t>形成设备构建、能力供给与生态协作体系</a:t>
            </a:r>
            <a:endParaRPr lang="zh-CN" altLang="en-US" sz="1400" dirty="0">
              <a:solidFill>
                <a:schemeClr val="tx1">
                  <a:lumMod val="95000"/>
                  <a:lumOff val="5000"/>
                </a:schemeClr>
              </a:solidFill>
              <a:latin typeface="OPPOSans M" panose="00020600040101010101" charset="-122"/>
              <a:ea typeface="OPPOSans M" panose="00020600040101010101" charset="-122"/>
            </a:endParaRPr>
          </a:p>
        </p:txBody>
      </p:sp>
      <p:sp>
        <p:nvSpPr>
          <p:cNvPr id="19" name="文本框 18"/>
          <p:cNvSpPr txBox="1"/>
          <p:nvPr/>
        </p:nvSpPr>
        <p:spPr>
          <a:xfrm>
            <a:off x="174171" y="0"/>
            <a:ext cx="7167699" cy="490220"/>
          </a:xfrm>
          <a:prstGeom prst="rect">
            <a:avLst/>
          </a:prstGeom>
          <a:noFill/>
        </p:spPr>
        <p:txBody>
          <a:bodyPr wrap="square" anchor="ctr" anchorCtr="0">
            <a:noAutofit/>
          </a:bodyPr>
          <a:lstStyle/>
          <a:p>
            <a:r>
              <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rPr>
              <a:t>百川与开放平台协同</a:t>
            </a:r>
            <a:endParaRPr lang="zh-CN" altLang="en-US" sz="1500" dirty="0">
              <a:solidFill>
                <a:schemeClr val="tx1">
                  <a:lumMod val="95000"/>
                  <a:lumOff val="5000"/>
                </a:schemeClr>
              </a:solidFill>
              <a:latin typeface="OPPOSans B" panose="00020600040101010101" charset="-122"/>
              <a:ea typeface="OPPOSans B" panose="00020600040101010101" charset="-122"/>
              <a:cs typeface="OPPOSans M" panose="00020600040101010101" charset="-122"/>
              <a:sym typeface="+mn-ea"/>
            </a:endParaRPr>
          </a:p>
        </p:txBody>
      </p:sp>
      <p:sp>
        <p:nvSpPr>
          <p:cNvPr id="2" name="callout-text"/>
          <p:cNvSpPr>
            <a:spLocks noGrp="1"/>
          </p:cNvSpPr>
          <p:nvPr/>
        </p:nvSpPr>
        <p:spPr>
          <a:xfrm>
            <a:off x="263525" y="6044117"/>
            <a:ext cx="11664950" cy="342900"/>
          </a:xfrm>
          <a:prstGeom prst="rect">
            <a:avLst/>
          </a:prstGeom>
          <a:noFill/>
          <a:ln w="0">
            <a:noFill/>
            <a:prstDash val="solid"/>
          </a:ln>
        </p:spPr>
        <p:txBody>
          <a:bodyPr anchor="ctr">
            <a:noAutofit/>
          </a:bodyPr>
          <a:lstStyle/>
          <a:p>
            <a:pPr lvl="0" algn="ctr">
              <a:lnSpc>
                <a:spcPct val="150000"/>
              </a:lnSpc>
              <a:buClrTx/>
              <a:buSzTx/>
              <a:defRPr sz="1125" b="0">
                <a:solidFill>
                  <a:srgbClr val="5E6978"/>
                </a:solidFill>
              </a:defRPr>
            </a:pPr>
            <a:r>
              <a:rPr lang="zh-CN" altLang="en-US" sz="900" dirty="0">
                <a:solidFill>
                  <a:srgbClr val="5D9CFD"/>
                </a:solidFill>
                <a:latin typeface="+mn-ea"/>
                <a:cs typeface="OPPOSans M" panose="00020600040101010101" charset="-122"/>
                <a:sym typeface="+mn-ea"/>
              </a:rPr>
              <a:t>百川提供统一的设备构建与运行底座，开放平台连接能力供给、项目需求和生态服务，让厂商、开发者、集成商与用户围绕同一套标准协作</a:t>
            </a:r>
            <a:endParaRPr lang="zh-CN" altLang="en-US" sz="900" dirty="0">
              <a:solidFill>
                <a:srgbClr val="5D9CFD"/>
              </a:solidFill>
              <a:latin typeface="+mn-ea"/>
              <a:cs typeface="OPPOSans M" panose="00020600040101010101" charset="-122"/>
              <a:sym typeface="+mn-ea"/>
            </a:endParaRPr>
          </a:p>
        </p:txBody>
      </p:sp>
      <p:sp>
        <p:nvSpPr>
          <p:cNvPr id="27" name="矩形: 圆顶角 26"/>
          <p:cNvSpPr/>
          <p:nvPr/>
        </p:nvSpPr>
        <p:spPr>
          <a:xfrm>
            <a:off x="4347868" y="1018909"/>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28" name="矩形: 圆顶角 27"/>
          <p:cNvSpPr/>
          <p:nvPr/>
        </p:nvSpPr>
        <p:spPr>
          <a:xfrm flipV="1">
            <a:off x="4347868" y="1362227"/>
            <a:ext cx="3496264" cy="1376151"/>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29" name="组合 28"/>
          <p:cNvGrpSpPr/>
          <p:nvPr/>
        </p:nvGrpSpPr>
        <p:grpSpPr>
          <a:xfrm>
            <a:off x="7217364" y="1138150"/>
            <a:ext cx="476057" cy="113943"/>
            <a:chOff x="5298623" y="1396154"/>
            <a:chExt cx="507580" cy="121488"/>
          </a:xfrm>
        </p:grpSpPr>
        <p:sp>
          <p:nvSpPr>
            <p:cNvPr id="31" name="椭圆 30"/>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custDataLst>
              <p:tags r:id="rId1"/>
            </p:custDataLst>
          </p:nvPr>
        </p:nvSpPr>
        <p:spPr>
          <a:xfrm>
            <a:off x="4470868" y="1057022"/>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开放平台</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5" name="矩形: 圆顶角 4"/>
          <p:cNvSpPr/>
          <p:nvPr/>
        </p:nvSpPr>
        <p:spPr>
          <a:xfrm>
            <a:off x="501474" y="1018909"/>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6" name="矩形: 圆顶角 5"/>
          <p:cNvSpPr/>
          <p:nvPr/>
        </p:nvSpPr>
        <p:spPr>
          <a:xfrm flipV="1">
            <a:off x="501474" y="1362227"/>
            <a:ext cx="3496264" cy="1376151"/>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8" name="组合 7"/>
          <p:cNvGrpSpPr/>
          <p:nvPr/>
        </p:nvGrpSpPr>
        <p:grpSpPr>
          <a:xfrm>
            <a:off x="3370970" y="1138150"/>
            <a:ext cx="476057" cy="113943"/>
            <a:chOff x="5298623" y="1396154"/>
            <a:chExt cx="507580" cy="121488"/>
          </a:xfrm>
        </p:grpSpPr>
        <p:sp>
          <p:nvSpPr>
            <p:cNvPr id="9" name="椭圆 8"/>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p:custDataLst>
              <p:tags r:id="rId2"/>
            </p:custDataLst>
          </p:nvPr>
        </p:nvSpPr>
        <p:spPr>
          <a:xfrm>
            <a:off x="624474" y="1057022"/>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百川产品体系</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13" name="矩形 12"/>
          <p:cNvSpPr/>
          <p:nvPr>
            <p:custDataLst>
              <p:tags r:id="rId3"/>
            </p:custDataLst>
          </p:nvPr>
        </p:nvSpPr>
        <p:spPr>
          <a:xfrm>
            <a:off x="501474" y="1714827"/>
            <a:ext cx="3496264" cy="488771"/>
          </a:xfrm>
          <a:prstGeom prst="rect">
            <a:avLst/>
          </a:prstGeom>
          <a:noFill/>
          <a:ln>
            <a:noFill/>
          </a:ln>
        </p:spPr>
        <p:txBody>
          <a:bodyPr/>
          <a:lstStyle/>
          <a:p>
            <a:pPr algn="ctr">
              <a:lnSpc>
                <a:spcPct val="150000"/>
              </a:lnSpc>
              <a:buNone/>
              <a:defRPr sz="1125" b="0">
                <a:solidFill>
                  <a:srgbClr val="5E6978"/>
                </a:solidFill>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数字造机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装机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轻搭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运维</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125" b="0">
                <a:solidFill>
                  <a:srgbClr val="5E6978"/>
                </a:solidFill>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统一设备构建、运行与交付</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
        <p:nvSpPr>
          <p:cNvPr id="40" name="矩形: 圆顶角 39"/>
          <p:cNvSpPr/>
          <p:nvPr/>
        </p:nvSpPr>
        <p:spPr>
          <a:xfrm>
            <a:off x="8194262" y="1018909"/>
            <a:ext cx="3496265" cy="342987"/>
          </a:xfrm>
          <a:prstGeom prst="round2SameRect">
            <a:avLst>
              <a:gd name="adj1" fmla="val 36730"/>
              <a:gd name="adj2" fmla="val 0"/>
            </a:avLst>
          </a:prstGeom>
          <a:gradFill flip="none" rotWithShape="1">
            <a:gsLst>
              <a:gs pos="0">
                <a:srgbClr val="EFEFEF"/>
              </a:gs>
              <a:gs pos="100000">
                <a:srgbClr val="D1D1D1"/>
              </a:gs>
            </a:gsLst>
            <a:path path="circle">
              <a:fillToRect l="100000" t="100000"/>
            </a:path>
            <a:tileRect r="-100000" b="-100000"/>
          </a:gradFill>
          <a:ln>
            <a:noFill/>
          </a:ln>
          <a:effectLst>
            <a:outerShdw blurRad="50800" dist="50800" dir="5400000" algn="ctr" rotWithShape="0">
              <a:schemeClr val="bg2">
                <a:lumMod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CDCDC"/>
              </a:solidFill>
            </a:endParaRPr>
          </a:p>
        </p:txBody>
      </p:sp>
      <p:sp>
        <p:nvSpPr>
          <p:cNvPr id="41" name="矩形: 圆顶角 40"/>
          <p:cNvSpPr/>
          <p:nvPr/>
        </p:nvSpPr>
        <p:spPr>
          <a:xfrm flipV="1">
            <a:off x="8194262" y="1362227"/>
            <a:ext cx="3496264" cy="1376151"/>
          </a:xfrm>
          <a:prstGeom prst="round2SameRect">
            <a:avLst>
              <a:gd name="adj1" fmla="val 8352"/>
              <a:gd name="adj2" fmla="val 0"/>
            </a:avLst>
          </a:prstGeom>
          <a:solidFill>
            <a:schemeClr val="bg1"/>
          </a:solidFill>
          <a:ln w="6350">
            <a:noFill/>
          </a:ln>
          <a:effectLst>
            <a:outerShdw blurRad="50800" dist="38100" dir="5400000" algn="t" rotWithShape="0">
              <a:schemeClr val="bg2">
                <a:lumMod val="9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noFill/>
              </a:rPr>
              <a:t>V</a:t>
            </a:r>
            <a:endParaRPr lang="zh-CN" altLang="en-US" dirty="0">
              <a:noFill/>
            </a:endParaRPr>
          </a:p>
        </p:txBody>
      </p:sp>
      <p:grpSp>
        <p:nvGrpSpPr>
          <p:cNvPr id="42" name="组合 41"/>
          <p:cNvGrpSpPr/>
          <p:nvPr/>
        </p:nvGrpSpPr>
        <p:grpSpPr>
          <a:xfrm>
            <a:off x="11063758" y="1138150"/>
            <a:ext cx="476057" cy="113943"/>
            <a:chOff x="5298623" y="1396154"/>
            <a:chExt cx="507580" cy="121488"/>
          </a:xfrm>
        </p:grpSpPr>
        <p:sp>
          <p:nvSpPr>
            <p:cNvPr id="44" name="椭圆 43"/>
            <p:cNvSpPr/>
            <p:nvPr/>
          </p:nvSpPr>
          <p:spPr>
            <a:xfrm>
              <a:off x="5298623" y="1396154"/>
              <a:ext cx="121488" cy="121488"/>
            </a:xfrm>
            <a:prstGeom prst="ellipse">
              <a:avLst/>
            </a:prstGeom>
            <a:solidFill>
              <a:srgbClr val="F97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490989" y="1396154"/>
              <a:ext cx="121488" cy="121488"/>
            </a:xfrm>
            <a:prstGeom prst="ellipse">
              <a:avLst/>
            </a:prstGeom>
            <a:solidFill>
              <a:srgbClr val="F9D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684715" y="1396154"/>
              <a:ext cx="121488" cy="121488"/>
            </a:xfrm>
            <a:prstGeom prst="ellipse">
              <a:avLst/>
            </a:prstGeom>
            <a:solidFill>
              <a:srgbClr val="98E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42"/>
          <p:cNvSpPr/>
          <p:nvPr>
            <p:custDataLst>
              <p:tags r:id="rId4"/>
            </p:custDataLst>
          </p:nvPr>
        </p:nvSpPr>
        <p:spPr>
          <a:xfrm>
            <a:off x="8317262" y="1057022"/>
            <a:ext cx="3006620" cy="288421"/>
          </a:xfrm>
          <a:prstGeom prst="rect">
            <a:avLst/>
          </a:prstGeom>
          <a:noFill/>
          <a:ln>
            <a:noFill/>
          </a:ln>
        </p:spPr>
        <p:txBody>
          <a:bodyPr/>
          <a:lstStyle/>
          <a:p>
            <a:r>
              <a:rPr lang="zh-CN" altLang="en-US" sz="1200" dirty="0">
                <a:solidFill>
                  <a:srgbClr val="111827"/>
                </a:solidFill>
                <a:latin typeface="OPPOSans M" panose="00020600040101010101" charset="-122"/>
                <a:ea typeface="OPPOSans M" panose="00020600040101010101" charset="-122"/>
                <a:cs typeface="OPPOSans B" panose="00020600040101010101" charset="-122"/>
              </a:rPr>
              <a:t>生态参与者</a:t>
            </a:r>
            <a:endParaRPr lang="zh-CN" altLang="en-US" sz="1200" dirty="0">
              <a:solidFill>
                <a:srgbClr val="111827"/>
              </a:solidFill>
              <a:latin typeface="OPPOSans M" panose="00020600040101010101" charset="-122"/>
              <a:ea typeface="OPPOSans M" panose="00020600040101010101" charset="-122"/>
              <a:cs typeface="OPPOSans B" panose="00020600040101010101" charset="-122"/>
            </a:endParaRPr>
          </a:p>
        </p:txBody>
      </p:sp>
      <p:sp>
        <p:nvSpPr>
          <p:cNvPr id="34" name="closing-card-body-1"/>
          <p:cNvSpPr>
            <a:spLocks noGrp="1"/>
          </p:cNvSpPr>
          <p:nvPr/>
        </p:nvSpPr>
        <p:spPr>
          <a:xfrm>
            <a:off x="4347867" y="1670198"/>
            <a:ext cx="3496263" cy="533400"/>
          </a:xfrm>
          <a:prstGeom prst="rect">
            <a:avLst/>
          </a:prstGeom>
          <a:noFill/>
          <a:ln w="0">
            <a:noFill/>
            <a:prstDash val="solid"/>
          </a:ln>
        </p:spPr>
        <p:txBody>
          <a:bodyPr anchor="ctr"/>
          <a:lstStyle/>
          <a:p>
            <a:pPr algn="ctr">
              <a:lnSpc>
                <a:spcPct val="150000"/>
              </a:lnSpc>
              <a:buNone/>
              <a:defRPr sz="1125" b="0">
                <a:solidFill>
                  <a:srgbClr val="5E6978"/>
                </a:solidFill>
              </a:defRPr>
            </a:pPr>
            <a:r>
              <a:rPr sz="1000" dirty="0" err="1">
                <a:solidFill>
                  <a:schemeClr val="tx1">
                    <a:lumMod val="75000"/>
                    <a:lumOff val="25000"/>
                  </a:schemeClr>
                </a:solidFill>
                <a:latin typeface="+mn-ea"/>
                <a:ea typeface="Noto Sans SC" panose="020B0200000000000000" charset="-122"/>
                <a:cs typeface="OPPOSans M" panose="00020600040101010101" charset="-122"/>
              </a:rPr>
              <a:t>开发资源</a:t>
            </a:r>
            <a:r>
              <a:rPr sz="1000" dirty="0">
                <a:solidFill>
                  <a:schemeClr val="tx1">
                    <a:lumMod val="75000"/>
                    <a:lumOff val="25000"/>
                  </a:schemeClr>
                </a:solidFill>
                <a:latin typeface="+mn-ea"/>
                <a:ea typeface="Noto Sans SC" panose="020B0200000000000000" charset="-122"/>
                <a:cs typeface="OPPOSans M" panose="00020600040101010101" charset="-122"/>
              </a:rPr>
              <a:t> · </a:t>
            </a:r>
            <a:r>
              <a:rPr sz="1000" dirty="0" err="1">
                <a:solidFill>
                  <a:schemeClr val="tx1">
                    <a:lumMod val="75000"/>
                    <a:lumOff val="25000"/>
                  </a:schemeClr>
                </a:solidFill>
                <a:latin typeface="+mn-ea"/>
                <a:ea typeface="Noto Sans SC" panose="020B0200000000000000" charset="-122"/>
                <a:cs typeface="OPPOSans M" panose="00020600040101010101" charset="-122"/>
              </a:rPr>
              <a:t>市场商城</a:t>
            </a:r>
            <a:r>
              <a:rPr sz="1000" dirty="0">
                <a:solidFill>
                  <a:schemeClr val="tx1">
                    <a:lumMod val="75000"/>
                    <a:lumOff val="25000"/>
                  </a:schemeClr>
                </a:solidFill>
                <a:latin typeface="+mn-ea"/>
                <a:ea typeface="Noto Sans SC" panose="020B0200000000000000" charset="-122"/>
                <a:cs typeface="OPPOSans M" panose="00020600040101010101" charset="-122"/>
              </a:rPr>
              <a:t> · </a:t>
            </a:r>
            <a:r>
              <a:rPr sz="1000" dirty="0" err="1">
                <a:solidFill>
                  <a:schemeClr val="tx1">
                    <a:lumMod val="75000"/>
                    <a:lumOff val="25000"/>
                  </a:schemeClr>
                </a:solidFill>
                <a:latin typeface="+mn-ea"/>
                <a:ea typeface="Noto Sans SC" panose="020B0200000000000000" charset="-122"/>
                <a:cs typeface="OPPOSans M" panose="00020600040101010101" charset="-122"/>
              </a:rPr>
              <a:t>项目榜单</a:t>
            </a:r>
            <a:endParaRPr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125" b="0">
                <a:solidFill>
                  <a:srgbClr val="5E6978"/>
                </a:solidFill>
              </a:defRPr>
            </a:pPr>
            <a:r>
              <a:rPr sz="1000" dirty="0" err="1">
                <a:solidFill>
                  <a:schemeClr val="tx1">
                    <a:lumMod val="75000"/>
                    <a:lumOff val="25000"/>
                  </a:schemeClr>
                </a:solidFill>
                <a:latin typeface="+mn-ea"/>
                <a:ea typeface="Noto Sans SC" panose="020B0200000000000000" charset="-122"/>
                <a:cs typeface="OPPOSans M" panose="00020600040101010101" charset="-122"/>
              </a:rPr>
              <a:t>组织管理</a:t>
            </a:r>
            <a:r>
              <a:rPr sz="1000" dirty="0">
                <a:solidFill>
                  <a:schemeClr val="tx1">
                    <a:lumMod val="75000"/>
                    <a:lumOff val="25000"/>
                  </a:schemeClr>
                </a:solidFill>
                <a:latin typeface="+mn-ea"/>
                <a:ea typeface="Noto Sans SC" panose="020B0200000000000000" charset="-122"/>
                <a:cs typeface="OPPOSans M" panose="00020600040101010101" charset="-122"/>
              </a:rPr>
              <a:t> · </a:t>
            </a:r>
            <a:r>
              <a:rPr sz="1000" dirty="0" err="1">
                <a:solidFill>
                  <a:schemeClr val="tx1">
                    <a:lumMod val="75000"/>
                    <a:lumOff val="25000"/>
                  </a:schemeClr>
                </a:solidFill>
                <a:latin typeface="+mn-ea"/>
                <a:ea typeface="Noto Sans SC" panose="020B0200000000000000" charset="-122"/>
                <a:cs typeface="OPPOSans M" panose="00020600040101010101" charset="-122"/>
              </a:rPr>
              <a:t>学院社区</a:t>
            </a:r>
            <a:r>
              <a:rPr sz="1000" dirty="0">
                <a:solidFill>
                  <a:schemeClr val="tx1">
                    <a:lumMod val="75000"/>
                    <a:lumOff val="25000"/>
                  </a:schemeClr>
                </a:solidFill>
                <a:latin typeface="+mn-ea"/>
                <a:ea typeface="Noto Sans SC" panose="020B0200000000000000" charset="-122"/>
                <a:cs typeface="OPPOSans M" panose="00020600040101010101" charset="-122"/>
              </a:rPr>
              <a:t> · </a:t>
            </a:r>
            <a:r>
              <a:rPr sz="1000" dirty="0" err="1">
                <a:solidFill>
                  <a:schemeClr val="tx1">
                    <a:lumMod val="75000"/>
                    <a:lumOff val="25000"/>
                  </a:schemeClr>
                </a:solidFill>
                <a:latin typeface="+mn-ea"/>
                <a:ea typeface="Noto Sans SC" panose="020B0200000000000000" charset="-122"/>
                <a:cs typeface="OPPOSans M" panose="00020600040101010101" charset="-122"/>
              </a:rPr>
              <a:t>支持服务</a:t>
            </a:r>
            <a:endParaRPr sz="1000" dirty="0">
              <a:solidFill>
                <a:schemeClr val="tx1">
                  <a:lumMod val="75000"/>
                  <a:lumOff val="25000"/>
                </a:schemeClr>
              </a:solidFill>
              <a:latin typeface="+mn-ea"/>
              <a:ea typeface="Noto Sans SC" panose="020B0200000000000000" charset="-122"/>
              <a:cs typeface="OPPOSans M" panose="00020600040101010101" charset="-122"/>
            </a:endParaRPr>
          </a:p>
        </p:txBody>
      </p:sp>
      <p:pic>
        <p:nvPicPr>
          <p:cNvPr id="52" name="图片 51"/>
          <p:cNvPicPr>
            <a:picLocks noChangeAspect="1"/>
          </p:cNvPicPr>
          <p:nvPr/>
        </p:nvPicPr>
        <p:blipFill>
          <a:blip r:embed="rId5"/>
          <a:stretch>
            <a:fillRect/>
          </a:stretch>
        </p:blipFill>
        <p:spPr>
          <a:xfrm>
            <a:off x="766731" y="3209149"/>
            <a:ext cx="10698314" cy="2674580"/>
          </a:xfrm>
          <a:prstGeom prst="rect">
            <a:avLst/>
          </a:prstGeom>
        </p:spPr>
      </p:pic>
      <p:sp>
        <p:nvSpPr>
          <p:cNvPr id="53" name="closing-card-body-1"/>
          <p:cNvSpPr>
            <a:spLocks noGrp="1"/>
          </p:cNvSpPr>
          <p:nvPr/>
        </p:nvSpPr>
        <p:spPr>
          <a:xfrm>
            <a:off x="8194263" y="1670198"/>
            <a:ext cx="3496263" cy="533400"/>
          </a:xfrm>
          <a:prstGeom prst="rect">
            <a:avLst/>
          </a:prstGeom>
          <a:noFill/>
          <a:ln w="0">
            <a:noFill/>
            <a:prstDash val="solid"/>
          </a:ln>
        </p:spPr>
        <p:txBody>
          <a:bodyPr anchor="ctr"/>
          <a:lstStyle/>
          <a:p>
            <a:pPr algn="ctr">
              <a:lnSpc>
                <a:spcPct val="150000"/>
              </a:lnSpc>
              <a:buNone/>
              <a:defRPr sz="1125" b="0">
                <a:solidFill>
                  <a:srgbClr val="5E6978"/>
                </a:solidFill>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厂商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开发者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集成商 </a:t>
            </a:r>
            <a:r>
              <a:rPr lang="en-US" altLang="zh-CN" sz="1000" dirty="0">
                <a:solidFill>
                  <a:schemeClr val="tx1">
                    <a:lumMod val="75000"/>
                    <a:lumOff val="25000"/>
                  </a:schemeClr>
                </a:solidFill>
                <a:latin typeface="+mn-ea"/>
                <a:ea typeface="Noto Sans SC" panose="020B0200000000000000" charset="-122"/>
                <a:cs typeface="OPPOSans M" panose="00020600040101010101" charset="-122"/>
              </a:rPr>
              <a:t>· </a:t>
            </a: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企业用户</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a:p>
            <a:pPr algn="ctr">
              <a:lnSpc>
                <a:spcPct val="150000"/>
              </a:lnSpc>
              <a:buNone/>
              <a:defRPr sz="1125" b="0">
                <a:solidFill>
                  <a:srgbClr val="5E6978"/>
                </a:solidFill>
              </a:defRPr>
            </a:pPr>
            <a:r>
              <a:rPr lang="zh-CN" altLang="en-US" sz="1000" dirty="0">
                <a:solidFill>
                  <a:schemeClr val="tx1">
                    <a:lumMod val="75000"/>
                    <a:lumOff val="25000"/>
                  </a:schemeClr>
                </a:solidFill>
                <a:latin typeface="+mn-ea"/>
                <a:ea typeface="Noto Sans SC" panose="020B0200000000000000" charset="-122"/>
                <a:cs typeface="OPPOSans M" panose="00020600040101010101" charset="-122"/>
              </a:rPr>
              <a:t>贡献能力、落地项目并反馈需求</a:t>
            </a:r>
            <a:endParaRPr lang="zh-CN" altLang="en-US" sz="1000" dirty="0">
              <a:solidFill>
                <a:schemeClr val="tx1">
                  <a:lumMod val="75000"/>
                  <a:lumOff val="25000"/>
                </a:schemeClr>
              </a:solidFill>
              <a:latin typeface="+mn-ea"/>
              <a:ea typeface="Noto Sans SC" panose="020B0200000000000000" charset="-122"/>
              <a:cs typeface="OPPOSans M" panose="0002060004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 name="textbox 1372"/>
          <p:cNvSpPr/>
          <p:nvPr/>
        </p:nvSpPr>
        <p:spPr>
          <a:xfrm>
            <a:off x="698858" y="708360"/>
            <a:ext cx="4523023" cy="1575710"/>
          </a:xfrm>
          <a:prstGeom prst="rect">
            <a:avLst/>
          </a:prstGeom>
          <a:noFill/>
          <a:ln w="0" cap="flat">
            <a:noFill/>
            <a:prstDash val="solid"/>
            <a:miter lim="0"/>
          </a:ln>
        </p:spPr>
        <p:txBody>
          <a:bodyPr vert="horz" wrap="square" lIns="0" tIns="0" rIns="0" bIns="0"/>
          <a:lstStyle/>
          <a:p>
            <a:pPr algn="l" rtl="0" eaLnBrk="0">
              <a:lnSpc>
                <a:spcPct val="99000"/>
              </a:lnSpc>
            </a:pPr>
            <a:endParaRPr sz="115" dirty="0">
              <a:latin typeface="+mj-ea"/>
              <a:ea typeface="+mj-ea"/>
              <a:cs typeface="Arial" panose="020B0604020202020204"/>
            </a:endParaRPr>
          </a:p>
          <a:p>
            <a:pPr marL="14605" eaLnBrk="0">
              <a:lnSpc>
                <a:spcPct val="79000"/>
              </a:lnSpc>
            </a:pPr>
            <a:r>
              <a:rPr sz="5470" kern="0" spc="422" dirty="0">
                <a:solidFill>
                  <a:srgbClr val="494949">
                    <a:alpha val="100000"/>
                  </a:srgbClr>
                </a:solidFill>
                <a:latin typeface="+mj-ea"/>
                <a:ea typeface="+mj-ea"/>
                <a:cs typeface="思源黑体 CN Medium" panose="020B0600000000000000" charset="-122"/>
              </a:rPr>
              <a:t>让工业更智能</a:t>
            </a:r>
            <a:endParaRPr sz="5470" dirty="0">
              <a:latin typeface="+mj-ea"/>
              <a:ea typeface="+mj-ea"/>
              <a:cs typeface="思源黑体 CN Medium" panose="020B0600000000000000" charset="-122"/>
            </a:endParaRPr>
          </a:p>
          <a:p>
            <a:pPr marL="14605" eaLnBrk="0">
              <a:lnSpc>
                <a:spcPts val="6970"/>
              </a:lnSpc>
            </a:pPr>
            <a:r>
              <a:rPr sz="5470" kern="0" spc="422" dirty="0">
                <a:solidFill>
                  <a:srgbClr val="494949">
                    <a:alpha val="100000"/>
                  </a:srgbClr>
                </a:solidFill>
                <a:latin typeface="+mj-ea"/>
                <a:ea typeface="+mj-ea"/>
                <a:cs typeface="思源黑体 CN Medium" panose="020B0600000000000000" charset="-122"/>
              </a:rPr>
              <a:t>让智能更简单</a:t>
            </a:r>
            <a:endParaRPr sz="5470" dirty="0">
              <a:latin typeface="+mj-ea"/>
              <a:ea typeface="+mj-ea"/>
              <a:cs typeface="思源黑体 CN Medium" panose="020B0600000000000000" charset="-122"/>
            </a:endParaRPr>
          </a:p>
        </p:txBody>
      </p:sp>
      <p:sp>
        <p:nvSpPr>
          <p:cNvPr id="1374" name="textbox 1374"/>
          <p:cNvSpPr/>
          <p:nvPr/>
        </p:nvSpPr>
        <p:spPr>
          <a:xfrm>
            <a:off x="9169558" y="6126108"/>
            <a:ext cx="3076872" cy="330776"/>
          </a:xfrm>
          <a:prstGeom prst="rect">
            <a:avLst/>
          </a:prstGeom>
          <a:noFill/>
          <a:ln w="0" cap="flat">
            <a:noFill/>
            <a:prstDash val="solid"/>
            <a:miter lim="0"/>
          </a:ln>
        </p:spPr>
        <p:txBody>
          <a:bodyPr vert="horz" wrap="square" lIns="0" tIns="0" rIns="0" bIns="0"/>
          <a:lstStyle/>
          <a:p>
            <a:pPr algn="l" rtl="0" eaLnBrk="0">
              <a:lnSpc>
                <a:spcPct val="81000"/>
              </a:lnSpc>
            </a:pPr>
            <a:endParaRPr sz="115" dirty="0">
              <a:latin typeface="+mn-ea"/>
              <a:cs typeface="思源黑体 CN Normal" panose="020B0400000000000000" charset="-122"/>
            </a:endParaRPr>
          </a:p>
          <a:p>
            <a:pPr marL="19685" eaLnBrk="0">
              <a:lnSpc>
                <a:spcPct val="86000"/>
              </a:lnSpc>
            </a:pPr>
            <a:r>
              <a:rPr sz="910" kern="0" dirty="0">
                <a:solidFill>
                  <a:srgbClr val="000000">
                    <a:alpha val="100000"/>
                  </a:srgbClr>
                </a:solidFill>
                <a:latin typeface="+mn-ea"/>
                <a:cs typeface="思源黑体 CN Normal" panose="020B0400000000000000" charset="-122"/>
              </a:rPr>
              <a:t>地址</a:t>
            </a:r>
            <a:endParaRPr sz="910" dirty="0">
              <a:latin typeface="+mn-ea"/>
              <a:cs typeface="思源黑体 CN Normal" panose="020B0400000000000000" charset="-122"/>
            </a:endParaRPr>
          </a:p>
          <a:p>
            <a:pPr algn="l" rtl="0" eaLnBrk="0">
              <a:lnSpc>
                <a:spcPct val="112000"/>
              </a:lnSpc>
            </a:pPr>
            <a:endParaRPr sz="340" dirty="0">
              <a:latin typeface="+mn-ea"/>
              <a:cs typeface="思源黑体 CN Normal" panose="020B0400000000000000" charset="-122"/>
            </a:endParaRPr>
          </a:p>
          <a:p>
            <a:pPr marL="14605" eaLnBrk="0">
              <a:lnSpc>
                <a:spcPct val="89000"/>
              </a:lnSpc>
              <a:spcBef>
                <a:spcPts val="5"/>
              </a:spcBef>
            </a:pPr>
            <a:r>
              <a:rPr sz="1000" kern="0" dirty="0">
                <a:solidFill>
                  <a:srgbClr val="000000">
                    <a:alpha val="100000"/>
                  </a:srgbClr>
                </a:solidFill>
                <a:latin typeface="+mj-ea"/>
                <a:ea typeface="+mj-ea"/>
                <a:cs typeface="思源黑体 CN Normal" panose="020B0400000000000000" charset="-122"/>
              </a:rPr>
              <a:t>深圳市宝安区西乡街道大铲湾蓝色未来科技园6栋</a:t>
            </a:r>
            <a:endParaRPr sz="1000" kern="0" dirty="0">
              <a:solidFill>
                <a:srgbClr val="000000">
                  <a:alpha val="100000"/>
                </a:srgbClr>
              </a:solidFill>
              <a:latin typeface="+mj-ea"/>
              <a:ea typeface="+mj-ea"/>
              <a:cs typeface="思源黑体 CN Normal" panose="020B0400000000000000" charset="-122"/>
            </a:endParaRPr>
          </a:p>
        </p:txBody>
      </p:sp>
      <p:sp>
        <p:nvSpPr>
          <p:cNvPr id="1376" name="textbox 1376"/>
          <p:cNvSpPr/>
          <p:nvPr/>
        </p:nvSpPr>
        <p:spPr>
          <a:xfrm>
            <a:off x="4922324" y="6126239"/>
            <a:ext cx="2190941" cy="335843"/>
          </a:xfrm>
          <a:prstGeom prst="rect">
            <a:avLst/>
          </a:prstGeom>
          <a:noFill/>
          <a:ln w="0" cap="flat">
            <a:noFill/>
            <a:prstDash val="solid"/>
            <a:miter lim="0"/>
          </a:ln>
        </p:spPr>
        <p:txBody>
          <a:bodyPr vert="horz" wrap="square" lIns="0" tIns="0" rIns="0" bIns="0"/>
          <a:lstStyle/>
          <a:p>
            <a:pPr algn="l" rtl="0" eaLnBrk="0">
              <a:lnSpc>
                <a:spcPct val="82000"/>
              </a:lnSpc>
            </a:pPr>
            <a:endParaRPr sz="115" dirty="0">
              <a:latin typeface="+mn-ea"/>
              <a:cs typeface="思源黑体 CN Normal" panose="020B0400000000000000" charset="-122"/>
            </a:endParaRPr>
          </a:p>
          <a:p>
            <a:pPr marL="14605" eaLnBrk="0">
              <a:lnSpc>
                <a:spcPct val="87000"/>
              </a:lnSpc>
            </a:pPr>
            <a:r>
              <a:rPr sz="910" kern="0" spc="-11" dirty="0">
                <a:solidFill>
                  <a:srgbClr val="000000">
                    <a:alpha val="100000"/>
                  </a:srgbClr>
                </a:solidFill>
                <a:latin typeface="+mn-ea"/>
                <a:cs typeface="思源黑体 CN Normal" panose="020B0400000000000000" charset="-122"/>
              </a:rPr>
              <a:t>官网</a:t>
            </a:r>
            <a:endParaRPr sz="910" dirty="0">
              <a:latin typeface="+mn-ea"/>
              <a:cs typeface="思源黑体 CN Normal" panose="020B0400000000000000" charset="-122"/>
            </a:endParaRPr>
          </a:p>
          <a:p>
            <a:pPr marL="14605" eaLnBrk="0">
              <a:lnSpc>
                <a:spcPct val="78000"/>
              </a:lnSpc>
              <a:spcBef>
                <a:spcPts val="255"/>
              </a:spcBef>
            </a:pPr>
            <a:r>
              <a:rPr lang="en-US" sz="1200" kern="0" dirty="0">
                <a:solidFill>
                  <a:srgbClr val="000000">
                    <a:alpha val="100000"/>
                  </a:srgbClr>
                </a:solidFill>
                <a:cs typeface="思源黑体 CN Normal" panose="020B0400000000000000" charset="-122"/>
              </a:rPr>
              <a:t>w</a:t>
            </a:r>
            <a:r>
              <a:rPr sz="1200" kern="0" dirty="0">
                <a:solidFill>
                  <a:srgbClr val="000000">
                    <a:alpha val="100000"/>
                  </a:srgbClr>
                </a:solidFill>
                <a:cs typeface="思源黑体 CN Normal" panose="020B0400000000000000" charset="-122"/>
              </a:rPr>
              <a:t>ww</a:t>
            </a:r>
            <a:r>
              <a:rPr sz="1200" kern="0" spc="46" dirty="0">
                <a:solidFill>
                  <a:srgbClr val="000000">
                    <a:alpha val="100000"/>
                  </a:srgbClr>
                </a:solidFill>
                <a:cs typeface="思源黑体 CN Normal" panose="020B0400000000000000" charset="-122"/>
              </a:rPr>
              <a:t>.</a:t>
            </a:r>
            <a:r>
              <a:rPr sz="1200" kern="0" spc="-114" dirty="0">
                <a:solidFill>
                  <a:srgbClr val="000000">
                    <a:alpha val="100000"/>
                  </a:srgbClr>
                </a:solidFill>
                <a:cs typeface="思源黑体 CN Normal" panose="020B0400000000000000" charset="-122"/>
              </a:rPr>
              <a:t> </a:t>
            </a:r>
            <a:r>
              <a:rPr sz="1200" kern="0" dirty="0">
                <a:solidFill>
                  <a:srgbClr val="000000">
                    <a:alpha val="100000"/>
                  </a:srgbClr>
                </a:solidFill>
                <a:cs typeface="思源黑体 CN Normal" panose="020B0400000000000000" charset="-122"/>
              </a:rPr>
              <a:t>moyingrobotics</a:t>
            </a:r>
            <a:r>
              <a:rPr sz="1200" kern="0" spc="46" dirty="0">
                <a:solidFill>
                  <a:srgbClr val="000000">
                    <a:alpha val="100000"/>
                  </a:srgbClr>
                </a:solidFill>
                <a:cs typeface="思源黑体 CN Normal" panose="020B0400000000000000" charset="-122"/>
              </a:rPr>
              <a:t>.</a:t>
            </a:r>
            <a:r>
              <a:rPr sz="1200" kern="0" spc="-160" dirty="0">
                <a:solidFill>
                  <a:srgbClr val="000000">
                    <a:alpha val="100000"/>
                  </a:srgbClr>
                </a:solidFill>
                <a:cs typeface="思源黑体 CN Normal" panose="020B0400000000000000" charset="-122"/>
              </a:rPr>
              <a:t> </a:t>
            </a:r>
            <a:r>
              <a:rPr sz="1200" kern="0" dirty="0">
                <a:solidFill>
                  <a:srgbClr val="000000">
                    <a:alpha val="100000"/>
                  </a:srgbClr>
                </a:solidFill>
                <a:cs typeface="思源黑体 CN Normal" panose="020B0400000000000000" charset="-122"/>
              </a:rPr>
              <a:t>com</a:t>
            </a:r>
            <a:endParaRPr sz="1200" dirty="0">
              <a:cs typeface="思源黑体 CN Normal" panose="020B0400000000000000" charset="-122"/>
            </a:endParaRPr>
          </a:p>
        </p:txBody>
      </p:sp>
      <p:sp>
        <p:nvSpPr>
          <p:cNvPr id="1378" name="textbox 1378"/>
          <p:cNvSpPr/>
          <p:nvPr/>
        </p:nvSpPr>
        <p:spPr>
          <a:xfrm>
            <a:off x="3303723" y="6126108"/>
            <a:ext cx="1671288" cy="331499"/>
          </a:xfrm>
          <a:prstGeom prst="rect">
            <a:avLst/>
          </a:prstGeom>
          <a:noFill/>
          <a:ln w="0" cap="flat">
            <a:noFill/>
            <a:prstDash val="solid"/>
            <a:miter lim="0"/>
          </a:ln>
        </p:spPr>
        <p:txBody>
          <a:bodyPr vert="horz" wrap="square" lIns="0" tIns="0" rIns="0" bIns="0"/>
          <a:lstStyle/>
          <a:p>
            <a:pPr algn="l" rtl="0" eaLnBrk="0">
              <a:lnSpc>
                <a:spcPct val="84000"/>
              </a:lnSpc>
            </a:pPr>
            <a:endParaRPr sz="115" dirty="0">
              <a:latin typeface="+mn-ea"/>
              <a:cs typeface="Arial" panose="020B0604020202020204"/>
            </a:endParaRPr>
          </a:p>
          <a:p>
            <a:pPr marL="31115" eaLnBrk="0">
              <a:lnSpc>
                <a:spcPct val="87000"/>
              </a:lnSpc>
            </a:pPr>
            <a:r>
              <a:rPr sz="910" kern="0" spc="34" dirty="0">
                <a:solidFill>
                  <a:srgbClr val="000000">
                    <a:alpha val="100000"/>
                  </a:srgbClr>
                </a:solidFill>
                <a:latin typeface="+mn-ea"/>
                <a:cs typeface="思源黑体 CN Medium" panose="020B0600000000000000" charset="-122"/>
              </a:rPr>
              <a:t>全国统一服务热线</a:t>
            </a:r>
            <a:endParaRPr sz="910" dirty="0">
              <a:latin typeface="+mn-ea"/>
              <a:cs typeface="思源黑体 CN Medium" panose="020B0600000000000000" charset="-122"/>
            </a:endParaRPr>
          </a:p>
          <a:p>
            <a:pPr algn="l" rtl="0" eaLnBrk="0">
              <a:lnSpc>
                <a:spcPct val="110000"/>
              </a:lnSpc>
            </a:pPr>
            <a:endParaRPr sz="340" dirty="0">
              <a:latin typeface="+mn-ea"/>
              <a:cs typeface="Arial" panose="020B0604020202020204"/>
            </a:endParaRPr>
          </a:p>
          <a:p>
            <a:pPr marL="14605" eaLnBrk="0">
              <a:lnSpc>
                <a:spcPts val="970"/>
              </a:lnSpc>
              <a:spcBef>
                <a:spcPts val="5"/>
              </a:spcBef>
            </a:pPr>
            <a:r>
              <a:rPr sz="1200" kern="0" spc="68" dirty="0">
                <a:solidFill>
                  <a:srgbClr val="000000">
                    <a:alpha val="100000"/>
                  </a:srgbClr>
                </a:solidFill>
                <a:cs typeface="Arial" panose="020B0604020202020204"/>
              </a:rPr>
              <a:t>0755</a:t>
            </a:r>
            <a:r>
              <a:rPr sz="1200" kern="0" spc="-194" dirty="0">
                <a:solidFill>
                  <a:srgbClr val="000000">
                    <a:alpha val="100000"/>
                  </a:srgbClr>
                </a:solidFill>
                <a:cs typeface="Arial" panose="020B0604020202020204"/>
              </a:rPr>
              <a:t> </a:t>
            </a:r>
            <a:r>
              <a:rPr sz="1200" kern="0" spc="68" dirty="0">
                <a:solidFill>
                  <a:srgbClr val="000000">
                    <a:alpha val="100000"/>
                  </a:srgbClr>
                </a:solidFill>
                <a:cs typeface="Arial" panose="020B0604020202020204"/>
              </a:rPr>
              <a:t>-</a:t>
            </a:r>
            <a:r>
              <a:rPr sz="1200" kern="0" spc="-182" dirty="0">
                <a:solidFill>
                  <a:srgbClr val="000000">
                    <a:alpha val="100000"/>
                  </a:srgbClr>
                </a:solidFill>
                <a:cs typeface="Arial" panose="020B0604020202020204"/>
              </a:rPr>
              <a:t> </a:t>
            </a:r>
            <a:r>
              <a:rPr sz="1200" kern="0" spc="68" dirty="0">
                <a:solidFill>
                  <a:srgbClr val="000000">
                    <a:alpha val="100000"/>
                  </a:srgbClr>
                </a:solidFill>
                <a:cs typeface="Arial" panose="020B0604020202020204"/>
              </a:rPr>
              <a:t>27909950</a:t>
            </a:r>
            <a:endParaRPr sz="1200" dirty="0">
              <a:cs typeface="Arial" panose="020B0604020202020204"/>
            </a:endParaRPr>
          </a:p>
        </p:txBody>
      </p:sp>
      <p:pic>
        <p:nvPicPr>
          <p:cNvPr id="1380" name="picture 1380"/>
          <p:cNvPicPr>
            <a:picLocks noChangeAspect="1"/>
          </p:cNvPicPr>
          <p:nvPr/>
        </p:nvPicPr>
        <p:blipFill>
          <a:blip r:embed="rId1"/>
          <a:stretch>
            <a:fillRect/>
          </a:stretch>
        </p:blipFill>
        <p:spPr>
          <a:xfrm>
            <a:off x="2034918" y="5608911"/>
            <a:ext cx="616894" cy="616879"/>
          </a:xfrm>
          <a:prstGeom prst="rect">
            <a:avLst/>
          </a:prstGeom>
        </p:spPr>
      </p:pic>
      <p:pic>
        <p:nvPicPr>
          <p:cNvPr id="1382" name="picture 1382"/>
          <p:cNvPicPr>
            <a:picLocks noChangeAspect="1"/>
          </p:cNvPicPr>
          <p:nvPr/>
        </p:nvPicPr>
        <p:blipFill>
          <a:blip r:embed="rId2"/>
          <a:stretch>
            <a:fillRect/>
          </a:stretch>
        </p:blipFill>
        <p:spPr>
          <a:xfrm>
            <a:off x="275941" y="5611589"/>
            <a:ext cx="616865" cy="614201"/>
          </a:xfrm>
          <a:prstGeom prst="rect">
            <a:avLst/>
          </a:prstGeom>
        </p:spPr>
      </p:pic>
      <p:pic>
        <p:nvPicPr>
          <p:cNvPr id="1386" name="picture 1386"/>
          <p:cNvPicPr>
            <a:picLocks noChangeAspect="1"/>
          </p:cNvPicPr>
          <p:nvPr/>
        </p:nvPicPr>
        <p:blipFill>
          <a:blip r:embed="rId3"/>
          <a:stretch>
            <a:fillRect/>
          </a:stretch>
        </p:blipFill>
        <p:spPr>
          <a:xfrm>
            <a:off x="1155429" y="5608910"/>
            <a:ext cx="608599" cy="611277"/>
          </a:xfrm>
          <a:prstGeom prst="rect">
            <a:avLst/>
          </a:prstGeom>
        </p:spPr>
      </p:pic>
      <p:sp>
        <p:nvSpPr>
          <p:cNvPr id="2" name="文本框 1"/>
          <p:cNvSpPr txBox="1"/>
          <p:nvPr/>
        </p:nvSpPr>
        <p:spPr>
          <a:xfrm>
            <a:off x="326114" y="6258288"/>
            <a:ext cx="549177" cy="215444"/>
          </a:xfrm>
          <a:prstGeom prst="rect">
            <a:avLst/>
          </a:prstGeom>
          <a:noFill/>
        </p:spPr>
        <p:txBody>
          <a:bodyPr wrap="square" rtlCol="0">
            <a:spAutoFit/>
          </a:bodyPr>
          <a:lstStyle/>
          <a:p>
            <a:r>
              <a:rPr lang="zh-CN" altLang="en-US" sz="800" kern="0" spc="11" dirty="0">
                <a:solidFill>
                  <a:srgbClr val="000000">
                    <a:alpha val="100000"/>
                  </a:srgbClr>
                </a:solidFill>
                <a:ea typeface="思源黑体 CN Normal" panose="020B0400000000000000" charset="-122"/>
                <a:cs typeface="思源黑体 CN Normal" panose="020B0400000000000000" charset="-122"/>
              </a:rPr>
              <a:t>公众号</a:t>
            </a:r>
            <a:endParaRPr lang="zh-CN" altLang="en-US" sz="800" dirty="0"/>
          </a:p>
        </p:txBody>
      </p:sp>
      <p:sp>
        <p:nvSpPr>
          <p:cNvPr id="3" name="文本框 2"/>
          <p:cNvSpPr txBox="1"/>
          <p:nvPr/>
        </p:nvSpPr>
        <p:spPr>
          <a:xfrm>
            <a:off x="1214851" y="6258288"/>
            <a:ext cx="549177" cy="215444"/>
          </a:xfrm>
          <a:prstGeom prst="rect">
            <a:avLst/>
          </a:prstGeom>
          <a:noFill/>
        </p:spPr>
        <p:txBody>
          <a:bodyPr wrap="square" rtlCol="0">
            <a:spAutoFit/>
          </a:bodyPr>
          <a:lstStyle/>
          <a:p>
            <a:r>
              <a:rPr lang="zh-CN" altLang="en-US" sz="800" kern="0" spc="11" dirty="0">
                <a:solidFill>
                  <a:srgbClr val="000000">
                    <a:alpha val="100000"/>
                  </a:srgbClr>
                </a:solidFill>
                <a:ea typeface="思源黑体 CN Normal" panose="020B0400000000000000" charset="-122"/>
                <a:cs typeface="思源黑体 CN Normal" panose="020B0400000000000000" charset="-122"/>
              </a:rPr>
              <a:t>视频号</a:t>
            </a:r>
            <a:endParaRPr lang="zh-CN" altLang="en-US" sz="800" dirty="0"/>
          </a:p>
        </p:txBody>
      </p:sp>
      <p:sp>
        <p:nvSpPr>
          <p:cNvPr id="4" name="文本框 3"/>
          <p:cNvSpPr txBox="1"/>
          <p:nvPr/>
        </p:nvSpPr>
        <p:spPr>
          <a:xfrm>
            <a:off x="2079663" y="6258288"/>
            <a:ext cx="549177" cy="215444"/>
          </a:xfrm>
          <a:prstGeom prst="rect">
            <a:avLst/>
          </a:prstGeom>
          <a:noFill/>
        </p:spPr>
        <p:txBody>
          <a:bodyPr wrap="square" rtlCol="0">
            <a:spAutoFit/>
          </a:bodyPr>
          <a:lstStyle/>
          <a:p>
            <a:r>
              <a:rPr lang="zh-CN" altLang="en-US" sz="800" kern="0" spc="11" dirty="0">
                <a:solidFill>
                  <a:srgbClr val="000000">
                    <a:alpha val="100000"/>
                  </a:srgbClr>
                </a:solidFill>
                <a:ea typeface="思源黑体 CN Normal" panose="020B0400000000000000" charset="-122"/>
                <a:cs typeface="思源黑体 CN Normal" panose="020B0400000000000000" charset="-122"/>
              </a:rPr>
              <a:t>抖音号</a:t>
            </a:r>
            <a:endParaRPr lang="zh-CN" altLang="en-US" sz="800" dirty="0"/>
          </a:p>
        </p:txBody>
      </p:sp>
      <p:sp>
        <p:nvSpPr>
          <p:cNvPr id="5" name="textbox 1384"/>
          <p:cNvSpPr/>
          <p:nvPr/>
        </p:nvSpPr>
        <p:spPr>
          <a:xfrm>
            <a:off x="7402491" y="6126240"/>
            <a:ext cx="1567338" cy="336567"/>
          </a:xfrm>
          <a:prstGeom prst="rect">
            <a:avLst/>
          </a:prstGeom>
          <a:noFill/>
          <a:ln w="0" cap="flat">
            <a:noFill/>
            <a:prstDash val="solid"/>
            <a:miter lim="0"/>
          </a:ln>
        </p:spPr>
        <p:txBody>
          <a:bodyPr vert="horz" wrap="square" lIns="0" tIns="0" rIns="0" bIns="0"/>
          <a:lstStyle/>
          <a:p>
            <a:pPr algn="l" rtl="0" eaLnBrk="0">
              <a:lnSpc>
                <a:spcPct val="82000"/>
              </a:lnSpc>
            </a:pPr>
            <a:endParaRPr sz="115" dirty="0">
              <a:latin typeface="+mn-ea"/>
              <a:cs typeface="思源黑体 CN Normal" panose="020B0400000000000000" charset="-122"/>
            </a:endParaRPr>
          </a:p>
          <a:p>
            <a:pPr marL="17780" eaLnBrk="0">
              <a:lnSpc>
                <a:spcPct val="87000"/>
              </a:lnSpc>
            </a:pPr>
            <a:r>
              <a:rPr sz="910" kern="0" spc="-23" dirty="0">
                <a:solidFill>
                  <a:srgbClr val="000000">
                    <a:alpha val="100000"/>
                  </a:srgbClr>
                </a:solidFill>
                <a:latin typeface="+mn-ea"/>
                <a:cs typeface="思源黑体 CN Normal" panose="020B0400000000000000" charset="-122"/>
              </a:rPr>
              <a:t>邮箱</a:t>
            </a:r>
            <a:endParaRPr sz="910" dirty="0">
              <a:latin typeface="+mn-ea"/>
              <a:cs typeface="思源黑体 CN Normal" panose="020B0400000000000000" charset="-122"/>
            </a:endParaRPr>
          </a:p>
          <a:p>
            <a:pPr marL="14605" eaLnBrk="0">
              <a:lnSpc>
                <a:spcPct val="80000"/>
              </a:lnSpc>
              <a:spcBef>
                <a:spcPts val="260"/>
              </a:spcBef>
            </a:pPr>
            <a:r>
              <a:rPr sz="1200" kern="0" dirty="0">
                <a:solidFill>
                  <a:srgbClr val="000000">
                    <a:alpha val="100000"/>
                  </a:srgbClr>
                </a:solidFill>
                <a:latin typeface="+mj-ea"/>
                <a:ea typeface="+mj-ea"/>
                <a:cs typeface="思源黑体 CN Normal" panose="020B0400000000000000" charset="-122"/>
              </a:rPr>
              <a:t>sales</a:t>
            </a:r>
            <a:r>
              <a:rPr sz="1200" kern="0" spc="57" dirty="0">
                <a:solidFill>
                  <a:srgbClr val="000000">
                    <a:alpha val="100000"/>
                  </a:srgbClr>
                </a:solidFill>
                <a:latin typeface="+mj-ea"/>
                <a:ea typeface="+mj-ea"/>
                <a:cs typeface="思源黑体 CN Normal" panose="020B0400000000000000" charset="-122"/>
              </a:rPr>
              <a:t>@</a:t>
            </a:r>
            <a:r>
              <a:rPr sz="1200" kern="0" dirty="0">
                <a:solidFill>
                  <a:srgbClr val="000000">
                    <a:alpha val="100000"/>
                  </a:srgbClr>
                </a:solidFill>
                <a:latin typeface="+mj-ea"/>
                <a:ea typeface="+mj-ea"/>
                <a:cs typeface="思源黑体 CN Normal" panose="020B0400000000000000" charset="-122"/>
              </a:rPr>
              <a:t>moying</a:t>
            </a:r>
            <a:r>
              <a:rPr sz="1200" kern="0" spc="57" dirty="0">
                <a:solidFill>
                  <a:srgbClr val="000000">
                    <a:alpha val="100000"/>
                  </a:srgbClr>
                </a:solidFill>
                <a:latin typeface="+mj-ea"/>
                <a:ea typeface="+mj-ea"/>
                <a:cs typeface="思源黑体 CN Normal" panose="020B0400000000000000" charset="-122"/>
              </a:rPr>
              <a:t>.</a:t>
            </a:r>
            <a:r>
              <a:rPr sz="1200" kern="0" spc="-148" dirty="0">
                <a:solidFill>
                  <a:srgbClr val="000000">
                    <a:alpha val="100000"/>
                  </a:srgbClr>
                </a:solidFill>
                <a:latin typeface="+mj-ea"/>
                <a:ea typeface="+mj-ea"/>
                <a:cs typeface="思源黑体 CN Normal" panose="020B0400000000000000" charset="-122"/>
              </a:rPr>
              <a:t> </a:t>
            </a:r>
            <a:r>
              <a:rPr lang="en-US" sz="1200" kern="0" spc="57" dirty="0">
                <a:solidFill>
                  <a:srgbClr val="000000">
                    <a:alpha val="100000"/>
                  </a:srgbClr>
                </a:solidFill>
                <a:latin typeface="+mj-ea"/>
                <a:ea typeface="+mj-ea"/>
                <a:cs typeface="思源黑体 CN Normal" panose="020B0400000000000000" charset="-122"/>
              </a:rPr>
              <a:t>a</a:t>
            </a:r>
            <a:r>
              <a:rPr lang="en-US" altLang="zh-CN" sz="1200" kern="0" spc="57" dirty="0">
                <a:solidFill>
                  <a:srgbClr val="000000">
                    <a:alpha val="100000"/>
                  </a:srgbClr>
                </a:solidFill>
                <a:latin typeface="+mj-ea"/>
                <a:ea typeface="+mj-ea"/>
                <a:cs typeface="思源黑体 CN Normal" panose="020B0400000000000000" charset="-122"/>
              </a:rPr>
              <a:t>i</a:t>
            </a:r>
            <a:endParaRPr sz="1200" dirty="0">
              <a:latin typeface="+mj-ea"/>
              <a:ea typeface="+mj-ea"/>
              <a:cs typeface="思源黑体 CN Normal" panose="020B0400000000000000" charset="-122"/>
            </a:endParaRPr>
          </a:p>
        </p:txBody>
      </p:sp>
    </p:spTree>
    <p:custDataLst>
      <p:tags r:id="rId4"/>
    </p:custDataLst>
  </p:cSld>
  <p:clrMapOvr>
    <a:masterClrMapping/>
  </p:clrMapOvr>
</p:sld>
</file>

<file path=ppt/tags/tag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p="http://schemas.openxmlformats.org/presentationml/2006/main">
  <p:tag name="KSO_WM_DIAGRAM_VIRTUALLY_FRAME" val="{&quot;height&quot;:286.6,&quot;left&quot;:44,&quot;top&quot;:139.8,&quot;width&quot;:873.05}"/>
</p:tagLst>
</file>

<file path=ppt/tags/tag3.xml><?xml version="1.0" encoding="utf-8"?>
<p:tagLst xmlns:p="http://schemas.openxmlformats.org/presentationml/2006/main">
  <p:tag name="KSO_WM_DIAGRAM_VIRTUALLY_FRAME" val="{&quot;height&quot;:286.6,&quot;left&quot;:44,&quot;top&quot;:139.8,&quot;width&quot;:873.05}"/>
</p:tagLst>
</file>

<file path=ppt/tags/tag4.xml><?xml version="1.0" encoding="utf-8"?>
<p:tagLst xmlns:p="http://schemas.openxmlformats.org/presentationml/2006/main">
  <p:tag name="KSO_WM_DIAGRAM_VIRTUALLY_FRAME" val="{&quot;height&quot;:286.6,&quot;left&quot;:44,&quot;top&quot;:139.8,&quot;width&quot;:873.05}"/>
</p:tagLst>
</file>

<file path=ppt/tags/tag5.xml><?xml version="1.0" encoding="utf-8"?>
<p:tagLst xmlns:p="http://schemas.openxmlformats.org/presentationml/2006/main">
  <p:tag name="KSO_WM_DIAGRAM_VIRTUALLY_FRAME" val="{&quot;height&quot;:286.6,&quot;left&quot;:44,&quot;top&quot;:139.8,&quot;width&quot;:873.05}"/>
</p:tagLst>
</file>

<file path=ppt/tags/tag6.xml><?xml version="1.0" encoding="utf-8"?>
<p:tagLst xmlns:p="http://schemas.openxmlformats.org/presentationml/2006/main">
  <p:tag name="KSO_WM_DIAGRAM_VIRTUALLY_FRAME" val="{&quot;height&quot;:286.6,&quot;left&quot;:44,&quot;top&quot;:139.8,&quot;width&quot;:873.05}"/>
</p:tagLst>
</file>

<file path=ppt/tags/tag7.xml><?xml version="1.0" encoding="utf-8"?>
<p:tagLst xmlns:p="http://schemas.openxmlformats.org/presentationml/2006/main">
  <p:tag name="KSO_WM_DIAGRAM_VIRTUALLY_FRAME" val="{&quot;height&quot;:286.6,&quot;left&quot;:44,&quot;top&quot;:139.8,&quot;width&quot;:873.05}"/>
</p:tagLst>
</file>

<file path=ppt/tags/tag8.xml><?xml version="1.0" encoding="utf-8"?>
<p:tagLst xmlns:p="http://schemas.openxmlformats.org/presentationml/2006/main">
  <p:tag name="KSO_WM_DIAGRAM_VIRTUALLY_FRAME" val="{&quot;height&quot;:286.6,&quot;left&quot;:44,&quot;top&quot;:139.8,&quot;width&quot;:873.05}"/>
</p:tagLst>
</file>

<file path=ppt/tags/tag9.xml><?xml version="1.0" encoding="utf-8"?>
<p:tagLst xmlns:p="http://schemas.openxmlformats.org/presentationml/2006/main">
  <p:tag name="KSO_WM_DIAGRAM_VIRTUALLY_FRAME" val="{&quot;height&quot;:286.6,&quot;left&quot;:44,&quot;top&quot;:139.8,&quot;width&quot;:873.05}"/>
</p:tagLst>
</file>

<file path=ppt/tags/tag10.xml><?xml version="1.0" encoding="utf-8"?>
<p:tagLst xmlns:p="http://schemas.openxmlformats.org/presentationml/2006/main">
  <p:tag name="KSO_WM_DIAGRAM_VIRTUALLY_FRAME" val="{&quot;height&quot;:286.6,&quot;left&quot;:44,&quot;top&quot;:139.8,&quot;width&quot;:873.05}"/>
</p:tagLst>
</file>

<file path=ppt/tags/tag11.xml><?xml version="1.0" encoding="utf-8"?>
<p:tagLst xmlns:p="http://schemas.openxmlformats.org/presentationml/2006/main">
  <p:tag name="KSO_WM_DIAGRAM_VIRTUALLY_FRAME" val="{&quot;height&quot;:286.6,&quot;left&quot;:44,&quot;top&quot;:139.8,&quot;width&quot;:873.05}"/>
</p:tagLst>
</file>

<file path=ppt/tags/tag12.xml><?xml version="1.0" encoding="utf-8"?>
<p:tagLst xmlns:p="http://schemas.openxmlformats.org/presentationml/2006/main">
  <p:tag name="KSO_WM_DIAGRAM_VIRTUALLY_FRAME" val="{&quot;height&quot;:286.6,&quot;left&quot;:44,&quot;top&quot;:139.8,&quot;width&quot;:873.05}"/>
</p:tagLst>
</file>

<file path=ppt/tags/tag13.xml><?xml version="1.0" encoding="utf-8"?>
<p:tagLst xmlns:p="http://schemas.openxmlformats.org/presentationml/2006/main">
  <p:tag name="KSO_WM_DIAGRAM_VIRTUALLY_FRAME" val="{&quot;height&quot;:286.6,&quot;left&quot;:44,&quot;top&quot;:139.8,&quot;width&quot;:873.05}"/>
</p:tagLst>
</file>

<file path=ppt/tags/tag14.xml><?xml version="1.0" encoding="utf-8"?>
<p:tagLst xmlns:p="http://schemas.openxmlformats.org/presentationml/2006/main">
  <p:tag name="KSO_WM_DIAGRAM_VIRTUALLY_FRAME" val="{&quot;height&quot;:286.6,&quot;left&quot;:44,&quot;top&quot;:139.8,&quot;width&quot;:873.05}"/>
</p:tagLst>
</file>

<file path=ppt/tags/tag15.xml><?xml version="1.0" encoding="utf-8"?>
<p:tagLst xmlns:p="http://schemas.openxmlformats.org/presentationml/2006/main">
  <p:tag name="KSO_WM_DIAGRAM_VIRTUALLY_FRAME" val="{&quot;height&quot;:286.6,&quot;left&quot;:44,&quot;top&quot;:139.8,&quot;width&quot;:873.05}"/>
</p:tagLst>
</file>

<file path=ppt/tags/tag16.xml><?xml version="1.0" encoding="utf-8"?>
<p:tagLst xmlns:p="http://schemas.openxmlformats.org/presentationml/2006/main">
  <p:tag name="KSO_WM_DIAGRAM_VIRTUALLY_FRAME" val="{&quot;height&quot;:286.6,&quot;left&quot;:44,&quot;top&quot;:139.8,&quot;width&quot;:873.05}"/>
</p:tagLst>
</file>

<file path=ppt/tags/tag17.xml><?xml version="1.0" encoding="utf-8"?>
<p:tagLst xmlns:p="http://schemas.openxmlformats.org/presentationml/2006/main">
  <p:tag name="KSO_WM_DIAGRAM_VIRTUALLY_FRAME" val="{&quot;height&quot;:286.6,&quot;left&quot;:44,&quot;top&quot;:139.8,&quot;width&quot;:873.05}"/>
</p:tagLst>
</file>

<file path=ppt/tags/tag18.xml><?xml version="1.0" encoding="utf-8"?>
<p:tagLst xmlns:p="http://schemas.openxmlformats.org/presentationml/2006/main">
  <p:tag name="KSO_WM_DIAGRAM_VIRTUALLY_FRAME" val="{&quot;height&quot;:286.6,&quot;left&quot;:44,&quot;top&quot;:139.8,&quot;width&quot;:873.05}"/>
</p:tagLst>
</file>

<file path=ppt/tags/tag19.xml><?xml version="1.0" encoding="utf-8"?>
<p:tagLst xmlns:p="http://schemas.openxmlformats.org/presentationml/2006/main">
  <p:tag name="KSO_WM_DIAGRAM_VIRTUALLY_FRAME" val="{&quot;height&quot;:286.6,&quot;left&quot;:44,&quot;top&quot;:139.8,&quot;width&quot;:873.05}"/>
</p:tagLst>
</file>

<file path=ppt/tags/tag20.xml><?xml version="1.0" encoding="utf-8"?>
<p:tagLst xmlns:p="http://schemas.openxmlformats.org/presentationml/2006/main">
  <p:tag name="KSO_WM_DIAGRAM_VIRTUALLY_FRAME" val="{&quot;height&quot;:286.6,&quot;left&quot;:44,&quot;top&quot;:139.8,&quot;width&quot;:873.05}"/>
</p:tagLst>
</file>

<file path=ppt/tags/tag21.xml><?xml version="1.0" encoding="utf-8"?>
<p:tagLst xmlns:p="http://schemas.openxmlformats.org/presentationml/2006/main">
  <p:tag name="KSO_WM_DIAGRAM_VIRTUALLY_FRAME" val="{&quot;height&quot;:286.6,&quot;left&quot;:44,&quot;top&quot;:139.8,&quot;width&quot;:873.05}"/>
</p:tagLst>
</file>

<file path=ppt/tags/tag22.xml><?xml version="1.0" encoding="utf-8"?>
<p:tagLst xmlns:p="http://schemas.openxmlformats.org/presentationml/2006/main">
  <p:tag name="KSO_WM_DIAGRAM_VIRTUALLY_FRAME" val="{&quot;height&quot;:286.6,&quot;left&quot;:44,&quot;top&quot;:139.8,&quot;width&quot;:873.05}"/>
</p:tagLst>
</file>

<file path=ppt/tags/tag23.xml><?xml version="1.0" encoding="utf-8"?>
<p:tagLst xmlns:p="http://schemas.openxmlformats.org/presentationml/2006/main">
  <p:tag name="KSO_WM_DIAGRAM_VIRTUALLY_FRAME" val="{&quot;height&quot;:286.6,&quot;left&quot;:44,&quot;top&quot;:139.8,&quot;width&quot;:873.05}"/>
</p:tagLst>
</file>

<file path=ppt/tags/tag24.xml><?xml version="1.0" encoding="utf-8"?>
<p:tagLst xmlns:p="http://schemas.openxmlformats.org/presentationml/2006/main">
  <p:tag name="KSO_WM_DIAGRAM_VIRTUALLY_FRAME" val="{&quot;height&quot;:286.6,&quot;left&quot;:44,&quot;top&quot;:139.8,&quot;width&quot;:873.05}"/>
</p:tagLst>
</file>

<file path=ppt/tags/tag25.xml><?xml version="1.0" encoding="utf-8"?>
<p:tagLst xmlns:p="http://schemas.openxmlformats.org/presentationml/2006/main">
  <p:tag name="KSO_WM_DIAGRAM_VIRTUALLY_FRAME" val="{&quot;height&quot;:286.6,&quot;left&quot;:44,&quot;top&quot;:139.8,&quot;width&quot;:873.05}"/>
</p:tagLst>
</file>

<file path=ppt/tags/tag26.xml><?xml version="1.0" encoding="utf-8"?>
<p:tagLst xmlns:p="http://schemas.openxmlformats.org/presentationml/2006/main">
  <p:tag name="KSO_WM_DIAGRAM_VIRTUALLY_FRAME" val="{&quot;height&quot;:286.6,&quot;left&quot;:44,&quot;top&quot;:139.8,&quot;width&quot;:873.05}"/>
</p:tagLst>
</file>

<file path=ppt/tags/tag27.xml><?xml version="1.0" encoding="utf-8"?>
<p:tagLst xmlns:p="http://schemas.openxmlformats.org/presentationml/2006/main">
  <p:tag name="KSO_WM_DIAGRAM_VIRTUALLY_FRAME" val="{&quot;height&quot;:286.6,&quot;left&quot;:44,&quot;top&quot;:139.8,&quot;width&quot;:873.05}"/>
</p:tagLst>
</file>

<file path=ppt/tags/tag28.xml><?xml version="1.0" encoding="utf-8"?>
<p:tagLst xmlns:p="http://schemas.openxmlformats.org/presentationml/2006/main">
  <p:tag name="KSO_WM_DIAGRAM_VIRTUALLY_FRAME" val="{&quot;height&quot;:286.6,&quot;left&quot;:44,&quot;top&quot;:139.8,&quot;width&quot;:873.05}"/>
</p:tagLst>
</file>

<file path=ppt/tags/tag29.xml><?xml version="1.0" encoding="utf-8"?>
<p:tagLst xmlns:p="http://schemas.openxmlformats.org/presentationml/2006/main">
  <p:tag name="KSO_WM_DIAGRAM_VIRTUALLY_FRAME" val="{&quot;height&quot;:286.6,&quot;left&quot;:44,&quot;top&quot;:139.8,&quot;width&quot;:873.05}"/>
</p:tagLst>
</file>

<file path=ppt/tags/tag30.xml><?xml version="1.0" encoding="utf-8"?>
<p:tagLst xmlns:p="http://schemas.openxmlformats.org/presentationml/2006/main">
  <p:tag name="KSO_WM_DIAGRAM_VIRTUALLY_FRAME" val="{&quot;height&quot;:286.6,&quot;left&quot;:44,&quot;top&quot;:139.8,&quot;width&quot;:873.05}"/>
</p:tagLst>
</file>

<file path=ppt/tags/tag31.xml><?xml version="1.0" encoding="utf-8"?>
<p:tagLst xmlns:p="http://schemas.openxmlformats.org/presentationml/2006/main">
  <p:tag name="KSO_WM_DIAGRAM_VIRTUALLY_FRAME" val="{&quot;height&quot;:286.6,&quot;left&quot;:44,&quot;top&quot;:139.8,&quot;width&quot;:873.05}"/>
</p:tagLst>
</file>

<file path=ppt/tags/tag32.xml><?xml version="1.0" encoding="utf-8"?>
<p:tagLst xmlns:p="http://schemas.openxmlformats.org/presentationml/2006/main">
  <p:tag name="KSO_WM_AICARD_INVALID" val="Invalid"/>
</p:tagLst>
</file>

<file path=ppt/tags/tag33.xml><?xml version="1.0" encoding="utf-8"?>
<p:tagLst xmlns:p="http://schemas.openxmlformats.org/presentationml/2006/main">
  <p:tag name="KSO_WM_DIAGRAM_VIRTUALLY_FRAME" val="{&quot;height&quot;:286.6,&quot;left&quot;:44,&quot;top&quot;:139.8,&quot;width&quot;:873.05}"/>
</p:tagLst>
</file>

<file path=ppt/tags/tag34.xml><?xml version="1.0" encoding="utf-8"?>
<p:tagLst xmlns:p="http://schemas.openxmlformats.org/presentationml/2006/main">
  <p:tag name="KSO_WM_DIAGRAM_VIRTUALLY_FRAME" val="{&quot;height&quot;:286.6,&quot;left&quot;:44,&quot;top&quot;:139.8,&quot;width&quot;:873.05}"/>
</p:tagLst>
</file>

<file path=ppt/tags/tag35.xml><?xml version="1.0" encoding="utf-8"?>
<p:tagLst xmlns:p="http://schemas.openxmlformats.org/presentationml/2006/main">
  <p:tag name="KSO_WM_DIAGRAM_VIRTUALLY_FRAME" val="{&quot;height&quot;:286.6,&quot;left&quot;:44,&quot;top&quot;:139.8,&quot;width&quot;:873.05}"/>
</p:tagLst>
</file>

<file path=ppt/tags/tag36.xml><?xml version="1.0" encoding="utf-8"?>
<p:tagLst xmlns:p="http://schemas.openxmlformats.org/presentationml/2006/main">
  <p:tag name="KSO_WM_DIAGRAM_VIRTUALLY_FRAME" val="{&quot;height&quot;:286.6,&quot;left&quot;:44,&quot;top&quot;:139.8,&quot;width&quot;:873.05}"/>
</p:tagLst>
</file>

<file path=ppt/tags/tag37.xml><?xml version="1.0" encoding="utf-8"?>
<p:tagLst xmlns:p="http://schemas.openxmlformats.org/presentationml/2006/main">
  <p:tag name="KSO_WM_DIAGRAM_VIRTUALLY_FRAME" val="{&quot;height&quot;:286.6,&quot;left&quot;:44,&quot;top&quot;:139.8,&quot;width&quot;:873.05}"/>
</p:tagLst>
</file>

<file path=ppt/tags/tag38.xml><?xml version="1.0" encoding="utf-8"?>
<p:tagLst xmlns:p="http://schemas.openxmlformats.org/presentationml/2006/main">
  <p:tag name="KSO_WM_DIAGRAM_VIRTUALLY_FRAME" val="{&quot;height&quot;:286.6,&quot;left&quot;:44,&quot;top&quot;:139.8,&quot;width&quot;:873.05}"/>
</p:tagLst>
</file>

<file path=ppt/tags/tag39.xml><?xml version="1.0" encoding="utf-8"?>
<p:tagLst xmlns:p="http://schemas.openxmlformats.org/presentationml/2006/main">
  <p:tag name="KSO_WM_DIAGRAM_VIRTUALLY_FRAME" val="{&quot;height&quot;:286.6,&quot;left&quot;:44,&quot;top&quot;:139.8,&quot;width&quot;:873.05}"/>
</p:tagLst>
</file>

<file path=ppt/tags/tag40.xml><?xml version="1.0" encoding="utf-8"?>
<p:tagLst xmlns:p="http://schemas.openxmlformats.org/presentationml/2006/main">
  <p:tag name="KSO_WM_DIAGRAM_VIRTUALLY_FRAME" val="{&quot;height&quot;:286.6,&quot;left&quot;:44,&quot;top&quot;:139.8,&quot;width&quot;:873.05}"/>
</p:tagLst>
</file>

<file path=ppt/tags/tag41.xml><?xml version="1.0" encoding="utf-8"?>
<p:tagLst xmlns:p="http://schemas.openxmlformats.org/presentationml/2006/main">
  <p:tag name="KSO_WM_DIAGRAM_VIRTUALLY_FRAME" val="{&quot;height&quot;:286.6,&quot;left&quot;:44,&quot;top&quot;:139.8,&quot;width&quot;:873.05}"/>
</p:tagLst>
</file>

<file path=ppt/tags/tag42.xml><?xml version="1.0" encoding="utf-8"?>
<p:tagLst xmlns:p="http://schemas.openxmlformats.org/presentationml/2006/main">
  <p:tag name="KSO_WM_DIAGRAM_VIRTUALLY_FRAME" val="{&quot;height&quot;:286.6,&quot;left&quot;:44,&quot;top&quot;:139.8,&quot;width&quot;:873.05}"/>
</p:tagLst>
</file>

<file path=ppt/tags/tag43.xml><?xml version="1.0" encoding="utf-8"?>
<p:tagLst xmlns:p="http://schemas.openxmlformats.org/presentationml/2006/main">
  <p:tag name="KSO_WM_DIAGRAM_VIRTUALLY_FRAME" val="{&quot;height&quot;:286.6,&quot;left&quot;:44,&quot;top&quot;:139.8,&quot;width&quot;:873.05}"/>
</p:tagLst>
</file>

<file path=ppt/tags/tag44.xml><?xml version="1.0" encoding="utf-8"?>
<p:tagLst xmlns:p="http://schemas.openxmlformats.org/presentationml/2006/main">
  <p:tag name="KSO_WM_DIAGRAM_VIRTUALLY_FRAME" val="{&quot;height&quot;:286.6,&quot;left&quot;:44,&quot;top&quot;:139.8,&quot;width&quot;:873.05}"/>
</p:tagLst>
</file>

<file path=ppt/tags/tag45.xml><?xml version="1.0" encoding="utf-8"?>
<p:tagLst xmlns:p="http://schemas.openxmlformats.org/presentationml/2006/main">
  <p:tag name="KSO_WM_DIAGRAM_VIRTUALLY_FRAME" val="{&quot;height&quot;:286.6,&quot;left&quot;:44,&quot;top&quot;:139.8,&quot;width&quot;:873.05}"/>
</p:tagLst>
</file>

<file path=ppt/tags/tag46.xml><?xml version="1.0" encoding="utf-8"?>
<p:tagLst xmlns:p="http://schemas.openxmlformats.org/presentationml/2006/main">
  <p:tag name="KSO_WM_DIAGRAM_VIRTUALLY_FRAME" val="{&quot;height&quot;:286.6,&quot;left&quot;:44,&quot;top&quot;:139.8,&quot;width&quot;:873.05}"/>
</p:tagLst>
</file>

<file path=ppt/tags/tag47.xml><?xml version="1.0" encoding="utf-8"?>
<p:tagLst xmlns:p="http://schemas.openxmlformats.org/presentationml/2006/main">
  <p:tag name="KSO_WM_DIAGRAM_VIRTUALLY_FRAME" val="{&quot;height&quot;:286.6,&quot;left&quot;:44,&quot;top&quot;:139.8,&quot;width&quot;:873.05}"/>
</p:tagLst>
</file>

<file path=ppt/tags/tag48.xml><?xml version="1.0" encoding="utf-8"?>
<p:tagLst xmlns:p="http://schemas.openxmlformats.org/presentationml/2006/main">
  <p:tag name="KSO_WM_DIAGRAM_VIRTUALLY_FRAME" val="{&quot;height&quot;:286.6,&quot;left&quot;:44,&quot;top&quot;:139.8,&quot;width&quot;:873.05}"/>
</p:tagLst>
</file>

<file path=ppt/tags/tag49.xml><?xml version="1.0" encoding="utf-8"?>
<p:tagLst xmlns:p="http://schemas.openxmlformats.org/presentationml/2006/main">
  <p:tag name="KSO_WM_DIAGRAM_VIRTUALLY_FRAME" val="{&quot;height&quot;:286.6,&quot;left&quot;:44,&quot;top&quot;:139.8,&quot;width&quot;:873.05}"/>
</p:tagLst>
</file>

<file path=ppt/tags/tag50.xml><?xml version="1.0" encoding="utf-8"?>
<p:tagLst xmlns:p="http://schemas.openxmlformats.org/presentationml/2006/main">
  <p:tag name="KSO_WM_DIAGRAM_VIRTUALLY_FRAME" val="{&quot;height&quot;:286.6,&quot;left&quot;:44,&quot;top&quot;:139.8,&quot;width&quot;:873.05}"/>
</p:tagLst>
</file>

<file path=ppt/tags/tag51.xml><?xml version="1.0" encoding="utf-8"?>
<p:tagLst xmlns:p="http://schemas.openxmlformats.org/presentationml/2006/main">
  <p:tag name="KSO_WM_DIAGRAM_VIRTUALLY_FRAME" val="{&quot;height&quot;:286.6,&quot;left&quot;:44,&quot;top&quot;:139.8,&quot;width&quot;:873.05}"/>
</p:tagLst>
</file>

<file path=ppt/tags/tag52.xml><?xml version="1.0" encoding="utf-8"?>
<p:tagLst xmlns:p="http://schemas.openxmlformats.org/presentationml/2006/main">
  <p:tag name="KSO_WM_DIAGRAM_VIRTUALLY_FRAME" val="{&quot;height&quot;:286.6,&quot;left&quot;:44,&quot;top&quot;:139.8,&quot;width&quot;:873.05}"/>
</p:tagLst>
</file>

<file path=ppt/tags/tag53.xml><?xml version="1.0" encoding="utf-8"?>
<p:tagLst xmlns:p="http://schemas.openxmlformats.org/presentationml/2006/main">
  <p:tag name="KSO_WM_DIAGRAM_VIRTUALLY_FRAME" val="{&quot;height&quot;:286.6,&quot;left&quot;:44,&quot;top&quot;:139.8,&quot;width&quot;:873.05}"/>
</p:tagLst>
</file>

<file path=ppt/tags/tag54.xml><?xml version="1.0" encoding="utf-8"?>
<p:tagLst xmlns:p="http://schemas.openxmlformats.org/presentationml/2006/main">
  <p:tag name="KSO_WM_DIAGRAM_VIRTUALLY_FRAME" val="{&quot;height&quot;:286.6,&quot;left&quot;:44,&quot;top&quot;:139.8,&quot;width&quot;:873.05}"/>
</p:tagLst>
</file>

<file path=ppt/tags/tag55.xml><?xml version="1.0" encoding="utf-8"?>
<p:tagLst xmlns:p="http://schemas.openxmlformats.org/presentationml/2006/main">
  <p:tag name="KSO_WM_DIAGRAM_VIRTUALLY_FRAME" val="{&quot;height&quot;:286.6,&quot;left&quot;:44,&quot;top&quot;:139.8,&quot;width&quot;:873.05}"/>
</p:tagLst>
</file>

<file path=ppt/tags/tag56.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57.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58.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59.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0.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1.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2.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3.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4.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5.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6.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7.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8.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69.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0.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1.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2.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3.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4.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5.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6.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7.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8.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79.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0.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1.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2.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3.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4.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5.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6.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7.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8.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89.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90.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91.xml><?xml version="1.0" encoding="utf-8"?>
<p:tagLst xmlns:p="http://schemas.openxmlformats.org/presentationml/2006/main">
  <p:tag name="KSO_WM_DIAGRAM_VIRTUALLY_FRAME" val="{&quot;height&quot;:375.50527559055115,&quot;left&quot;:40.590866141732285,&quot;top&quot;:99.47952755905511,&quot;width&quot;:880.0061417322834}"/>
</p:tagLst>
</file>

<file path=ppt/tags/tag92.xml><?xml version="1.0" encoding="utf-8"?>
<p:tagLst xmlns:p="http://schemas.openxmlformats.org/presentationml/2006/main">
  <p:tag name="KSO_WM_DIAGRAM_VIRTUALLY_FRAME" val="{&quot;height&quot;:286.6,&quot;left&quot;:44,&quot;top&quot;:139.8,&quot;width&quot;:873.05}"/>
</p:tagLst>
</file>

<file path=ppt/tags/tag93.xml><?xml version="1.0" encoding="utf-8"?>
<p:tagLst xmlns:p="http://schemas.openxmlformats.org/presentationml/2006/main">
  <p:tag name="KSO_WM_DIAGRAM_VIRTUALLY_FRAME" val="{&quot;height&quot;:286.6,&quot;left&quot;:44,&quot;top&quot;:139.8,&quot;width&quot;:873.05}"/>
</p:tagLst>
</file>

<file path=ppt/tags/tag94.xml><?xml version="1.0" encoding="utf-8"?>
<p:tagLst xmlns:p="http://schemas.openxmlformats.org/presentationml/2006/main">
  <p:tag name="KSO_WM_DIAGRAM_VIRTUALLY_FRAME" val="{&quot;height&quot;:286.6,&quot;left&quot;:44,&quot;top&quot;:139.8,&quot;width&quot;:873.05}"/>
</p:tagLst>
</file>

<file path=ppt/tags/tag95.xml><?xml version="1.0" encoding="utf-8"?>
<p:tagLst xmlns:p="http://schemas.openxmlformats.org/presentationml/2006/main">
  <p:tag name="KSO_WM_DIAGRAM_VIRTUALLY_FRAME" val="{&quot;height&quot;:286.6,&quot;left&quot;:44,&quot;top&quot;:139.8,&quot;width&quot;:873.05}"/>
</p:tagLst>
</file>

<file path=ppt/tags/tag96.xml><?xml version="1.0" encoding="utf-8"?>
<p:tagLst xmlns:p="http://schemas.openxmlformats.org/presentationml/2006/main">
  <p:tag name="KSO_WM_AICARD_INVALID" val="Invalid"/>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墨影科技品牌PPT字体标准">
      <a:majorFont>
        <a:latin typeface="OPPOSans B"/>
        <a:ea typeface="OPPOSans M"/>
        <a:cs typeface=""/>
      </a:majorFont>
      <a:minorFont>
        <a:latin typeface="OPPOSans M"/>
        <a:ea typeface="OPPOSans R"/>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
      <a:majorFont>
        <a:latin typeface="OPPOSans B"/>
        <a:ea typeface="OPPOSans B"/>
        <a:cs typeface=""/>
      </a:majorFont>
      <a:minorFont>
        <a:latin typeface="OPPOSans M"/>
        <a:ea typeface="OPPOSans 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Noto Sans SC"/>
        <a:ea typeface="Noto Sans SC"/>
        <a:cs typeface="Noto Sans S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52400" dist="38100" dir="5400000">
              <a:srgbClr val="172033">
                <a:alpha val="10000"/>
              </a:srgbClr>
            </a:outerShdw>
          </a:effectLst>
        </a:effectStyle>
        <a:effectStyle>
          <a:effectLst>
            <a:outerShdw blurRad="66675" dist="19050" dir="5400000">
              <a:srgbClr val="172033">
                <a:alpha val="8000"/>
              </a:srgbClr>
            </a:outerShdw>
          </a:effectLst>
        </a:effectStyle>
        <a:effectStyle>
          <a:effectLst>
            <a:outerShdw blurRad="66675" dist="19050" dir="5400000">
              <a:srgbClr val="C8182B">
                <a:alpha val="10000"/>
              </a:srgbClr>
            </a:outerShdw>
          </a:effectLst>
        </a:effectStyle>
        <a:effectStyle>
          <a:effectLst>
            <a:outerShdw blurRad="114300" dist="38100" dir="5400000">
              <a:srgbClr val="C92333">
                <a:alpha val="12000"/>
              </a:srgbClr>
            </a:outerShdw>
          </a:effectLst>
        </a:effectStyle>
        <a:effectStyle>
          <a:effectLst>
            <a:outerShdw blurRad="85725" dist="28575" dir="5400000">
              <a:srgbClr val="172033">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9903</Words>
  <Application>WPS Office WWO_dingtalk_20240221035043-c523bba0e7</Application>
  <PresentationFormat>宽屏</PresentationFormat>
  <Paragraphs>1261</Paragraphs>
  <Slides>34</Slides>
  <Notes>29</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34</vt:i4>
      </vt:variant>
    </vt:vector>
  </HeadingPairs>
  <TitlesOfParts>
    <vt:vector size="53" baseType="lpstr">
      <vt:lpstr>Arial</vt:lpstr>
      <vt:lpstr>宋体</vt:lpstr>
      <vt:lpstr>Wingdings</vt:lpstr>
      <vt:lpstr>Wingdings</vt:lpstr>
      <vt:lpstr>Kingsoft Confetti</vt:lpstr>
      <vt:lpstr>Noto Sans SC</vt:lpstr>
      <vt:lpstr>Noto Serif CJK SC</vt:lpstr>
      <vt:lpstr>OPPOSans B</vt:lpstr>
      <vt:lpstr>OPPOSans M</vt:lpstr>
      <vt:lpstr>汉仪中黑KW</vt:lpstr>
      <vt:lpstr>OPPOSans R</vt:lpstr>
      <vt:lpstr>Arial</vt:lpstr>
      <vt:lpstr>OPPOSans H</vt:lpstr>
      <vt:lpstr>思源黑体 CN Medium</vt:lpstr>
      <vt:lpstr>汉仪旗黑KW 55S</vt:lpstr>
      <vt:lpstr>思源黑体 CN Normal</vt:lpstr>
      <vt:lpstr>汉仪书宋二KW</vt:lpstr>
      <vt:lpstr>ChatGPT</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MoYing</dc:creator>
  <cp:lastModifiedBy>黎丶雨</cp:lastModifiedBy>
  <dcterms:created xsi:type="dcterms:W3CDTF">2026-09-23T11:05:47Z</dcterms:created>
  <dcterms:modified xsi:type="dcterms:W3CDTF">2026-09-23T11:05:47Z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D04435A2FEAB4590BF28B69ED2969BD6_13</vt:lpwstr>
  </property>
  <property fmtid="{D5CDD505-2E9C-101B-9397-08002B2CF9AE}" pid="3" name="KSOProductBuildVer">
    <vt:lpwstr>2052-0.0.0.0</vt:lpwstr>
  </property>
</Properties>
</file>